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38" d="100"/>
          <a:sy n="138" d="100"/>
        </p:scale>
        <p:origin x="904"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9711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Bonjour à tous. On va vous montrer comment on a produit une donnée qui n'existait pas chez nous : l'inventaire des passages piétons sur les 8 communes de GPSO.</a:t>
            </a:r>
          </a:p>
          <a:p>
            <a:r>
              <a:rPr lang="fr-FR" dirty="0"/>
              <a:t>Notre règle tout au long du projet : prendre la méthode la plus légère qui suffit, et ne passer à la suivante que si on n'a pas le choix.</a:t>
            </a:r>
          </a:p>
          <a:p>
            <a:r>
              <a:rPr lang="fr-FR" dirty="0"/>
              <a:t>À la fin, on vous montre le résultat publié sur ArcGIS Online, et ce qu'on compte en faire pour les prochains millésimes IGN.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Je suis Mandresy Andri, chargé de valorisation des données à la DIGIT, la Direction de l'Information Géographique et de l'Innovation Territoriale de Grand Paris Seine Ouest.</a:t>
            </a:r>
          </a:p>
          <a:p>
            <a:r>
              <a:rPr lang="fr-FR" dirty="0"/>
              <a:t>GPSO s'est doté d'une charte d'usage de l'IA, validée au CST du 22 janvier 2026, qui tient en une idée : l'humain au cœur du dispositif. La DIGIT fait partie du groupe de travail IA qui la porte depuis septembre 2025, avec la DSI, la DRH, la DAI, la DESC, la communication et des directions métiers.</a:t>
            </a:r>
          </a:p>
          <a:p>
            <a:r>
              <a:rPr lang="fr-FR" dirty="0"/>
              <a:t>Ce projet a été mené dans le cadre de cette charte : vous allez retrouver ses cinq piliers dans nos choix.</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point de départ, c'est un projet de la DGST : améliorer durablement la sécurité des piétons sur tout le territoire, en commençant par les zones les plus exposées, les abords des écoles, les sorties de transports en commun et les carrefours accidentogènes.</a:t>
            </a:r>
          </a:p>
          <a:p>
            <a:r>
              <a:rPr lang="fr-FR" dirty="0"/>
              <a:t>Pour faire valider sa stratégie, la DGST doit tenir cinq exigences. La cohérence entre communes, visuelle et technique. Un coût maîtrisé sur tout le cycle de vie, achat et entretien. La compatibilité avec les infrastructures existantes et l'homologation. L'adaptation au contexte urbain : densité, éclairage, flux. Et la coordination avec les requalifications et les travaux de voirie.</a:t>
            </a:r>
          </a:p>
          <a:p>
            <a:r>
              <a:rPr lang="fr-FR" dirty="0"/>
              <a:t>Le problème, c'est qu'il n'existait aucun inventaire des passages piétons. Les relevés à la main sont longs et vite dépassés. Les directions Voirie, Mobilités et Accessibilité n'avaient donc pas de chiffres par commune pour comparer des solutions, écrire les notes aux instances ou préparer les marchés publics.</a:t>
            </a:r>
          </a:p>
          <a:p>
            <a:r>
              <a:rPr lang="fr-FR" dirty="0"/>
              <a:t>Sur l'orthophoto IGN à 20 cm, les passages se voient très bien, comme ici autour d'un giratoire à Vanves. Il faut juste les extraire.</a:t>
            </a:r>
          </a:p>
          <a:p>
            <a:r>
              <a:rPr lang="fr-FR" dirty="0"/>
              <a:t>Sources : besoin exprimé par la DGST ; BD ORTHO 2024 20 cm = cahier_recherche/README.md. Image = datasets/tiles_test/images/000000000375.tif.</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Au départ, la demande était simple : combien de passages piétons y a-t-il, commune par commune ?</a:t>
            </a:r>
          </a:p>
          <a:p>
            <a:r>
              <a:rPr lang="fr-FR" dirty="0"/>
              <a:t>On livre davantage. Chaque passage est localisé par un point en Lambert-93, mesuré avec son contour et ses dimensions, qualifié par un score et, si besoin, une alerte, et consultable dans un tableau de bord avec des filtres par commune et par quartier.</a:t>
            </a:r>
          </a:p>
          <a:p>
            <a:r>
              <a:rPr lang="fr-FR" dirty="0"/>
              <a:t>Tout arrive au statut « à valider » : c'est une donnée produite automatiquement, un technicien la contrôle avant de la considérer comme sûre.</a:t>
            </a:r>
          </a:p>
          <a:p>
            <a:r>
              <a:rPr lang="fr-FR" dirty="0"/>
              <a:t>L'image est un extrait de la liste du tableau de bord réel, filtré sur Bellevue, à Meudon.</a:t>
            </a:r>
          </a:p>
          <a:p>
            <a:r>
              <a:rPr lang="fr-FR" dirty="0"/>
              <a:t>Sources : attributs et statut = cahier_recherche/README.md ; capture = assets/livrable_dashboard_quartier_bellevue.png (recadrée).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C'est la règle qu'on s'est fixée. D'habitude, on commence par des règles SIG sur une donnée qu'on a déjà. Pour les passages piétons, impossible : il n'existe aucune donnée d'où les déduire.</a:t>
            </a:r>
          </a:p>
          <a:p>
            <a:r>
              <a:rPr lang="fr-FR" dirty="0"/>
              <a:t>Donc premier étage, SAM 3 sur quelques quartiers, vérifié à l'œil. Deuxième étage, seulement si besoin, on corrige un échantillon et on entraîne un modèle. À chaque fois, on se demande si un post-traitement suffit à rendre la donnée correcte.</a:t>
            </a:r>
          </a:p>
          <a:p>
            <a:r>
              <a:rPr lang="fr-FR" dirty="0"/>
              <a:t>Cette règle, c'est aussi celle de notre charte IA. Sobriété : « Recourir à l'IA uniquement lorsqu'elle apporte une réelle valeur ajoutée, en évitant les usages superflus. » On s'arrête au niveau le plus léger qui suffit : pas de règle SIG possible, puis SAM 3, et l'entraînement seulement parce que SAM ne suffisait pas. Le calcul tourne en local, sur un seul poste.</a:t>
            </a:r>
          </a:p>
          <a:p>
            <a:r>
              <a:rPr lang="fr-FR" dirty="0"/>
              <a:t>L'humain au cœur : « L'IA est un outil, jamais une finalité. Elle doit servir les individus et éclairer leurs décisions. » Les annotations ont été corrigées par un expert, et tous les passages sont livrés au statut « à valider », avec des alertes pour orienter la revue.</a:t>
            </a:r>
          </a:p>
          <a:p>
            <a:r>
              <a:rPr lang="fr-FR" dirty="0"/>
              <a:t>Transparence : « Informer clairement sur l'usage de l'IA pour instaurer la confiance. » La méthode, les mesures et les limites sont documentées dans notre cahier de recherche ; le modèle est déposé sur Hugging Face, en dépôt privé à ce jour.</a:t>
            </a:r>
          </a:p>
          <a:p>
            <a:r>
              <a:rPr lang="fr-FR" dirty="0"/>
              <a:t>Sécurité et souveraineté : « Protéger les données et les systèmes à chaque étape. » On utilise des données publiques de l'IGN, sous Licence Ouverte, sans aucune donnée personnelle ; le calcul se fait en local, sans envoi vers un service d'IA tiers, et les résultats sont hébergés sur l'ArcGIS Online de GPSO.</a:t>
            </a:r>
          </a:p>
          <a:p>
            <a:r>
              <a:rPr lang="fr-FR" dirty="0"/>
              <a:t>Responsabilité : « Chaque agent reste garant des contenus qu'il produit avec l'IA. » La couche est validée par un agent avant tout usage métier.</a:t>
            </a:r>
          </a:p>
          <a:p>
            <a:r>
              <a:rPr lang="fr-FR" dirty="0"/>
              <a:t>Enfin, la charte décrit « une démarche pilotée, l'humain au cœur du dispositif, progressive (par petits pas mesurés), frugale (sans surconsommation ni dépendance externe), sûre (données maîtrisées et sécurisées) ». C'est le chemin qu'on a suivi : un pilote, puis un protocole étanche, puis le territoire entier.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premier réflexe en SIG, c'est de chercher une règle à partir d'une donnée qu'on a. Ici, aucune donnée ne contient les passages : seule l'image les montre.</a:t>
            </a:r>
          </a:p>
          <a:p>
            <a:r>
              <a:rPr lang="fr-FR" dirty="0"/>
              <a:t>Alors on part de l'image, avec l'outil le plus simple : SAM 3, sur quelques quartiers, et on regarde chaque résultat.</a:t>
            </a:r>
          </a:p>
          <a:p>
            <a:r>
              <a:rPr lang="fr-FR" dirty="0"/>
              <a:t>Sur une autre demande, pour localiser les places publiques à entretenir, une règle appliquée aux données existantes a suffi, sans SAM ni modèle. C'est la même logique : on s'arrête dès que ça suffit. Ici, vous allez voir qu'il a fallu aller plus loin.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SAM 3 est un modèle disponible en paquet .dlpk pour ArcGIS Pro. On l'utilise en zero-shot : on décrit l'objet en texte, « pedestrian crossing », sans lui montrer un seul exemple. On le lance avec Detect Objects Using Deep Learning, et c'est tout.</a:t>
            </a:r>
          </a:p>
          <a:p>
            <a:r>
              <a:rPr lang="fr-FR" dirty="0"/>
              <a:t>Trois minutes plus tard, on a des polygones en Lambert-93. Il trouve la plupart des passages classiques, sur une chaussée dégagée.</a:t>
            </a:r>
          </a:p>
          <a:p>
            <a:r>
              <a:rPr lang="fr-FR" dirty="0"/>
              <a:t>Sur un petit périmètre, un quartier par exemple, SAM 3 avec un post-traitement suffit. À l'échelle des 8 communes, les erreurs à corriger deviennent trop nombreuses : on passe au niveau 2.</a:t>
            </a:r>
          </a:p>
          <a:p>
            <a:r>
              <a:rPr lang="fr-FR" dirty="0"/>
              <a:t>Sources : outil, paramètres, 2 min 59 s, « majorité d'objets » = cahier_recherche/README.md. On n'a pas de taux de détection pour SAM seul : ne pas en donner.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Les erreurs de SAM 3 ne sont pas aléatoires. On a vu des faux positifs, comme ce petit polygone de 6,52 m² avec une confiance de 0,51 sur un marquage qui n'est pas un passage, et des chevrons de voirie.</a:t>
            </a:r>
          </a:p>
          <a:p>
            <a:r>
              <a:rPr lang="fr-FR" dirty="0"/>
              <a:t>Il fusionne aussi des passages proches, ici trois traversées en une seule entité de 83,5 m². L'ombre d'un immeuble coupe un passage en deux, une voiture déforme le contour.</a:t>
            </a:r>
          </a:p>
          <a:p>
            <a:r>
              <a:rPr lang="fr-FR" dirty="0"/>
              <a:t>Comme les erreurs se répètent, une partie peut se corriger par des règles. C'est la slide suivante.</a:t>
            </a:r>
          </a:p>
          <a:p>
            <a:r>
              <a:rPr lang="fr-FR" dirty="0"/>
              <a:t>Sources : cahier_recherche/README.md. Le faux positif de 6,52 m² (confiance 0,51) se lit dans la table attributaire de assets/sam_detection_simple.png.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À gauche, ce qu'un post-traitement sait faire : filtrer par taille, un passage fait environ 25 m² d'emprise chez nous, écarter ce qui sort de la chaussée, recoller des morceaux.</a:t>
            </a:r>
          </a:p>
          <a:p>
            <a:r>
              <a:rPr lang="fr-FR" dirty="0"/>
              <a:t>À droite, ce qu'il faut faire à la main dans ArcGIS Pro : supprimer, diviser, fusionner, recaler.</a:t>
            </a:r>
          </a:p>
          <a:p>
            <a:r>
              <a:rPr lang="fr-FR" dirty="0"/>
              <a:t>Sur le quartier pilote, 244 propositions sont devenues 215 passages. Ce n'est pas un taux de réussite : ce solde mélange des suppressions, des divisions et des fusions.</a:t>
            </a:r>
          </a:p>
          <a:p>
            <a:r>
              <a:rPr lang="fr-FR" dirty="0"/>
              <a:t>Conclusion : SAM seul ne suffit pas, on passe au niveau 2. Mais il nous a fourni l'échantillon corrigé bien plus vite.</a:t>
            </a:r>
          </a:p>
          <a:p>
            <a:r>
              <a:rPr lang="fr-FR" dirty="0"/>
              <a:t>Sources : 244 → 215 et règle des 2 m = cahier_recherche/README.md ; aire moyenne 24,1 à 25,0 m² = cahier_recherche/README.md.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entraîner un modèle, il faut un échantillon corrigé. On n'a pas tout annoté : six quartiers, dans quatre communes, choisis pour être variés.</a:t>
            </a:r>
          </a:p>
          <a:p>
            <a:r>
              <a:rPr lang="fr-FR" dirty="0"/>
              <a:t>Du tissu dense à Boulogne, un quartier compact à Vanves, une bande en bord de Seine à Meudon, et Sèvres. En tout, 670 passages, proposés par SAM 3 et vérifiés un par un.</a:t>
            </a:r>
          </a:p>
          <a:p>
            <a:r>
              <a:rPr lang="fr-FR" dirty="0"/>
              <a:t>On travaille sur la BD ORTHO à 20 cm parce qu'une bande de passage y fait 2 à 3 pixels. À 50 cm, elle se fond dans le bitume.</a:t>
            </a:r>
          </a:p>
          <a:p>
            <a:r>
              <a:rPr lang="fr-FR" dirty="0"/>
              <a:t>Sources : tableau et total 670 = cahier_recherche/README.md ; 20 cm = cahier_recherche/README.md ; carte = datasets/quartiers-des-communes-de-gpso.geojson.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On prend l'ortho, SAM propose, on corrige, on entraîne, on détecte partout, on publie.</a:t>
            </a:r>
          </a:p>
          <a:p>
            <a:r>
              <a:rPr lang="fr-FR" dirty="0"/>
              <a:t>Si on vous demande les outils ArcGIS : Dissolve, Pairwise Buffer de 50 m, Mosaic To New Raster, Clip Raster pour préparer l'image ; Detect Objects Using Deep Learning avec SAM3.dlpk ; Delete, Divide et Merge pour la correction ; Export Training Data For Deep Learning en tuiles de 512 px, avec trois exports par quartier ; puis Train Deep Learning Model.</a:t>
            </a:r>
          </a:p>
          <a:p>
            <a:r>
              <a:rPr lang="fr-FR" dirty="0"/>
              <a:t>La détection sur les 8 communes a tourné en local, sur un portable, en 73 minutes. Le modèle est aussi livré en .dlpk, pour Classify Pixels Using Deep Learning dans ArcGIS Pro.</a:t>
            </a:r>
          </a:p>
          <a:p>
            <a:r>
              <a:rPr lang="fr-FR" dirty="0"/>
              <a:t>Sources : cahier_recherche/README.md ; .dlpk livré = datasets/export/gpso_crosswalks_unet_resnet34.dlpk (poids du U-Net ResNet34 seed0 qui a produit les résultats ; chargement dans ArcGIS Pro à tester).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C'est le piège qu'on veut vous éviter. Les tuiles d'entraînement se chevauchent de moitié : sur ces deux tuiles voisines de Boulogne, les mêmes passages apparaissent dans les deux.</a:t>
            </a:r>
          </a:p>
          <a:p>
            <a:r>
              <a:rPr lang="fr-FR" dirty="0"/>
              <a:t>Au premier essai, on avait tiré au sort les tuiles de contrôle. Résultat, 84 % de leur sol avait déjà été vu à l'entraînement, et le score était trop beau.</a:t>
            </a:r>
          </a:p>
          <a:p>
            <a:r>
              <a:rPr lang="fr-FR" dirty="0"/>
              <a:t>La parade est une opération SIG : on sépare les quartiers d'abord, puis on exporte trois fois avec Input Mask Polygons. Entraînement sur Boulogne et Sèvres, réglage sur Meudon-sur-Seine, test sur un quartier de Vanves que le modèle n'a jamais vu.</a:t>
            </a:r>
          </a:p>
          <a:p>
            <a:r>
              <a:rPr lang="fr-FR" dirty="0"/>
              <a:t>Sources : 84 %, 2/117 = cahier_recherche/README.md ; 439 / 106 / 125, 0 m², 778 m à 2,4 km = cahier_recherche/README.md. Tuiles : tiles_train 000000000228 et 000000000230, puis 000000001243, tiles_val 000000000036, tiles_test 000000000375.</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le niveau 2, on reste dans ArcGIS Pro. La capture montre Train Deep Learning Model en cours, sur le GPU d'un poste de travail.</a:t>
            </a:r>
          </a:p>
          <a:p>
            <a:r>
              <a:rPr lang="fr-FR" dirty="0"/>
              <a:t>On a choisi un U-Net ResNet34 : c'est une architecture classique, proposée dans ArcGIS, qui tourne sur un poste normal équipé d'un GPU.</a:t>
            </a:r>
          </a:p>
          <a:p>
            <a:r>
              <a:rPr lang="fr-FR" dirty="0"/>
              <a:t>Il apprend sur Boulogne et Sèvres, on le règle sur Meudon-sur-Seine, et on le teste une seule fois sur Vanves.</a:t>
            </a:r>
          </a:p>
          <a:p>
            <a:r>
              <a:rPr lang="fr-FR" dirty="0"/>
              <a:t>Le modèle est livré en .dlpk, donc réutilisable par n'importe quelle équipe ArcGIS Pro.</a:t>
            </a:r>
          </a:p>
          <a:p>
            <a:r>
              <a:rPr lang="fr-FR" dirty="0"/>
              <a:t>Sources : capture = assets/train_log_arcgis_gpu_usage.png  ; .dlpk livré = datasets/export/gpso_crosswalks_unet_resnet34.dlpk (poids du U-Net ResNet34 seed0, datasets/runs/unet-resnet34/seed0.pt ; chargement dans ArcGIS Pro à tester). Le .dlpk livré contient le modèle qui a produit les chiffres des slides suivantes ; la capture montre un entraînement du même type de U-Net dans ArcGIS Pro, pendant la phase pilote.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Pourquoi segmenter plutôt que chercher des points ou des rectangles ? Parce qu'on récupère la vraie forme du marquage, même en biais.</a:t>
            </a:r>
          </a:p>
          <a:p>
            <a:r>
              <a:rPr lang="fr-FR" dirty="0"/>
              <a:t>Sur cette tuile de Vanves : l'image, le masque, le contour, et le point au centre.</a:t>
            </a:r>
          </a:p>
          <a:p>
            <a:r>
              <a:rPr lang="fr-FR" dirty="0"/>
              <a:t>Le point sert à compter et à localiser. Le polygone, on le garde pour mesurer : surface aujourd'hui, largeur, longueur ou orientation demain.</a:t>
            </a:r>
          </a:p>
          <a:p>
            <a:r>
              <a:rPr lang="fr-FR" dirty="0"/>
              <a:t>Source : cible de 1,5 m = cahier_recherche/README.md. Illustration = tiles_test 000000000000 et son masque de référence.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Voici les chiffres qui comptent pour un gestionnaire, mesurés en passages sur Vanves, un quartier que le modèle n'a jamais vu.</a:t>
            </a:r>
          </a:p>
          <a:p>
            <a:r>
              <a:rPr lang="fr-FR" dirty="0"/>
              <a:t>Aucun point parasite. 76 passages retrouvés sur 85, soit 89 %. Le centre du point est à 40 cm du centre réel en médiane, et 91 % des points sont à moins de 1,5 m.</a:t>
            </a:r>
          </a:p>
          <a:p>
            <a:r>
              <a:rPr lang="fr-FR" dirty="0"/>
              <a:t>Sur les 9 manques, 6 sont en fait des passages de carrefour fusionnés avec un voisin : ils sont couverts, mais comptés comme un seul, et l'alerte les signale. Il reste 3 vrais oublis.</a:t>
            </a:r>
          </a:p>
          <a:p>
            <a:r>
              <a:rPr lang="fr-FR" dirty="0"/>
              <a:t>Prudence : Vanves est dense et bien marqué. En zone pavillonnaire ou en forêt, on s'attend à plus de faux positifs, qu'on ira chercher dans la file « faible confiance ».</a:t>
            </a:r>
          </a:p>
          <a:p>
            <a:r>
              <a:rPr lang="fr-FR" dirty="0"/>
              <a:t>Sources : 0 faux positif (précision 1,000), 76/85 (rappel 0,894), 6 fusions sur 9, 0,40 m, 90,8 % &lt; 1,5 m = cahier_recherche/README.md.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modèle donne un masque de pixels. Le post-traitement en fait une couche : on recolle les tuiles, on retire les taches de moins de 6 m², on fait les polygones et les points.</a:t>
            </a:r>
          </a:p>
          <a:p>
            <a:r>
              <a:rPr lang="fr-FR" dirty="0"/>
              <a:t>Surtout, il pose une alerte quand un objet sort de la norme : trop petit, trop grand, forme bizarre, ou confiance faible. En haut, un exemple réel à Meudon-sur-Seine.</a:t>
            </a:r>
          </a:p>
          <a:p>
            <a:r>
              <a:rPr lang="fr-FR" dirty="0"/>
              <a:t>Sur tout le territoire, deux passages sur trois sortent sans alerte. Les 1 036 autres forment la file de revue prioritaire. Les fusions probables en rouge sont surtout des passages de carrefour collés entre eux.</a:t>
            </a:r>
          </a:p>
          <a:p>
            <a:r>
              <a:rPr lang="fr-FR" dirty="0"/>
              <a:t>Sources : paramètres (seuil 0,5, surface min. 6 m²) et répartition des alertes = datasets/predictions/gpso/resume.json et cahier_recherche/README.md. Illustration = prédiction du U-Net sur la tuile tiles_val 000000000446, nettoyée pour l'exemple.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Voilà le résultat, en ligne : un tableau de bord ArcGIS Dashboards sur les 36,6 km² de GPSO.</a:t>
            </a:r>
          </a:p>
          <a:p>
            <a:r>
              <a:rPr lang="fr-FR" dirty="0"/>
              <a:t>3 122 passages détectés, dont 2 086 sans alerte et 1 036 à vérifier en priorité. Par commune : 892 à Boulogne, 665 à Meudon, 622 à Issy, 311 à Sèvres, 251 à Vanves, 221 à Chaville, 120 à Ville-d'Avray et 40 à Marnes-la-Coquette.</a:t>
            </a:r>
          </a:p>
          <a:p>
            <a:r>
              <a:rPr lang="fr-FR" dirty="0"/>
              <a:t>À droite, la liste des passages à vérifier, avec une recherche. En haut, les filtres commune et quartier.</a:t>
            </a:r>
          </a:p>
          <a:p>
            <a:r>
              <a:rPr lang="fr-FR" dirty="0"/>
              <a:t>Sources : capture = assets/livrable_dashboard_gpso.png ; chiffres = datasets/predictions/gpso/resume.json et cahier_recherche/README.md. Les passages hors des quartiers annotés n'ont pas de mesure de précision : ils sont tous au statut « à valider ».</a:t>
            </a:r>
          </a:p>
          <a:p>
            <a:r>
              <a:rPr lang="fr-FR" dirty="0"/>
              <a:t>Si on vous pose la question du nombre réel : les 3 122 sont des passages détectés, pas un recensement exhaustif. Dans les quartiers annotés, on détecte 543 objets pour 670 passages, soit 81 %, surtout à cause des fusions en carrefour. La vraie population est plutôt autour de 3 800, mais c'est une extrapolation. Source : cahier_recherche/README.md, section 6.1 et tableau 9 (543 / 670) ; 3 800 ≈ 3 122 / 0,81, extrapolation non mesurée.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Un gestionnaire filtre sur son secteur, ici Bellevue à Meudon : 95 passages, 66 sans alerte, 29 à revoir. Il voit tout de suite où sont les points orange ou violets.</a:t>
            </a:r>
          </a:p>
          <a:p>
            <a:r>
              <a:rPr lang="fr-FR" dirty="0"/>
              <a:t>À droite, ce qu'on a publié sur ArcGIS Online : 11 éléments, le tableau de bord, la carte web, les couches de points, de polygones, de communes et de quartiers, et leurs sources GeoJSON.</a:t>
            </a:r>
          </a:p>
          <a:p>
            <a:r>
              <a:rPr lang="fr-FR" dirty="0"/>
              <a:t>Tout le calcul a été fait en local. ArcGIS Online sert à héberger et à diffuser.</a:t>
            </a:r>
          </a:p>
          <a:p>
            <a:r>
              <a:rPr lang="fr-FR" dirty="0"/>
              <a:t>Sources : assets/livrable_dashboard_quartier_bellevue.png et assets/livrable_agol_contenus.png. À vérifier : l'hébergement de couches sur ArcGIS Online peut consommer un peu de crédits de stockage ; aucun crédit n'a été consommé pour l'analyse.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Revenons au besoin de la DGST, ligne par ligne.</a:t>
            </a:r>
          </a:p>
          <a:p>
            <a:r>
              <a:rPr lang="fr-FR" dirty="0"/>
              <a:t>Les chiffres par commune : ils sont dans le tableau de bord, par commune et par quartier, et ils seront recalculés à chaque millésime.</a:t>
            </a:r>
          </a:p>
          <a:p>
            <a:r>
              <a:rPr lang="fr-FR" dirty="0"/>
              <a:t>L'homogénéité : la même méthode, la même orthophoto IGN 2024 et les mêmes règles d'alerte s'appliquent aux 8 communes.</a:t>
            </a:r>
          </a:p>
          <a:p>
            <a:r>
              <a:rPr lang="fr-FR" dirty="0"/>
              <a:t>La priorisation : chaque passage est un point. On peut donc le croiser avec les écoles, les arrêts de transport et l'accidentologie. Ce croisement n'est pas encore fait, mais c'est une jointure spatiale classique dans ArcGIS.</a:t>
            </a:r>
          </a:p>
          <a:p>
            <a:r>
              <a:rPr lang="fr-FR" dirty="0"/>
              <a:t>Les marchés publics et le coût de cycle de vie : on a les quantités par commune et les dimensions de chaque passage, largeur, longueur, emprise, de quoi dimensionner des lots. Avec un nouveau millésime, on suivra l'évolution du parc.</a:t>
            </a:r>
          </a:p>
          <a:p>
            <a:r>
              <a:rPr lang="fr-FR" dirty="0"/>
              <a:t>Compatibilité et adaptabilité : orientation, dimensions, quartier et polygone donnent une base pour qualifier chaque site. L'éclairage et les flux viendront d'autres données.</a:t>
            </a:r>
          </a:p>
          <a:p>
            <a:r>
              <a:rPr lang="fr-FR" dirty="0"/>
              <a:t>Travaux de voirie : la couche se superpose au programme de travaux et au filaire de voirie.</a:t>
            </a:r>
          </a:p>
          <a:p>
            <a:r>
              <a:rPr lang="fr-FR" dirty="0"/>
              <a:t>Il reste deux choses à faire : les croisements avec les écoles, les arrêts et l'accidentologie, et la validation des passages, en commençant par les alertes. Et je le redis : la base compte environ 20 % de passages en moins que la référence, surtout à cause des fusions en carrefour. Elle sert à prioriser et à chiffrer, pas encore de recensement exhaustif.</a:t>
            </a:r>
          </a:p>
          <a:p>
            <a:r>
              <a:rPr lang="fr-FR" dirty="0"/>
              <a:t>Sources : besoin exprimé par la DGST ; attributs de la couche (dimensions, orientation, quartier) = datasets/predictions/gpso ; sous-comptage d'environ 20 % (543 objets pour 670 passages) = cahier_recherche/README.md, section 6.1.</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Trois prochaines étapes avec la DGST. D'abord prioriser : on croise les passages avec les écoles, les sorties de transports et l'accidentologie, pour avoir la carte des passages à traiter en premier.</a:t>
            </a:r>
          </a:p>
          <a:p>
            <a:r>
              <a:rPr lang="fr-FR" dirty="0"/>
              <a:t>Ensuite chiffrer : une fiche par commune, avec le nombre de passages et leurs dimensions, pour les notes aux instances et les marchés de sécurisation.</a:t>
            </a:r>
          </a:p>
          <a:p>
            <a:r>
              <a:rPr lang="fr-FR" dirty="0"/>
              <a:t>Enfin suivre : à chaque nouvelle orthophoto IGN, on relance la même chaîne et on repère les passages nouveaux ou disparus. L'ortho IGN 2026 (RVB Express) est déjà diffusée sur la Géoplateforme.</a:t>
            </a:r>
          </a:p>
          <a:p>
            <a:r>
              <a:rPr lang="fr-FR" dirty="0"/>
              <a:t>Mais avant tout, il faut revoir les 1 036 alertes et valider la couche avec les services.</a:t>
            </a:r>
          </a:p>
          <a:p>
            <a:r>
              <a:rPr lang="fr-FR" dirty="0"/>
              <a:t>À dire seulement comme ouverture : à terme, cette couche pourrait devenir un référentiel piéton plus large, avec les abaissés de trottoir, les bandes podotactiles et le lien avec le filaire de voirie.</a:t>
            </a:r>
          </a:p>
          <a:p>
            <a:r>
              <a:rPr lang="fr-FR" dirty="0"/>
              <a:t>Sources : 1 036 alertes = datasets/predictions/gpso/resume.json ; cahier_recherche/README.md.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finir : on s'arrête dès qu'un post-traitement suffit à rendre la donnée correcte.</a:t>
            </a:r>
          </a:p>
          <a:p>
            <a:r>
              <a:rPr lang="fr-FR" dirty="0"/>
              <a:t>Des règles SIG quand la donnée existe. SAM 3 et une vérification à l'œil pour un besoin ponctuel. Un modèle entraîné quand on a du volume et qu'on va refaire le travail, ce qui est notre cas.</a:t>
            </a:r>
          </a:p>
          <a:p>
            <a:r>
              <a:rPr lang="fr-FR" dirty="0"/>
              <a:t>Ce qu'on retient : SAM 3 accélère énormément la préparation, il faut découper par quartiers avant de tuiler, un modèle classique suffit, et les alertes disent où regarder.</a:t>
            </a:r>
          </a:p>
          <a:p>
            <a:r>
              <a:rPr lang="fr-FR" dirty="0"/>
              <a:t>Merci, on prend vos questions.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Annexe, pour les questions. Les passages ne couvrent que 0,67 % de l'image : un modèle qui ne trouve rien affiche 99,33 % de pixels bien classés. On a donc fixé des cibles en passages.</a:t>
            </a:r>
          </a:p>
          <a:p>
            <a:r>
              <a:rPr lang="fr-FR" dirty="0"/>
              <a:t>Sur Vanves, les quatre cibles sont atteintes : 89 % des passages retrouvés, aucun point parasite, 40 cm d'écart médian, et 0,25 passage d'écart moyen de comptage par cellule de 102 m.</a:t>
            </a:r>
          </a:p>
          <a:p>
            <a:r>
              <a:rPr lang="fr-FR" dirty="0"/>
              <a:t>Sources : cibles = cahier_recherche/README.md ; mesures = cahier_recherche/README.md.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détail par passage. Le post-traitement a été réglé sur Meudon-sur-Seine, puis figé avant la mesure sur Vanves.</a:t>
            </a:r>
          </a:p>
          <a:p>
            <a:r>
              <a:rPr lang="fr-FR" dirty="0"/>
              <a:t>L'écart de comptage de −9 sur Vanves vient surtout des fusions en carrefour, pas de passages que le modèle ne verrait pas.</a:t>
            </a:r>
          </a:p>
          <a:p>
            <a:r>
              <a:rPr lang="fr-FR" dirty="0"/>
              <a:t>Les échantillons sont petits, 55 et 85 passages : les marges d'incertitude sont larges.</a:t>
            </a:r>
          </a:p>
          <a:p>
            <a:r>
              <a:rPr lang="fr-FR" dirty="0"/>
              <a:t>Source : cahier_recherche/README.md (tableau « Résultats par objet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Annexe : ce qui nous a piégés, utile si vous voulez refaire la démarche.</a:t>
            </a:r>
          </a:p>
          <a:p>
            <a:r>
              <a:rPr lang="fr-FR" dirty="0"/>
              <a:t>SAM 3 brut produit des faux positifs, des fusions et des passages coupés par l'ombre : on a tout vérifié à la main. Les tuiles qui se chevauchent nous avaient donné des scores gonflés : on découpe désormais par quartiers avant l'export.</a:t>
            </a:r>
          </a:p>
          <a:p>
            <a:r>
              <a:rPr lang="fr-FR" dirty="0"/>
              <a:t>Deux points restent ouverts. Les passages voisins fusionnés en carrefour, environ 20 % de passages en moins au comptage : l'alerte « fusion probable » les signale, la séparation reste à faire. Et le modèle n'a jamais vu de rue sans passage : la file « faible confiance » est à revoir en priorité.</a:t>
            </a:r>
          </a:p>
          <a:p>
            <a:r>
              <a:rPr lang="fr-FR" dirty="0"/>
              <a:t>Sources : cahier_recherche/README.md (pilote et fuite spatiale, section 6.1 pour le comptage) ; datasets/predictions/gpso/resume.json.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Si on vous dit que 25 m², c'est grand pour un passage piéton : c'est normal, on mesure l'emprise, pas la peinture.</a:t>
            </a:r>
          </a:p>
          <a:p>
            <a:r>
              <a:rPr lang="fr-FR" dirty="0"/>
              <a:t>Le polygone détecté englobe les bandes et les espaces entre elles, exactement comme l'annotation faite à la main. Sur le quartier de réglage, les passages de référence font 25,4 m² en médiane, pour 7,4 m sur 4,15 m.</a:t>
            </a:r>
          </a:p>
          <a:p>
            <a:r>
              <a:rPr lang="fr-FR" dirty="0"/>
              <a:t>La réglementation impose au moins 2,5 m de profondeur, et en ville on est souvent entre 3 et 4 m. Sur une chaussée de 7 à 8 m, on arrive vite à 25 m².</a:t>
            </a:r>
          </a:p>
          <a:p>
            <a:r>
              <a:rPr lang="fr-FR" dirty="0"/>
              <a:t>À 20 cm par pixel, le contour peut déborder d'un ou deux pixels, soit 20 à 40 cm de trop au plus. Ça ne change pas l'ordre de grandeur.</a:t>
            </a:r>
          </a:p>
          <a:p>
            <a:r>
              <a:rPr lang="fr-FR" dirty="0"/>
              <a:t>La peinture elle-même fait environ 13 à 15 m², pour 7 bandes de 50 cm : à peu près la moitié de l'emprise.</a:t>
            </a:r>
          </a:p>
          <a:p>
            <a:r>
              <a:rPr lang="fr-FR" dirty="0"/>
              <a:t>Sources : datasets/predictions/parametres_figes.json (calibration_alertes : médiane 25,44 m², longueur 7,4 m, largeur 4,15 m sur 51 passages de réglage) ; datasets/predictions/gpso/passages_pietons_points_wgs84.geojson (2 086 passages sans alerte : médianes 27 m², 7,6 m, 4,2 m).</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Si on vous demande d'où viennent les alertes : chaque seuil est tiré des passages réels de Meudon-sur-Seine, notre quartier de réglage.</a:t>
            </a:r>
          </a:p>
          <a:p>
            <a:r>
              <a:rPr lang="fr-FR" dirty="0"/>
              <a:t>Pour la fusion, on prend le 98e centile de la surface ou de la longueur des vrais passages, plus 20 % de marge. Pour la confiance, 90 % des vrais passages détectés ont un score plus élevé que 0,973. Pour la forme, c'est le 5e centile du remplissage, et pour la taille, le 5e centile de la surface.</a:t>
            </a:r>
          </a:p>
          <a:p>
            <a:r>
              <a:rPr lang="fr-FR" dirty="0"/>
              <a:t>Pourquoi 0,973, c'est très haut ? Parce qu'on a préféré sur-alerter plutôt que laisser passer une erreur. Environ un vrai passage sur dix tombe aussi dans la file faible confiance, et c'est voulu.</a:t>
            </a:r>
          </a:p>
          <a:p>
            <a:r>
              <a:rPr lang="fr-FR" dirty="0"/>
              <a:t>Les nombres du tableau comptent l'alerte principale de chaque objet ; un objet peut en avoir plusieurs.</a:t>
            </a:r>
          </a:p>
          <a:p>
            <a:r>
              <a:rPr lang="fr-FR" dirty="0"/>
              <a:t>Sources : scripts/postprocess.py (règles et ordre de priorité) ; datasets/predictions/parametres_figes.json (seuils et calibration) ; datasets/predictions/gpso/resume.json (effectifs).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Annexe, si on nous demande pourquoi pas un modèle plus récent. On a voulu vérifier qu'un gros modèle de fondation, DINOv3, ne faisait pas mieux que notre U-Net.</a:t>
            </a:r>
          </a:p>
          <a:p>
            <a:r>
              <a:rPr lang="fr-FR" dirty="0"/>
              <a:t>Sur le volet de réglage, le U-Net est devant à chaque graine : 0,746 contre 0,729 pour le meilleur run, 0,742 contre 0,723 en moyenne sur trois graines. DINOv3 est aussi moins stable : une de ses graines tombe à 0,38 au début de l'entraînement.</a:t>
            </a:r>
          </a:p>
          <a:p>
            <a:r>
              <a:rPr lang="fr-FR" dirty="0"/>
              <a:t>Sur le quartier de test, les deux sont au coude-à-coude (0,739 pour le U-Net, 0,748 pour DINOv3), avec des intervalles de confiance qui se recouvrent : l'écart n'est pas significatif.</a:t>
            </a:r>
          </a:p>
          <a:p>
            <a:r>
              <a:rPr lang="fr-FR" dirty="0"/>
              <a:t>Ce qui a fini de trancher : le contrôle visuel, où DINOv3 rate une partie des passages et déborde sur les bords ; le coût d'inférence, 3 minutes 21 contre 13 à 15 minutes pour 88 tuiles ; et la compatibilité avec ArcGIS Pro, qui propose le U-Net.</a:t>
            </a:r>
          </a:p>
          <a:p>
            <a:r>
              <a:rPr lang="fr-FR" dirty="0"/>
              <a:t>Une précision sur les courbes : la courbe DPT de la graine 1 s'arrête à l'époque 9, c'est un run interrompu, qu'on n'a pas retenu.</a:t>
            </a:r>
          </a:p>
          <a:p>
            <a:r>
              <a:rPr lang="fr-FR" dirty="0"/>
              <a:t>Sources : cahier_recherche/README.md, section 5.2 (tableau de comparaison, intervalles de confiance, temps d'inférence) ; page de comparaison qualitative du volet de réglage.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0" y="0"/>
            <a:ext cx="9144000" cy="109728"/>
          </a:xfrm>
          <a:prstGeom prst="rect">
            <a:avLst/>
          </a:prstGeom>
          <a:solidFill>
            <a:srgbClr val="009FE3"/>
          </a:solidFill>
          <a:ln>
            <a:noFill/>
          </a:ln>
        </p:spPr>
        <p:txBody>
          <a:bodyPr rtlCol="0" anchor="ctr"/>
          <a:lstStyle/>
          <a:p>
            <a:endParaRPr lang="fr-FR" dirty="0"/>
          </a:p>
        </p:txBody>
      </p:sp>
      <p:sp>
        <p:nvSpPr>
          <p:cNvPr id="3" name="Shape 3"/>
          <p:cNvSpPr/>
          <p:nvPr/>
        </p:nvSpPr>
        <p:spPr>
          <a:xfrm>
            <a:off x="0" y="5033772"/>
            <a:ext cx="9144000" cy="109728"/>
          </a:xfrm>
          <a:prstGeom prst="rect">
            <a:avLst/>
          </a:prstGeom>
          <a:solidFill>
            <a:srgbClr val="95C11F"/>
          </a:solidFill>
          <a:ln>
            <a:noFill/>
          </a:ln>
        </p:spPr>
        <p:txBody>
          <a:bodyPr rtlCol="0" anchor="ctr"/>
          <a:lstStyle/>
          <a:p>
            <a:endParaRPr lang="fr-FR" dirty="0"/>
          </a:p>
        </p:txBody>
      </p:sp>
      <p:pic>
        <p:nvPicPr>
          <p:cNvPr id="4" name="Image 4" descr="logo_gpso.png"/>
          <p:cNvPicPr>
            <a:picLocks noChangeAspect="1"/>
          </p:cNvPicPr>
          <p:nvPr/>
        </p:nvPicPr>
        <p:blipFill>
          <a:blip r:embed="rId3"/>
          <a:stretch>
            <a:fillRect/>
          </a:stretch>
        </p:blipFill>
        <p:spPr>
          <a:xfrm>
            <a:off x="5715000" y="914400"/>
            <a:ext cx="3017520" cy="3017520"/>
          </a:xfrm>
          <a:prstGeom prst="rect">
            <a:avLst/>
          </a:prstGeom>
        </p:spPr>
      </p:pic>
      <p:sp>
        <p:nvSpPr>
          <p:cNvPr id="5" name="Shape 5"/>
          <p:cNvSpPr txBox="1"/>
          <p:nvPr/>
        </p:nvSpPr>
        <p:spPr>
          <a:xfrm>
            <a:off x="548640" y="685800"/>
            <a:ext cx="4937760" cy="274320"/>
          </a:xfrm>
          <a:prstGeom prst="rect">
            <a:avLst/>
          </a:prstGeom>
          <a:noFill/>
          <a:ln>
            <a:noFill/>
          </a:ln>
        </p:spPr>
        <p:txBody>
          <a:bodyPr wrap="square" lIns="0" tIns="0" rIns="0" bIns="0" rtlCol="0" anchor="t">
            <a:noAutofit/>
          </a:bodyPr>
          <a:lstStyle/>
          <a:p>
            <a:pPr marL="0" indent="0" algn="l">
              <a:buNone/>
            </a:pPr>
            <a:r>
              <a:rPr lang="fr-FR" sz="1100" b="1" dirty="0">
                <a:solidFill>
                  <a:srgbClr val="A5ACB0"/>
                </a:solidFill>
                <a:latin typeface="Arial"/>
                <a:cs typeface="Arial"/>
              </a:rPr>
              <a:t>GRAND PARIS SEINE OUEST  ·  GÉOAI</a:t>
            </a:r>
            <a:endParaRPr lang="fr-FR" sz="1100" dirty="0"/>
          </a:p>
        </p:txBody>
      </p:sp>
      <p:sp>
        <p:nvSpPr>
          <p:cNvPr id="6" name="Shape 6"/>
          <p:cNvSpPr txBox="1"/>
          <p:nvPr/>
        </p:nvSpPr>
        <p:spPr>
          <a:xfrm>
            <a:off x="548640" y="1188720"/>
            <a:ext cx="5029200" cy="1280160"/>
          </a:xfrm>
          <a:prstGeom prst="rect">
            <a:avLst/>
          </a:prstGeom>
          <a:noFill/>
          <a:ln>
            <a:noFill/>
          </a:ln>
        </p:spPr>
        <p:txBody>
          <a:bodyPr wrap="square" lIns="0" tIns="0" rIns="0" bIns="0" rtlCol="0" anchor="t">
            <a:noAutofit/>
          </a:bodyPr>
          <a:lstStyle/>
          <a:p>
            <a:pPr marL="0" indent="0" algn="l">
              <a:buNone/>
            </a:pPr>
            <a:r>
              <a:rPr lang="fr-FR" sz="3400" b="1" dirty="0">
                <a:solidFill>
                  <a:srgbClr val="009FE3"/>
                </a:solidFill>
                <a:latin typeface="Arial"/>
                <a:cs typeface="Arial"/>
              </a:rPr>
              <a:t>La GéoAI au service des métiers</a:t>
            </a:r>
            <a:endParaRPr lang="fr-FR" sz="3400" dirty="0"/>
          </a:p>
        </p:txBody>
      </p:sp>
      <p:sp>
        <p:nvSpPr>
          <p:cNvPr id="7" name="Shape 7"/>
          <p:cNvSpPr txBox="1"/>
          <p:nvPr/>
        </p:nvSpPr>
        <p:spPr>
          <a:xfrm>
            <a:off x="548640" y="2606040"/>
            <a:ext cx="4846320" cy="914400"/>
          </a:xfrm>
          <a:prstGeom prst="rect">
            <a:avLst/>
          </a:prstGeom>
          <a:noFill/>
          <a:ln>
            <a:noFill/>
          </a:ln>
        </p:spPr>
        <p:txBody>
          <a:bodyPr wrap="square" lIns="0" tIns="0" rIns="0" bIns="0" rtlCol="0" anchor="t">
            <a:noAutofit/>
          </a:bodyPr>
          <a:lstStyle/>
          <a:p>
            <a:pPr marL="0" indent="0" algn="l">
              <a:buNone/>
            </a:pPr>
            <a:r>
              <a:rPr lang="fr-FR" sz="1700" dirty="0">
                <a:solidFill>
                  <a:srgbClr val="333333"/>
                </a:solidFill>
                <a:latin typeface="Calibri"/>
                <a:cs typeface="Calibri"/>
              </a:rPr>
              <a:t>Pallier le manque de données par la détection automatisée des passages piétons</a:t>
            </a:r>
            <a:endParaRPr lang="fr-FR" sz="1700" dirty="0"/>
          </a:p>
        </p:txBody>
      </p:sp>
      <p:sp>
        <p:nvSpPr>
          <p:cNvPr id="8" name="Shape 8"/>
          <p:cNvSpPr/>
          <p:nvPr/>
        </p:nvSpPr>
        <p:spPr>
          <a:xfrm>
            <a:off x="548640" y="3657600"/>
            <a:ext cx="548640" cy="45720"/>
          </a:xfrm>
          <a:prstGeom prst="rect">
            <a:avLst/>
          </a:prstGeom>
          <a:solidFill>
            <a:srgbClr val="95C11F"/>
          </a:solidFill>
          <a:ln>
            <a:noFill/>
          </a:ln>
        </p:spPr>
        <p:txBody>
          <a:bodyPr rtlCol="0" anchor="ctr"/>
          <a:lstStyle/>
          <a:p>
            <a:endParaRPr lang="fr-FR" dirty="0"/>
          </a:p>
        </p:txBody>
      </p:sp>
      <p:sp>
        <p:nvSpPr>
          <p:cNvPr id="9" name="Shape 9"/>
          <p:cNvSpPr txBox="1"/>
          <p:nvPr/>
        </p:nvSpPr>
        <p:spPr>
          <a:xfrm>
            <a:off x="548640" y="3840480"/>
            <a:ext cx="5029200" cy="548640"/>
          </a:xfrm>
          <a:prstGeom prst="rect">
            <a:avLst/>
          </a:prstGeom>
          <a:noFill/>
          <a:ln>
            <a:noFill/>
          </a:ln>
        </p:spPr>
        <p:txBody>
          <a:bodyPr wrap="square" lIns="0" tIns="0" rIns="0" bIns="0" rtlCol="0" anchor="t">
            <a:noAutofit/>
          </a:bodyPr>
          <a:lstStyle/>
          <a:p>
            <a:pPr marL="0" indent="0" algn="l">
              <a:spcAft>
                <a:spcPts val="200"/>
              </a:spcAft>
              <a:buNone/>
            </a:pPr>
            <a:r>
              <a:rPr lang="fr-FR" sz="1200" b="1" dirty="0">
                <a:solidFill>
                  <a:srgbClr val="333333"/>
                </a:solidFill>
                <a:latin typeface="Arial"/>
                <a:cs typeface="Arial"/>
              </a:rPr>
              <a:t>Géo Évènement 2026 · Conférence Francophone Esri</a:t>
            </a:r>
            <a:endParaRPr lang="fr-FR" sz="1200" dirty="0"/>
          </a:p>
          <a:p>
            <a:pPr marL="0" indent="0" algn="l">
              <a:buNone/>
            </a:pPr>
            <a:r>
              <a:rPr lang="fr-FR" sz="1100" dirty="0">
                <a:solidFill>
                  <a:srgbClr val="5D5D5D"/>
                </a:solidFill>
                <a:latin typeface="Calibri"/>
                <a:cs typeface="Calibri"/>
              </a:rPr>
              <a:t>8 octobre 2026 · 8 communes de GPSO</a:t>
            </a:r>
            <a:endParaRPr lang="fr-FR"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L'ORATEUR ET LE CADRE</a:t>
            </a:r>
            <a:endParaRPr lang="fr-FR" sz="9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2</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9"/>
          <p:cNvSpPr txBox="1"/>
          <p:nvPr/>
        </p:nvSpPr>
        <p:spPr>
          <a:xfrm>
            <a:off x="457200" y="1234440"/>
            <a:ext cx="5760720" cy="1325880"/>
          </a:xfrm>
          <a:prstGeom prst="rect">
            <a:avLst/>
          </a:prstGeom>
          <a:noFill/>
          <a:ln>
            <a:noFill/>
          </a:ln>
        </p:spPr>
        <p:txBody>
          <a:bodyPr wrap="square" lIns="0" tIns="0" rIns="0" bIns="0" rtlCol="0" anchor="t">
            <a:noAutofit/>
          </a:bodyPr>
          <a:lstStyle/>
          <a:p>
            <a:pPr marL="0" indent="0" algn="l">
              <a:spcAft>
                <a:spcPts val="200"/>
              </a:spcAft>
              <a:buNone/>
            </a:pPr>
            <a:r>
              <a:rPr lang="fr-FR" sz="2000" b="1" dirty="0">
                <a:solidFill>
                  <a:srgbClr val="333333"/>
                </a:solidFill>
                <a:latin typeface="Arial"/>
                <a:cs typeface="Arial"/>
              </a:rPr>
              <a:t>Mandresy ANDRI</a:t>
            </a:r>
            <a:endParaRPr lang="fr-FR" sz="2000" dirty="0"/>
          </a:p>
          <a:p>
            <a:pPr marL="0" indent="0" algn="l">
              <a:spcAft>
                <a:spcPts val="800"/>
              </a:spcAft>
              <a:buNone/>
            </a:pPr>
            <a:r>
              <a:rPr lang="fr-FR" sz="1300" b="1" dirty="0">
                <a:solidFill>
                  <a:srgbClr val="009FE3"/>
                </a:solidFill>
                <a:latin typeface="Arial"/>
                <a:cs typeface="Arial"/>
              </a:rPr>
              <a:t>Chargé de valorisation des données</a:t>
            </a:r>
            <a:endParaRPr lang="fr-FR" sz="1300" dirty="0"/>
          </a:p>
          <a:p>
            <a:pPr marL="0" indent="0" algn="l">
              <a:buNone/>
            </a:pPr>
            <a:r>
              <a:rPr lang="fr-FR" sz="1200" dirty="0">
                <a:solidFill>
                  <a:srgbClr val="5D5D5D"/>
                </a:solidFill>
                <a:latin typeface="Calibri"/>
                <a:cs typeface="Calibri"/>
              </a:rPr>
              <a:t>DIGIT — Direction de l'Information Géographique et de l'Innovation Territoriale, Grand Paris Seine Ouest</a:t>
            </a:r>
            <a:endParaRPr lang="fr-FR" sz="1200" dirty="0"/>
          </a:p>
        </p:txBody>
      </p:sp>
      <p:pic>
        <p:nvPicPr>
          <p:cNvPr id="13" name="Image 12">
            <a:extLst>
              <a:ext uri="{FF2B5EF4-FFF2-40B4-BE49-F238E27FC236}">
                <a16:creationId xmlns:a16="http://schemas.microsoft.com/office/drawing/2014/main" id="{3CFD963B-8C82-8007-6B93-A09FC98A9C42}"/>
              </a:ext>
            </a:extLst>
          </p:cNvPr>
          <p:cNvPicPr>
            <a:picLocks noChangeAspect="1"/>
          </p:cNvPicPr>
          <p:nvPr/>
        </p:nvPicPr>
        <p:blipFill>
          <a:blip r:embed="rId4"/>
          <a:stretch>
            <a:fillRect/>
          </a:stretch>
        </p:blipFill>
        <p:spPr>
          <a:xfrm>
            <a:off x="5786827" y="446227"/>
            <a:ext cx="2844648" cy="2334467"/>
          </a:xfrm>
          <a:prstGeom prst="rect">
            <a:avLst/>
          </a:prstGeom>
        </p:spPr>
      </p:pic>
      <p:sp>
        <p:nvSpPr>
          <p:cNvPr id="11" name="Shape 11"/>
          <p:cNvSpPr/>
          <p:nvPr/>
        </p:nvSpPr>
        <p:spPr>
          <a:xfrm>
            <a:off x="457200" y="2743200"/>
            <a:ext cx="4754880" cy="1901952"/>
          </a:xfrm>
          <a:prstGeom prst="rect">
            <a:avLst/>
          </a:prstGeom>
          <a:solidFill>
            <a:srgbClr val="F0F0F0"/>
          </a:solidFill>
          <a:ln>
            <a:noFill/>
          </a:ln>
        </p:spPr>
        <p:txBody>
          <a:bodyPr wrap="square" lIns="164592" tIns="109728" rIns="164592" bIns="91440" rtlCol="0" anchor="t">
            <a:noAutofit/>
          </a:bodyPr>
          <a:lstStyle/>
          <a:p>
            <a:pPr marL="0" indent="0" algn="l">
              <a:spcAft>
                <a:spcPts val="400"/>
              </a:spcAft>
              <a:buNone/>
            </a:pPr>
            <a:r>
              <a:rPr lang="fr-FR" sz="1100" dirty="0">
                <a:solidFill>
                  <a:srgbClr val="333333"/>
                </a:solidFill>
                <a:latin typeface="Calibri"/>
                <a:cs typeface="Calibri"/>
              </a:rPr>
              <a:t>GPSO s'est doté d'une charte d'usage de l'intelligence artificielle, validée au CST du 22 janvier 2026 :</a:t>
            </a:r>
            <a:endParaRPr lang="fr-FR" sz="1100" dirty="0"/>
          </a:p>
          <a:p>
            <a:pPr marL="0" indent="0" algn="l">
              <a:spcAft>
                <a:spcPts val="600"/>
              </a:spcAft>
              <a:buNone/>
            </a:pPr>
            <a:r>
              <a:rPr lang="fr-FR" sz="1300" b="1" dirty="0">
                <a:solidFill>
                  <a:srgbClr val="009FE3"/>
                </a:solidFill>
                <a:latin typeface="Arial"/>
                <a:cs typeface="Arial"/>
              </a:rPr>
              <a:t>« L'humain au cœur du dispositif »</a:t>
            </a:r>
            <a:endParaRPr lang="fr-FR" sz="1300" dirty="0"/>
          </a:p>
          <a:p>
            <a:pPr marL="0" indent="0" algn="l">
              <a:buNone/>
            </a:pPr>
            <a:r>
              <a:rPr lang="fr-FR" sz="1000" dirty="0">
                <a:solidFill>
                  <a:srgbClr val="5D5D5D"/>
                </a:solidFill>
                <a:latin typeface="Calibri"/>
                <a:cs typeface="Calibri"/>
              </a:rPr>
              <a:t>La DIGIT fait partie du groupe de travail IA qui porte cette charte, constitué en septembre 2025 avec la DSI, la DRH, la DAI, la DESC, la communication et des directions métiers.</a:t>
            </a:r>
            <a:endParaRPr lang="fr-FR" sz="1000" dirty="0"/>
          </a:p>
        </p:txBody>
      </p:sp>
      <p:sp>
        <p:nvSpPr>
          <p:cNvPr id="12" name="Shape 12"/>
          <p:cNvSpPr/>
          <p:nvPr/>
        </p:nvSpPr>
        <p:spPr>
          <a:xfrm>
            <a:off x="5394960" y="2743200"/>
            <a:ext cx="3291840" cy="1901952"/>
          </a:xfrm>
          <a:prstGeom prst="rect">
            <a:avLst/>
          </a:prstGeom>
          <a:solidFill>
            <a:srgbClr val="FFFFFF"/>
          </a:solidFill>
          <a:ln w="12700">
            <a:solidFill>
              <a:srgbClr val="009FE3"/>
            </a:solidFill>
          </a:ln>
        </p:spPr>
        <p:txBody>
          <a:bodyPr wrap="square" lIns="164592" tIns="109728" rIns="164592" bIns="91440" rtlCol="0" anchor="t">
            <a:noAutofit/>
          </a:bodyPr>
          <a:lstStyle/>
          <a:p>
            <a:pPr marL="0" indent="0" algn="l">
              <a:spcAft>
                <a:spcPts val="400"/>
              </a:spcAft>
              <a:buNone/>
            </a:pPr>
            <a:r>
              <a:rPr lang="fr-FR" sz="1100" b="1" dirty="0">
                <a:solidFill>
                  <a:srgbClr val="009FE3"/>
                </a:solidFill>
                <a:latin typeface="Arial"/>
                <a:cs typeface="Arial"/>
              </a:rPr>
              <a:t>Les 5 piliers de la charte</a:t>
            </a:r>
            <a:endParaRPr lang="fr-FR" sz="1100" dirty="0"/>
          </a:p>
          <a:p>
            <a:pPr marL="171450" indent="-171450" algn="l">
              <a:spcAft>
                <a:spcPts val="200"/>
              </a:spcAft>
              <a:buFont typeface="Arial"/>
              <a:buChar char="•"/>
            </a:pPr>
            <a:r>
              <a:rPr lang="fr-FR" sz="1100" dirty="0">
                <a:solidFill>
                  <a:srgbClr val="333333"/>
                </a:solidFill>
                <a:latin typeface="Calibri"/>
                <a:cs typeface="Calibri"/>
              </a:rPr>
              <a:t>L'humain au cœur</a:t>
            </a:r>
            <a:endParaRPr lang="fr-FR" sz="1100" dirty="0"/>
          </a:p>
          <a:p>
            <a:pPr marL="171450" indent="-171450" algn="l">
              <a:spcAft>
                <a:spcPts val="200"/>
              </a:spcAft>
              <a:buFont typeface="Arial"/>
              <a:buChar char="•"/>
            </a:pPr>
            <a:r>
              <a:rPr lang="fr-FR" sz="1100" dirty="0">
                <a:solidFill>
                  <a:srgbClr val="333333"/>
                </a:solidFill>
                <a:latin typeface="Calibri"/>
                <a:cs typeface="Calibri"/>
              </a:rPr>
              <a:t>Sobriété</a:t>
            </a:r>
            <a:endParaRPr lang="fr-FR" sz="1100" dirty="0"/>
          </a:p>
          <a:p>
            <a:pPr marL="171450" indent="-171450" algn="l">
              <a:spcAft>
                <a:spcPts val="200"/>
              </a:spcAft>
              <a:buFont typeface="Arial"/>
              <a:buChar char="•"/>
            </a:pPr>
            <a:r>
              <a:rPr lang="fr-FR" sz="1100" dirty="0">
                <a:solidFill>
                  <a:srgbClr val="333333"/>
                </a:solidFill>
                <a:latin typeface="Calibri"/>
                <a:cs typeface="Calibri"/>
              </a:rPr>
              <a:t>Transparence</a:t>
            </a:r>
            <a:endParaRPr lang="fr-FR" sz="1100" dirty="0"/>
          </a:p>
          <a:p>
            <a:pPr marL="171450" indent="-171450" algn="l">
              <a:spcAft>
                <a:spcPts val="200"/>
              </a:spcAft>
              <a:buFont typeface="Arial"/>
              <a:buChar char="•"/>
            </a:pPr>
            <a:r>
              <a:rPr lang="fr-FR" sz="1100" dirty="0">
                <a:solidFill>
                  <a:srgbClr val="333333"/>
                </a:solidFill>
                <a:latin typeface="Calibri"/>
                <a:cs typeface="Calibri"/>
              </a:rPr>
              <a:t>Sécurité et souveraineté</a:t>
            </a:r>
            <a:endParaRPr lang="fr-FR" sz="1100" dirty="0"/>
          </a:p>
          <a:p>
            <a:pPr marL="171450" indent="-171450" algn="l">
              <a:spcAft>
                <a:spcPts val="200"/>
              </a:spcAft>
              <a:buFont typeface="Arial"/>
              <a:buChar char="•"/>
            </a:pPr>
            <a:r>
              <a:rPr lang="fr-FR" sz="1100" dirty="0">
                <a:solidFill>
                  <a:srgbClr val="333333"/>
                </a:solidFill>
                <a:latin typeface="Calibri"/>
                <a:cs typeface="Calibri"/>
              </a:rPr>
              <a:t>Responsabilité</a:t>
            </a:r>
            <a:endParaRPr lang="fr-FR" sz="11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Un projet de la DIGIT, mené dans le cadre de la charte IA de GPSO</a:t>
            </a:r>
            <a:endParaRPr lang="fr-FR"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LE BESOIN</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La DGST veut sécuriser les passages piétons, mais aucun inventaire n'existe</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3</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9"/>
          <p:cNvSpPr/>
          <p:nvPr/>
        </p:nvSpPr>
        <p:spPr>
          <a:xfrm>
            <a:off x="457200" y="1234440"/>
            <a:ext cx="73152" cy="914400"/>
          </a:xfrm>
          <a:prstGeom prst="rect">
            <a:avLst/>
          </a:prstGeom>
          <a:solidFill>
            <a:srgbClr val="009FE3"/>
          </a:solidFill>
          <a:ln>
            <a:noFill/>
          </a:ln>
        </p:spPr>
        <p:txBody>
          <a:bodyPr rtlCol="0" anchor="ctr"/>
          <a:lstStyle/>
          <a:p>
            <a:endParaRPr lang="fr-FR" dirty="0"/>
          </a:p>
        </p:txBody>
      </p:sp>
      <p:sp>
        <p:nvSpPr>
          <p:cNvPr id="10" name="Shape 10"/>
          <p:cNvSpPr txBox="1"/>
          <p:nvPr/>
        </p:nvSpPr>
        <p:spPr>
          <a:xfrm>
            <a:off x="685800" y="1234440"/>
            <a:ext cx="4343400" cy="274320"/>
          </a:xfrm>
          <a:prstGeom prst="rect">
            <a:avLst/>
          </a:prstGeom>
          <a:noFill/>
          <a:ln>
            <a:noFill/>
          </a:ln>
        </p:spPr>
        <p:txBody>
          <a:bodyPr wrap="square" lIns="0" tIns="0" rIns="0" bIns="0" rtlCol="0" anchor="t">
            <a:noAutofit/>
          </a:bodyPr>
          <a:lstStyle/>
          <a:p>
            <a:pPr marL="0" indent="0" algn="l">
              <a:buNone/>
            </a:pPr>
            <a:r>
              <a:rPr lang="fr-FR" sz="1400" b="1" dirty="0">
                <a:solidFill>
                  <a:srgbClr val="333333"/>
                </a:solidFill>
                <a:latin typeface="Arial"/>
                <a:cs typeface="Arial"/>
              </a:rPr>
              <a:t>Sécuriser les traversées piétonnes</a:t>
            </a:r>
            <a:endParaRPr lang="fr-FR" sz="1400" dirty="0"/>
          </a:p>
        </p:txBody>
      </p:sp>
      <p:sp>
        <p:nvSpPr>
          <p:cNvPr id="11" name="Shape 11"/>
          <p:cNvSpPr txBox="1"/>
          <p:nvPr/>
        </p:nvSpPr>
        <p:spPr>
          <a:xfrm>
            <a:off x="685800" y="1536192"/>
            <a:ext cx="4343400" cy="640080"/>
          </a:xfrm>
          <a:prstGeom prst="rect">
            <a:avLst/>
          </a:prstGeom>
          <a:noFill/>
          <a:ln>
            <a:noFill/>
          </a:ln>
        </p:spPr>
        <p:txBody>
          <a:bodyPr wrap="square" lIns="0" tIns="0" rIns="0" bIns="0" rtlCol="0" anchor="t">
            <a:noAutofit/>
          </a:bodyPr>
          <a:lstStyle/>
          <a:p>
            <a:pPr marL="0" indent="0" algn="l">
              <a:buNone/>
            </a:pPr>
            <a:r>
              <a:rPr lang="fr-FR" sz="1150" dirty="0">
                <a:solidFill>
                  <a:srgbClr val="5D5D5D"/>
                </a:solidFill>
                <a:latin typeface="Calibri"/>
                <a:cs typeface="Calibri"/>
              </a:rPr>
              <a:t>Sur tout le territoire, en priorité aux abords des écoles, aux sorties de transports en commun et dans les carrefours accidentogènes.</a:t>
            </a:r>
            <a:endParaRPr lang="fr-FR" sz="1150" dirty="0"/>
          </a:p>
        </p:txBody>
      </p:sp>
      <p:sp>
        <p:nvSpPr>
          <p:cNvPr id="12" name="Shape 12"/>
          <p:cNvSpPr/>
          <p:nvPr/>
        </p:nvSpPr>
        <p:spPr>
          <a:xfrm>
            <a:off x="457200" y="2350008"/>
            <a:ext cx="73152" cy="914400"/>
          </a:xfrm>
          <a:prstGeom prst="rect">
            <a:avLst/>
          </a:prstGeom>
          <a:solidFill>
            <a:srgbClr val="009FE3"/>
          </a:solidFill>
          <a:ln>
            <a:noFill/>
          </a:ln>
        </p:spPr>
        <p:txBody>
          <a:bodyPr rtlCol="0" anchor="ctr"/>
          <a:lstStyle/>
          <a:p>
            <a:endParaRPr lang="fr-FR" dirty="0"/>
          </a:p>
        </p:txBody>
      </p:sp>
      <p:sp>
        <p:nvSpPr>
          <p:cNvPr id="13" name="Shape 13"/>
          <p:cNvSpPr txBox="1"/>
          <p:nvPr/>
        </p:nvSpPr>
        <p:spPr>
          <a:xfrm>
            <a:off x="685800" y="2350008"/>
            <a:ext cx="4343400" cy="274320"/>
          </a:xfrm>
          <a:prstGeom prst="rect">
            <a:avLst/>
          </a:prstGeom>
          <a:noFill/>
          <a:ln>
            <a:noFill/>
          </a:ln>
        </p:spPr>
        <p:txBody>
          <a:bodyPr wrap="square" lIns="0" tIns="0" rIns="0" bIns="0" rtlCol="0" anchor="t">
            <a:noAutofit/>
          </a:bodyPr>
          <a:lstStyle/>
          <a:p>
            <a:pPr marL="0" indent="0" algn="l">
              <a:buNone/>
            </a:pPr>
            <a:r>
              <a:rPr lang="fr-FR" sz="1400" b="1" dirty="0">
                <a:solidFill>
                  <a:srgbClr val="333333"/>
                </a:solidFill>
                <a:latin typeface="Arial"/>
                <a:cs typeface="Arial"/>
              </a:rPr>
              <a:t>Pas d'inventaire, donc pas de chiffres</a:t>
            </a:r>
            <a:endParaRPr lang="fr-FR" sz="1400" dirty="0"/>
          </a:p>
        </p:txBody>
      </p:sp>
      <p:sp>
        <p:nvSpPr>
          <p:cNvPr id="14" name="Shape 14"/>
          <p:cNvSpPr txBox="1"/>
          <p:nvPr/>
        </p:nvSpPr>
        <p:spPr>
          <a:xfrm>
            <a:off x="685800" y="2651760"/>
            <a:ext cx="4343400" cy="640080"/>
          </a:xfrm>
          <a:prstGeom prst="rect">
            <a:avLst/>
          </a:prstGeom>
          <a:noFill/>
          <a:ln>
            <a:noFill/>
          </a:ln>
        </p:spPr>
        <p:txBody>
          <a:bodyPr wrap="square" lIns="0" tIns="0" rIns="0" bIns="0" rtlCol="0" anchor="t">
            <a:noAutofit/>
          </a:bodyPr>
          <a:lstStyle/>
          <a:p>
            <a:pPr marL="0" indent="0" algn="l">
              <a:buNone/>
            </a:pPr>
            <a:r>
              <a:rPr lang="fr-FR" sz="1150" dirty="0">
                <a:solidFill>
                  <a:srgbClr val="5D5D5D"/>
                </a:solidFill>
                <a:latin typeface="Calibri"/>
                <a:cs typeface="Calibri"/>
              </a:rPr>
              <a:t>Aucune couche des passages piétons. Les relevés à la main sont longs et difficiles à tenir à jour.</a:t>
            </a:r>
            <a:endParaRPr lang="fr-FR" sz="1150" dirty="0"/>
          </a:p>
        </p:txBody>
      </p:sp>
      <p:sp>
        <p:nvSpPr>
          <p:cNvPr id="15" name="Shape 15"/>
          <p:cNvSpPr/>
          <p:nvPr/>
        </p:nvSpPr>
        <p:spPr>
          <a:xfrm>
            <a:off x="457200" y="3465576"/>
            <a:ext cx="73152" cy="914400"/>
          </a:xfrm>
          <a:prstGeom prst="rect">
            <a:avLst/>
          </a:prstGeom>
          <a:solidFill>
            <a:srgbClr val="009FE3"/>
          </a:solidFill>
          <a:ln>
            <a:noFill/>
          </a:ln>
        </p:spPr>
        <p:txBody>
          <a:bodyPr rtlCol="0" anchor="ctr"/>
          <a:lstStyle/>
          <a:p>
            <a:endParaRPr lang="fr-FR" dirty="0"/>
          </a:p>
        </p:txBody>
      </p:sp>
      <p:sp>
        <p:nvSpPr>
          <p:cNvPr id="16" name="Shape 16"/>
          <p:cNvSpPr txBox="1"/>
          <p:nvPr/>
        </p:nvSpPr>
        <p:spPr>
          <a:xfrm>
            <a:off x="685800" y="3465576"/>
            <a:ext cx="4343400" cy="274320"/>
          </a:xfrm>
          <a:prstGeom prst="rect">
            <a:avLst/>
          </a:prstGeom>
          <a:noFill/>
          <a:ln>
            <a:noFill/>
          </a:ln>
        </p:spPr>
        <p:txBody>
          <a:bodyPr wrap="square" lIns="0" tIns="0" rIns="0" bIns="0" rtlCol="0" anchor="t">
            <a:noAutofit/>
          </a:bodyPr>
          <a:lstStyle/>
          <a:p>
            <a:pPr marL="0" indent="0" algn="l">
              <a:buNone/>
            </a:pPr>
            <a:r>
              <a:rPr lang="fr-FR" sz="1400" b="1" dirty="0">
                <a:solidFill>
                  <a:srgbClr val="333333"/>
                </a:solidFill>
                <a:latin typeface="Arial"/>
                <a:cs typeface="Arial"/>
              </a:rPr>
              <a:t>Trois usages bloqués</a:t>
            </a:r>
            <a:endParaRPr lang="fr-FR" sz="1400" dirty="0"/>
          </a:p>
        </p:txBody>
      </p:sp>
      <p:sp>
        <p:nvSpPr>
          <p:cNvPr id="17" name="Shape 17"/>
          <p:cNvSpPr txBox="1"/>
          <p:nvPr/>
        </p:nvSpPr>
        <p:spPr>
          <a:xfrm>
            <a:off x="685800" y="3767328"/>
            <a:ext cx="4343400" cy="640080"/>
          </a:xfrm>
          <a:prstGeom prst="rect">
            <a:avLst/>
          </a:prstGeom>
          <a:noFill/>
          <a:ln>
            <a:noFill/>
          </a:ln>
        </p:spPr>
        <p:txBody>
          <a:bodyPr wrap="square" lIns="0" tIns="0" rIns="0" bIns="0" rtlCol="0" anchor="t">
            <a:noAutofit/>
          </a:bodyPr>
          <a:lstStyle/>
          <a:p>
            <a:pPr marL="0" indent="0" algn="l">
              <a:buNone/>
            </a:pPr>
            <a:r>
              <a:rPr lang="fr-FR" sz="1150" dirty="0">
                <a:solidFill>
                  <a:srgbClr val="5D5D5D"/>
                </a:solidFill>
                <a:latin typeface="Calibri"/>
                <a:cs typeface="Calibri"/>
              </a:rPr>
              <a:t>Comparer des solutions, rédiger les notes aux instances, structurer les marchés publics de sécurité routière.</a:t>
            </a:r>
            <a:endParaRPr lang="fr-FR" sz="1150" dirty="0"/>
          </a:p>
        </p:txBody>
      </p:sp>
      <p:pic>
        <p:nvPicPr>
          <p:cNvPr id="18" name="Image 18" descr="illu_ortho_vanves.png"/>
          <p:cNvPicPr>
            <a:picLocks noChangeAspect="1"/>
          </p:cNvPicPr>
          <p:nvPr/>
        </p:nvPicPr>
        <p:blipFill>
          <a:blip r:embed="rId4"/>
          <a:stretch>
            <a:fillRect/>
          </a:stretch>
        </p:blipFill>
        <p:spPr>
          <a:xfrm>
            <a:off x="5349240" y="1188720"/>
            <a:ext cx="2834640" cy="2834640"/>
          </a:xfrm>
          <a:prstGeom prst="rect">
            <a:avLst/>
          </a:prstGeom>
        </p:spPr>
      </p:pic>
      <p:sp>
        <p:nvSpPr>
          <p:cNvPr id="19" name="Shape 19"/>
          <p:cNvSpPr txBox="1"/>
          <p:nvPr/>
        </p:nvSpPr>
        <p:spPr>
          <a:xfrm>
            <a:off x="5120640" y="4069080"/>
            <a:ext cx="3291840" cy="457200"/>
          </a:xfrm>
          <a:prstGeom prst="rect">
            <a:avLst/>
          </a:prstGeom>
          <a:noFill/>
          <a:ln>
            <a:noFill/>
          </a:ln>
        </p:spPr>
        <p:txBody>
          <a:bodyPr wrap="square" lIns="0" tIns="0" rIns="0" bIns="0" rtlCol="0" anchor="t">
            <a:noAutofit/>
          </a:bodyPr>
          <a:lstStyle/>
          <a:p>
            <a:pPr algn="ctr"/>
            <a:r>
              <a:rPr lang="fr-FR" sz="1000" i="1" dirty="0">
                <a:solidFill>
                  <a:srgbClr val="5D5D5D"/>
                </a:solidFill>
                <a:latin typeface="Calibri"/>
                <a:cs typeface="Calibri"/>
              </a:rPr>
              <a:t>Orthophoto IGN 20 cm à Vanves (Carrefour de </a:t>
            </a:r>
            <a:r>
              <a:rPr lang="fr-FR" sz="1000" i="1" dirty="0">
                <a:solidFill>
                  <a:srgbClr val="5D5D5D"/>
                </a:solidFill>
                <a:cs typeface="Calibri"/>
              </a:rPr>
              <a:t>l'insurrection)</a:t>
            </a:r>
            <a:endParaRPr lang="fr-FR"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LE PRODUIT</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Au départ, il fallait compter les passages. On est allé plus loin</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4</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9"/>
          <p:cNvSpPr/>
          <p:nvPr/>
        </p:nvSpPr>
        <p:spPr>
          <a:xfrm>
            <a:off x="457200" y="1234440"/>
            <a:ext cx="4572000" cy="1953260"/>
          </a:xfrm>
          <a:prstGeom prst="rect">
            <a:avLst/>
          </a:prstGeom>
          <a:solidFill>
            <a:srgbClr val="F0F0F0"/>
          </a:solidFill>
          <a:ln>
            <a:noFill/>
          </a:ln>
        </p:spPr>
        <p:txBody>
          <a:bodyPr wrap="square" lIns="164592" tIns="128016" rIns="164592" bIns="109728" rtlCol="0" anchor="t">
            <a:noAutofit/>
          </a:bodyPr>
          <a:lstStyle/>
          <a:p>
            <a:pPr marL="0" indent="0" algn="l">
              <a:spcAft>
                <a:spcPts val="300"/>
              </a:spcAft>
              <a:buNone/>
            </a:pPr>
            <a:r>
              <a:rPr lang="fr-FR" sz="1250" b="1" dirty="0">
                <a:solidFill>
                  <a:srgbClr val="009FE3"/>
                </a:solidFill>
                <a:latin typeface="Arial"/>
                <a:cs typeface="Arial"/>
              </a:rPr>
              <a:t>Le besoin de départ</a:t>
            </a:r>
            <a:endParaRPr lang="fr-FR" sz="1250" dirty="0"/>
          </a:p>
          <a:p>
            <a:pPr marL="0" indent="0" algn="l">
              <a:spcAft>
                <a:spcPts val="1200"/>
              </a:spcAft>
              <a:buNone/>
            </a:pPr>
            <a:r>
              <a:rPr lang="fr-FR" sz="1200" dirty="0">
                <a:solidFill>
                  <a:srgbClr val="333333"/>
                </a:solidFill>
                <a:latin typeface="Calibri"/>
                <a:cs typeface="Calibri"/>
              </a:rPr>
              <a:t>Combien de passages piétons, par commune ?</a:t>
            </a:r>
            <a:endParaRPr lang="fr-FR" sz="1200" dirty="0"/>
          </a:p>
          <a:p>
            <a:pPr marL="0" indent="0" algn="l">
              <a:spcAft>
                <a:spcPts val="400"/>
              </a:spcAft>
              <a:buNone/>
            </a:pPr>
            <a:r>
              <a:rPr lang="fr-FR" sz="1250" b="1" dirty="0">
                <a:solidFill>
                  <a:srgbClr val="009FE3"/>
                </a:solidFill>
                <a:latin typeface="Arial"/>
                <a:cs typeface="Arial"/>
              </a:rPr>
              <a:t>Ce qu'on livre</a:t>
            </a:r>
            <a:endParaRPr lang="fr-FR" sz="1250" dirty="0"/>
          </a:p>
          <a:p>
            <a:pPr marL="171450" indent="-171450" algn="l">
              <a:spcAft>
                <a:spcPts val="400"/>
              </a:spcAft>
              <a:buFont typeface="Arial"/>
              <a:buChar char="•"/>
            </a:pPr>
            <a:r>
              <a:rPr lang="fr-FR" sz="1100" b="1" dirty="0">
                <a:solidFill>
                  <a:srgbClr val="333333"/>
                </a:solidFill>
                <a:latin typeface="Arial"/>
                <a:cs typeface="Arial"/>
              </a:rPr>
              <a:t>Localisé : </a:t>
            </a:r>
            <a:r>
              <a:rPr lang="fr-FR" sz="1100" dirty="0">
                <a:solidFill>
                  <a:srgbClr val="5D5D5D"/>
                </a:solidFill>
                <a:latin typeface="Calibri"/>
                <a:cs typeface="Calibri"/>
              </a:rPr>
              <a:t>un point en Lambert-93</a:t>
            </a:r>
            <a:endParaRPr lang="fr-FR" sz="1100" dirty="0"/>
          </a:p>
          <a:p>
            <a:pPr marL="171450" indent="-171450" algn="l">
              <a:spcAft>
                <a:spcPts val="400"/>
              </a:spcAft>
              <a:buFont typeface="Arial"/>
              <a:buChar char="•"/>
            </a:pPr>
            <a:r>
              <a:rPr lang="fr-FR" sz="1100" b="1" dirty="0">
                <a:solidFill>
                  <a:srgbClr val="333333"/>
                </a:solidFill>
                <a:latin typeface="Arial"/>
                <a:cs typeface="Arial"/>
              </a:rPr>
              <a:t>Mesuré : </a:t>
            </a:r>
            <a:r>
              <a:rPr lang="fr-FR" sz="1100" dirty="0">
                <a:solidFill>
                  <a:srgbClr val="5D5D5D"/>
                </a:solidFill>
                <a:latin typeface="Calibri"/>
                <a:cs typeface="Calibri"/>
              </a:rPr>
              <a:t>son contour, ses dimensions</a:t>
            </a:r>
            <a:endParaRPr lang="fr-FR" sz="1100" dirty="0"/>
          </a:p>
          <a:p>
            <a:pPr marL="171450" indent="-171450" algn="l">
              <a:spcAft>
                <a:spcPts val="400"/>
              </a:spcAft>
              <a:buFont typeface="Arial"/>
              <a:buChar char="•"/>
            </a:pPr>
            <a:r>
              <a:rPr lang="fr-FR" sz="1100" b="1" dirty="0">
                <a:solidFill>
                  <a:srgbClr val="333333"/>
                </a:solidFill>
                <a:latin typeface="Arial"/>
                <a:cs typeface="Arial"/>
              </a:rPr>
              <a:t>Qualifié : </a:t>
            </a:r>
            <a:r>
              <a:rPr lang="fr-FR" sz="1100" dirty="0">
                <a:solidFill>
                  <a:srgbClr val="5D5D5D"/>
                </a:solidFill>
                <a:latin typeface="Calibri"/>
                <a:cs typeface="Calibri"/>
              </a:rPr>
              <a:t>un score, une alerte</a:t>
            </a:r>
            <a:endParaRPr lang="fr-FR" sz="1100" dirty="0"/>
          </a:p>
          <a:p>
            <a:pPr marL="171450" indent="-171450" algn="l">
              <a:spcAft>
                <a:spcPts val="400"/>
              </a:spcAft>
              <a:buFont typeface="Arial"/>
              <a:buChar char="•"/>
            </a:pPr>
            <a:r>
              <a:rPr lang="fr-FR" sz="1100" b="1" dirty="0">
                <a:solidFill>
                  <a:srgbClr val="333333"/>
                </a:solidFill>
                <a:latin typeface="Arial"/>
                <a:cs typeface="Arial"/>
              </a:rPr>
              <a:t>Consultable : </a:t>
            </a:r>
            <a:r>
              <a:rPr lang="fr-FR" sz="1100" dirty="0">
                <a:solidFill>
                  <a:srgbClr val="5D5D5D"/>
                </a:solidFill>
                <a:latin typeface="Calibri"/>
                <a:cs typeface="Calibri"/>
              </a:rPr>
              <a:t>tableau de bord, filtres communes et quartier</a:t>
            </a:r>
            <a:endParaRPr lang="fr-FR" sz="1100" dirty="0"/>
          </a:p>
        </p:txBody>
      </p:sp>
      <p:sp>
        <p:nvSpPr>
          <p:cNvPr id="10" name="Shape 10"/>
          <p:cNvSpPr txBox="1"/>
          <p:nvPr/>
        </p:nvSpPr>
        <p:spPr>
          <a:xfrm>
            <a:off x="5120640" y="4315968"/>
            <a:ext cx="3017520" cy="365760"/>
          </a:xfrm>
          <a:prstGeom prst="rect">
            <a:avLst/>
          </a:prstGeom>
          <a:noFill/>
          <a:ln>
            <a:noFill/>
          </a:ln>
        </p:spPr>
        <p:txBody>
          <a:bodyPr wrap="square" lIns="0" tIns="0" rIns="0" bIns="0" rtlCol="0" anchor="t">
            <a:noAutofit/>
          </a:bodyPr>
          <a:lstStyle/>
          <a:p>
            <a:pPr marL="0" indent="0" algn="ctr">
              <a:buNone/>
            </a:pPr>
            <a:r>
              <a:rPr lang="fr-FR" sz="950" i="1" dirty="0">
                <a:solidFill>
                  <a:srgbClr val="5D5D5D"/>
                </a:solidFill>
                <a:latin typeface="Calibri"/>
                <a:cs typeface="Calibri"/>
              </a:rPr>
              <a:t>Extrait de la liste réelle : identifiant, quartier, alerte, score, surface</a:t>
            </a:r>
            <a:endParaRPr lang="fr-FR" sz="950" dirty="0"/>
          </a:p>
        </p:txBody>
      </p:sp>
      <p:pic>
        <p:nvPicPr>
          <p:cNvPr id="900" name="Image 10" descr="livrable_dashboard_quartier_bellevue.png"/>
          <p:cNvPicPr>
            <a:picLocks noChangeAspect="1"/>
          </p:cNvPicPr>
          <p:nvPr/>
        </p:nvPicPr>
        <p:blipFill>
          <a:blip r:embed="rId4"/>
          <a:srcRect l="75000" t="46619" r="700" b="19"/>
          <a:stretch>
            <a:fillRect/>
          </a:stretch>
        </p:blipFill>
        <p:spPr>
          <a:xfrm>
            <a:off x="5257800" y="1234440"/>
            <a:ext cx="2743200" cy="30540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NOTRE RÈGLE</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La méthode la plus légère qui suffit</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5</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2"/>
          <p:cNvSpPr/>
          <p:nvPr/>
        </p:nvSpPr>
        <p:spPr>
          <a:xfrm>
            <a:off x="457200" y="1188720"/>
            <a:ext cx="2286000" cy="1627632"/>
          </a:xfrm>
          <a:prstGeom prst="rect">
            <a:avLst/>
          </a:prstGeom>
          <a:solidFill>
            <a:srgbClr val="F0F0F0"/>
          </a:solidFill>
          <a:ln w="12700">
            <a:solidFill>
              <a:srgbClr val="A5ACB0"/>
            </a:solidFill>
            <a:prstDash val="dash"/>
          </a:ln>
        </p:spPr>
        <p:txBody>
          <a:bodyPr wrap="square" lIns="118872" tIns="73152" rIns="100584" bIns="54864" rtlCol="0" anchor="t">
            <a:noAutofit/>
          </a:bodyPr>
          <a:lstStyle/>
          <a:p>
            <a:pPr marL="0" indent="0" algn="l">
              <a:spcAft>
                <a:spcPts val="100"/>
              </a:spcAft>
              <a:buNone/>
            </a:pPr>
            <a:r>
              <a:rPr lang="fr-FR" sz="850" b="1" dirty="0">
                <a:solidFill>
                  <a:srgbClr val="A5ACB0"/>
                </a:solidFill>
                <a:latin typeface="Arial"/>
                <a:cs typeface="Arial"/>
              </a:rPr>
              <a:t>PRÉALABLE</a:t>
            </a:r>
            <a:endParaRPr lang="fr-FR" sz="850" dirty="0"/>
          </a:p>
          <a:p>
            <a:pPr marL="0" indent="0" algn="l">
              <a:spcAft>
                <a:spcPts val="400"/>
              </a:spcAft>
              <a:buNone/>
            </a:pPr>
            <a:r>
              <a:rPr lang="fr-FR" sz="1200" b="1" dirty="0">
                <a:solidFill>
                  <a:srgbClr val="5D5D5D"/>
                </a:solidFill>
                <a:latin typeface="Arial"/>
                <a:cs typeface="Arial"/>
              </a:rPr>
              <a:t>Règles SIG</a:t>
            </a:r>
            <a:endParaRPr lang="fr-FR" sz="1200" dirty="0"/>
          </a:p>
          <a:p>
            <a:pPr marL="171450" indent="-171450" algn="l">
              <a:spcAft>
                <a:spcPts val="400"/>
              </a:spcAft>
              <a:buFont typeface="Arial"/>
              <a:buChar char="•"/>
            </a:pPr>
            <a:r>
              <a:rPr lang="fr-FR" sz="950" dirty="0">
                <a:solidFill>
                  <a:srgbClr val="5D5D5D"/>
                </a:solidFill>
                <a:latin typeface="Calibri"/>
                <a:cs typeface="Calibri"/>
              </a:rPr>
              <a:t>Déduire les passages d'une donnée existante</a:t>
            </a:r>
            <a:endParaRPr lang="fr-FR" sz="950" dirty="0"/>
          </a:p>
          <a:p>
            <a:pPr marL="0" indent="0" algn="l">
              <a:buNone/>
            </a:pPr>
            <a:r>
              <a:rPr lang="fr-FR" sz="950" dirty="0">
                <a:solidFill>
                  <a:srgbClr val="A5ACB0"/>
                </a:solidFill>
                <a:latin typeface="Calibri"/>
                <a:cs typeface="Calibri"/>
              </a:rPr>
              <a:t>Non concerné ici : aucune donnée existante ne contient les passages</a:t>
            </a:r>
            <a:endParaRPr lang="fr-FR" sz="950" dirty="0"/>
          </a:p>
        </p:txBody>
      </p:sp>
      <p:sp>
        <p:nvSpPr>
          <p:cNvPr id="10" name="Shape 10"/>
          <p:cNvSpPr/>
          <p:nvPr/>
        </p:nvSpPr>
        <p:spPr>
          <a:xfrm>
            <a:off x="3246120" y="1188720"/>
            <a:ext cx="2286000" cy="1627632"/>
          </a:xfrm>
          <a:prstGeom prst="rect">
            <a:avLst/>
          </a:prstGeom>
          <a:solidFill>
            <a:srgbClr val="E0F3FB"/>
          </a:solidFill>
          <a:ln>
            <a:noFill/>
          </a:ln>
        </p:spPr>
        <p:txBody>
          <a:bodyPr wrap="square" lIns="118872" tIns="73152" rIns="100584" bIns="54864" rtlCol="0" anchor="t">
            <a:noAutofit/>
          </a:bodyPr>
          <a:lstStyle/>
          <a:p>
            <a:pPr marL="0" indent="0" algn="l">
              <a:spcAft>
                <a:spcPts val="100"/>
              </a:spcAft>
              <a:buNone/>
            </a:pPr>
            <a:r>
              <a:rPr lang="fr-FR" sz="850" b="1" dirty="0">
                <a:solidFill>
                  <a:srgbClr val="009FE3"/>
                </a:solidFill>
                <a:latin typeface="Arial"/>
                <a:cs typeface="Arial"/>
              </a:rPr>
              <a:t>NIVEAU 1</a:t>
            </a:r>
            <a:endParaRPr lang="fr-FR" sz="850" dirty="0"/>
          </a:p>
          <a:p>
            <a:pPr marL="0" indent="0" algn="l">
              <a:spcAft>
                <a:spcPts val="400"/>
              </a:spcAft>
              <a:buNone/>
            </a:pPr>
            <a:r>
              <a:rPr lang="fr-FR" sz="1200" b="1" dirty="0">
                <a:solidFill>
                  <a:srgbClr val="333333"/>
                </a:solidFill>
                <a:latin typeface="Arial"/>
                <a:cs typeface="Arial"/>
              </a:rPr>
              <a:t>SAM 3 sur des échantillons, vérifié à l'œil</a:t>
            </a:r>
            <a:endParaRPr lang="fr-FR" sz="1200" dirty="0"/>
          </a:p>
          <a:p>
            <a:pPr marL="171450" indent="-171450" algn="l">
              <a:buFont typeface="Arial"/>
              <a:buChar char="•"/>
            </a:pPr>
            <a:r>
              <a:rPr lang="fr-FR" sz="950" dirty="0">
                <a:solidFill>
                  <a:srgbClr val="5D5D5D"/>
                </a:solidFill>
                <a:latin typeface="Calibri"/>
                <a:cs typeface="Calibri"/>
              </a:rPr>
              <a:t>Modèle prêt à l'emploi dans ArcGIS Pro</a:t>
            </a:r>
            <a:endParaRPr lang="fr-FR" sz="950" dirty="0"/>
          </a:p>
          <a:p>
            <a:pPr marL="171450" indent="-171450" algn="l">
              <a:buFont typeface="Arial"/>
              <a:buChar char="•"/>
            </a:pPr>
            <a:r>
              <a:rPr lang="fr-FR" sz="950" dirty="0">
                <a:solidFill>
                  <a:srgbClr val="5D5D5D"/>
                </a:solidFill>
                <a:latin typeface="Calibri"/>
                <a:cs typeface="Calibri"/>
              </a:rPr>
              <a:t>Une consigne en texte</a:t>
            </a:r>
            <a:endParaRPr lang="fr-FR" sz="950" dirty="0"/>
          </a:p>
          <a:p>
            <a:pPr marL="171450" indent="-171450" algn="l">
              <a:buFont typeface="Arial"/>
              <a:buChar char="•"/>
            </a:pPr>
            <a:r>
              <a:rPr lang="fr-FR" sz="950" dirty="0">
                <a:solidFill>
                  <a:srgbClr val="5D5D5D"/>
                </a:solidFill>
                <a:latin typeface="Calibri"/>
                <a:cs typeface="Calibri"/>
              </a:rPr>
              <a:t>Contrôle visuel</a:t>
            </a:r>
            <a:endParaRPr lang="fr-FR" sz="950" dirty="0"/>
          </a:p>
          <a:p>
            <a:pPr marL="0" indent="0" algn="l">
              <a:spcBef>
                <a:spcPts val="300"/>
              </a:spcBef>
              <a:buNone/>
            </a:pPr>
            <a:r>
              <a:rPr lang="fr-FR" sz="950" b="1" dirty="0">
                <a:solidFill>
                  <a:srgbClr val="009FE3"/>
                </a:solidFill>
                <a:latin typeface="Arial"/>
                <a:cs typeface="Arial"/>
              </a:rPr>
              <a:t>Effort moyen</a:t>
            </a:r>
            <a:endParaRPr lang="fr-FR" sz="950" dirty="0"/>
          </a:p>
        </p:txBody>
      </p:sp>
      <p:sp>
        <p:nvSpPr>
          <p:cNvPr id="11" name="Shape 11"/>
          <p:cNvSpPr/>
          <p:nvPr/>
        </p:nvSpPr>
        <p:spPr>
          <a:xfrm>
            <a:off x="6035040" y="1188720"/>
            <a:ext cx="2651760" cy="1627632"/>
          </a:xfrm>
          <a:prstGeom prst="rect">
            <a:avLst/>
          </a:prstGeom>
          <a:solidFill>
            <a:srgbClr val="009FE3"/>
          </a:solidFill>
          <a:ln>
            <a:noFill/>
          </a:ln>
        </p:spPr>
        <p:txBody>
          <a:bodyPr wrap="square" lIns="118872" tIns="73152" rIns="100584" bIns="54864" rtlCol="0" anchor="t">
            <a:noAutofit/>
          </a:bodyPr>
          <a:lstStyle/>
          <a:p>
            <a:pPr marL="0" indent="0" algn="l">
              <a:spcAft>
                <a:spcPts val="100"/>
              </a:spcAft>
              <a:buNone/>
            </a:pPr>
            <a:r>
              <a:rPr lang="fr-FR" sz="850" b="1" dirty="0">
                <a:solidFill>
                  <a:srgbClr val="FFFFFF"/>
                </a:solidFill>
                <a:latin typeface="Arial"/>
                <a:cs typeface="Arial"/>
              </a:rPr>
              <a:t>NIVEAU 2</a:t>
            </a:r>
            <a:endParaRPr lang="fr-FR" sz="850" dirty="0"/>
          </a:p>
          <a:p>
            <a:pPr marL="0" indent="0" algn="l">
              <a:spcAft>
                <a:spcPts val="400"/>
              </a:spcAft>
              <a:buNone/>
            </a:pPr>
            <a:r>
              <a:rPr lang="fr-FR" sz="1200" b="1" dirty="0">
                <a:solidFill>
                  <a:srgbClr val="FFFFFF"/>
                </a:solidFill>
                <a:latin typeface="Arial"/>
                <a:cs typeface="Arial"/>
              </a:rPr>
              <a:t>Échantillon corrigé, puis entraînement</a:t>
            </a:r>
            <a:endParaRPr lang="fr-FR" sz="1200" dirty="0"/>
          </a:p>
          <a:p>
            <a:pPr marL="171450" indent="-171450" algn="l">
              <a:buFont typeface="Arial"/>
              <a:buChar char="•"/>
            </a:pPr>
            <a:r>
              <a:rPr lang="fr-FR" sz="950" dirty="0">
                <a:solidFill>
                  <a:srgbClr val="FFFFFF"/>
                </a:solidFill>
                <a:latin typeface="Calibri"/>
                <a:cs typeface="Calibri"/>
              </a:rPr>
              <a:t>Corriger les propositions de SAM 3</a:t>
            </a:r>
            <a:endParaRPr lang="fr-FR" sz="950" dirty="0"/>
          </a:p>
          <a:p>
            <a:pPr marL="171450" indent="-171450" algn="l">
              <a:buFont typeface="Arial"/>
              <a:buChar char="•"/>
            </a:pPr>
            <a:r>
              <a:rPr lang="fr-FR" sz="950" dirty="0">
                <a:solidFill>
                  <a:srgbClr val="FFFFFF"/>
                </a:solidFill>
                <a:latin typeface="Calibri"/>
                <a:cs typeface="Calibri"/>
              </a:rPr>
              <a:t>Entraîner un modèle</a:t>
            </a:r>
            <a:endParaRPr lang="fr-FR" sz="950" dirty="0"/>
          </a:p>
          <a:p>
            <a:pPr marL="171450" indent="-171450" algn="l">
              <a:buFont typeface="Arial"/>
              <a:buChar char="•"/>
            </a:pPr>
            <a:r>
              <a:rPr lang="fr-FR" sz="950" dirty="0">
                <a:solidFill>
                  <a:srgbClr val="FFFFFF"/>
                </a:solidFill>
                <a:latin typeface="Calibri"/>
                <a:cs typeface="Calibri"/>
              </a:rPr>
              <a:t>Le tester sur un quartier jamais vu</a:t>
            </a:r>
            <a:endParaRPr lang="fr-FR" sz="950" dirty="0"/>
          </a:p>
          <a:p>
            <a:pPr marL="0" indent="0" algn="l">
              <a:spcBef>
                <a:spcPts val="300"/>
              </a:spcBef>
              <a:buNone/>
            </a:pPr>
            <a:r>
              <a:rPr lang="fr-FR" sz="950" b="1" dirty="0">
                <a:solidFill>
                  <a:srgbClr val="FFFFFF"/>
                </a:solidFill>
                <a:latin typeface="Arial"/>
                <a:cs typeface="Arial"/>
              </a:rPr>
              <a:t>Effort élevé</a:t>
            </a:r>
            <a:endParaRPr lang="fr-FR" sz="950" dirty="0"/>
          </a:p>
        </p:txBody>
      </p:sp>
      <p:cxnSp>
        <p:nvCxnSpPr>
          <p:cNvPr id="12" name="Flèche 12"/>
          <p:cNvCxnSpPr/>
          <p:nvPr/>
        </p:nvCxnSpPr>
        <p:spPr>
          <a:xfrm>
            <a:off x="2761488" y="2011680"/>
            <a:ext cx="457200" cy="0"/>
          </a:xfrm>
          <a:prstGeom prst="straightConnector1">
            <a:avLst/>
          </a:prstGeom>
          <a:ln w="28575">
            <a:solidFill>
              <a:srgbClr val="009FE3"/>
            </a:solidFill>
            <a:tailEnd type="triangle" w="med" len="med"/>
          </a:ln>
        </p:spPr>
      </p:cxnSp>
      <p:sp>
        <p:nvSpPr>
          <p:cNvPr id="13" name="Shape 2"/>
          <p:cNvSpPr txBox="1"/>
          <p:nvPr/>
        </p:nvSpPr>
        <p:spPr>
          <a:xfrm>
            <a:off x="2670048" y="1609344"/>
            <a:ext cx="640080" cy="329184"/>
          </a:xfrm>
          <a:prstGeom prst="rect">
            <a:avLst/>
          </a:prstGeom>
          <a:noFill/>
          <a:ln>
            <a:noFill/>
          </a:ln>
        </p:spPr>
        <p:txBody>
          <a:bodyPr wrap="square" lIns="0" tIns="0" rIns="0" bIns="0" rtlCol="0" anchor="t">
            <a:noAutofit/>
          </a:bodyPr>
          <a:lstStyle/>
          <a:p>
            <a:pPr marL="0" indent="0" algn="ctr">
              <a:buNone/>
            </a:pPr>
            <a:r>
              <a:rPr lang="fr-FR" sz="850" b="1" dirty="0">
                <a:solidFill>
                  <a:srgbClr val="009FE3"/>
                </a:solidFill>
                <a:latin typeface="Arial"/>
                <a:cs typeface="Arial"/>
              </a:rPr>
              <a:t>non</a:t>
            </a:r>
            <a:endParaRPr lang="fr-FR" sz="850" dirty="0"/>
          </a:p>
          <a:p>
            <a:pPr marL="0" indent="0" algn="ctr">
              <a:buNone/>
            </a:pPr>
            <a:r>
              <a:rPr lang="fr-FR" sz="850" b="1" dirty="0">
                <a:solidFill>
                  <a:srgbClr val="009FE3"/>
                </a:solidFill>
                <a:latin typeface="Arial"/>
                <a:cs typeface="Arial"/>
              </a:rPr>
              <a:t>concerné</a:t>
            </a:r>
            <a:endParaRPr lang="fr-FR" sz="850" dirty="0"/>
          </a:p>
        </p:txBody>
      </p:sp>
      <p:cxnSp>
        <p:nvCxnSpPr>
          <p:cNvPr id="14" name="Flèche 14"/>
          <p:cNvCxnSpPr/>
          <p:nvPr/>
        </p:nvCxnSpPr>
        <p:spPr>
          <a:xfrm>
            <a:off x="5550408" y="2011680"/>
            <a:ext cx="457200" cy="0"/>
          </a:xfrm>
          <a:prstGeom prst="straightConnector1">
            <a:avLst/>
          </a:prstGeom>
          <a:ln w="28575">
            <a:solidFill>
              <a:srgbClr val="009FE3"/>
            </a:solidFill>
            <a:tailEnd type="triangle" w="med" len="med"/>
          </a:ln>
        </p:spPr>
      </p:cxnSp>
      <p:sp>
        <p:nvSpPr>
          <p:cNvPr id="15" name="Shape 15"/>
          <p:cNvSpPr txBox="1"/>
          <p:nvPr/>
        </p:nvSpPr>
        <p:spPr>
          <a:xfrm>
            <a:off x="5458968" y="1700784"/>
            <a:ext cx="640080" cy="228600"/>
          </a:xfrm>
          <a:prstGeom prst="rect">
            <a:avLst/>
          </a:prstGeom>
          <a:noFill/>
          <a:ln>
            <a:noFill/>
          </a:ln>
        </p:spPr>
        <p:txBody>
          <a:bodyPr wrap="square" lIns="0" tIns="0" rIns="0" bIns="0" rtlCol="0" anchor="t">
            <a:noAutofit/>
          </a:bodyPr>
          <a:lstStyle/>
          <a:p>
            <a:pPr marL="0" indent="0" algn="ctr">
              <a:buNone/>
            </a:pPr>
            <a:r>
              <a:rPr lang="fr-FR" sz="950" b="1" dirty="0">
                <a:solidFill>
                  <a:srgbClr val="009FE3"/>
                </a:solidFill>
                <a:latin typeface="Arial"/>
                <a:cs typeface="Arial"/>
              </a:rPr>
              <a:t>non</a:t>
            </a:r>
            <a:endParaRPr lang="fr-FR" sz="950" dirty="0"/>
          </a:p>
        </p:txBody>
      </p:sp>
      <p:sp>
        <p:nvSpPr>
          <p:cNvPr id="16" name="Shape 16"/>
          <p:cNvSpPr/>
          <p:nvPr/>
        </p:nvSpPr>
        <p:spPr>
          <a:xfrm>
            <a:off x="457200" y="2907792"/>
            <a:ext cx="8229600" cy="566928"/>
          </a:xfrm>
          <a:prstGeom prst="rect">
            <a:avLst/>
          </a:prstGeom>
          <a:solidFill>
            <a:srgbClr val="FFFFFF"/>
          </a:solidFill>
          <a:ln w="15875">
            <a:solidFill>
              <a:srgbClr val="009FE3"/>
            </a:solidFill>
          </a:ln>
        </p:spPr>
        <p:txBody>
          <a:bodyPr wrap="square" lIns="146304" tIns="36576" rIns="146304" bIns="36576" rtlCol="0" anchor="ctr">
            <a:noAutofit/>
          </a:bodyPr>
          <a:lstStyle/>
          <a:p>
            <a:pPr marL="0" indent="0" algn="l">
              <a:spcAft>
                <a:spcPts val="100"/>
              </a:spcAft>
              <a:buNone/>
            </a:pPr>
            <a:r>
              <a:rPr lang="fr-FR" sz="1200" b="1" dirty="0">
                <a:solidFill>
                  <a:srgbClr val="333333"/>
                </a:solidFill>
                <a:latin typeface="Arial"/>
                <a:cs typeface="Arial"/>
              </a:rPr>
              <a:t>À chaque étage : </a:t>
            </a:r>
            <a:r>
              <a:rPr lang="fr-FR" sz="1200" b="1" dirty="0">
                <a:solidFill>
                  <a:srgbClr val="009FE3"/>
                </a:solidFill>
                <a:latin typeface="Arial"/>
                <a:cs typeface="Arial"/>
              </a:rPr>
              <a:t>avec un post-traitement, la donnée est-elle correcte ?</a:t>
            </a:r>
            <a:endParaRPr lang="fr-FR" sz="1200" dirty="0"/>
          </a:p>
          <a:p>
            <a:pPr marL="0" indent="0" algn="l">
              <a:buNone/>
            </a:pPr>
            <a:r>
              <a:rPr lang="fr-FR" sz="1050" dirty="0">
                <a:solidFill>
                  <a:srgbClr val="5D5D5D"/>
                </a:solidFill>
                <a:latin typeface="Calibri"/>
                <a:cs typeface="Calibri"/>
              </a:rPr>
              <a:t>Si oui, on s'arrête. Sinon, on monte d'un étage. On n'entraîne un modèle que si on n'a pas le choix.</a:t>
            </a:r>
            <a:endParaRPr lang="fr-FR" sz="1050" dirty="0"/>
          </a:p>
        </p:txBody>
      </p:sp>
      <p:sp>
        <p:nvSpPr>
          <p:cNvPr id="17" name="Shape 17"/>
          <p:cNvSpPr txBox="1"/>
          <p:nvPr/>
        </p:nvSpPr>
        <p:spPr>
          <a:xfrm>
            <a:off x="457200" y="3566160"/>
            <a:ext cx="8229600" cy="219456"/>
          </a:xfrm>
          <a:prstGeom prst="rect">
            <a:avLst/>
          </a:prstGeom>
          <a:noFill/>
          <a:ln>
            <a:noFill/>
          </a:ln>
        </p:spPr>
        <p:txBody>
          <a:bodyPr wrap="square" lIns="0" tIns="0" rIns="0" bIns="0" rtlCol="0" anchor="ctr">
            <a:noAutofit/>
          </a:bodyPr>
          <a:lstStyle/>
          <a:p>
            <a:pPr marL="0" indent="0" algn="l">
              <a:buNone/>
            </a:pPr>
            <a:r>
              <a:rPr lang="fr-FR" sz="1050" b="1" dirty="0">
                <a:solidFill>
                  <a:srgbClr val="009FE3"/>
                </a:solidFill>
                <a:latin typeface="Arial"/>
                <a:cs typeface="Arial"/>
              </a:rPr>
              <a:t>Ce que dit notre charte IA</a:t>
            </a:r>
            <a:endParaRPr lang="fr-FR" sz="1050" dirty="0"/>
          </a:p>
        </p:txBody>
      </p:sp>
      <p:sp>
        <p:nvSpPr>
          <p:cNvPr id="18" name="Shape 18"/>
          <p:cNvSpPr/>
          <p:nvPr/>
        </p:nvSpPr>
        <p:spPr>
          <a:xfrm>
            <a:off x="457200" y="3813048"/>
            <a:ext cx="1572768" cy="886968"/>
          </a:xfrm>
          <a:prstGeom prst="rect">
            <a:avLst/>
          </a:prstGeom>
          <a:solidFill>
            <a:srgbClr val="F0F0F0"/>
          </a:solidFill>
          <a:ln>
            <a:noFill/>
          </a:ln>
        </p:spPr>
        <p:txBody>
          <a:bodyPr wrap="square" lIns="91440" tIns="54864" rIns="73152" bIns="36576" rtlCol="0" anchor="t">
            <a:noAutofit/>
          </a:bodyPr>
          <a:lstStyle/>
          <a:p>
            <a:pPr marL="0" indent="0" algn="l">
              <a:spcAft>
                <a:spcPts val="200"/>
              </a:spcAft>
              <a:buNone/>
            </a:pPr>
            <a:r>
              <a:rPr lang="fr-FR" sz="950" b="1" dirty="0">
                <a:solidFill>
                  <a:srgbClr val="333333"/>
                </a:solidFill>
                <a:latin typeface="Arial"/>
                <a:cs typeface="Arial"/>
              </a:rPr>
              <a:t>Sobriété</a:t>
            </a:r>
            <a:endParaRPr lang="fr-FR" sz="950" dirty="0"/>
          </a:p>
          <a:p>
            <a:pPr marL="0" indent="0" algn="l">
              <a:buNone/>
            </a:pPr>
            <a:r>
              <a:rPr lang="fr-FR" sz="900" dirty="0">
                <a:solidFill>
                  <a:srgbClr val="5D5D5D"/>
                </a:solidFill>
                <a:latin typeface="Calibri"/>
                <a:cs typeface="Calibri"/>
              </a:rPr>
              <a:t>On s'arrête au niveau le plus léger qui suffit</a:t>
            </a:r>
            <a:endParaRPr lang="fr-FR" sz="900" dirty="0"/>
          </a:p>
        </p:txBody>
      </p:sp>
      <p:sp>
        <p:nvSpPr>
          <p:cNvPr id="19" name="Shape 19"/>
          <p:cNvSpPr/>
          <p:nvPr/>
        </p:nvSpPr>
        <p:spPr>
          <a:xfrm>
            <a:off x="2121408" y="3813048"/>
            <a:ext cx="1572768" cy="886968"/>
          </a:xfrm>
          <a:prstGeom prst="rect">
            <a:avLst/>
          </a:prstGeom>
          <a:solidFill>
            <a:srgbClr val="F0F0F0"/>
          </a:solidFill>
          <a:ln>
            <a:noFill/>
          </a:ln>
        </p:spPr>
        <p:txBody>
          <a:bodyPr wrap="square" lIns="91440" tIns="54864" rIns="73152" bIns="36576" rtlCol="0" anchor="t">
            <a:noAutofit/>
          </a:bodyPr>
          <a:lstStyle/>
          <a:p>
            <a:pPr marL="0" indent="0" algn="l">
              <a:spcAft>
                <a:spcPts val="200"/>
              </a:spcAft>
              <a:buNone/>
            </a:pPr>
            <a:r>
              <a:rPr lang="fr-FR" sz="950" b="1" dirty="0">
                <a:solidFill>
                  <a:srgbClr val="333333"/>
                </a:solidFill>
                <a:latin typeface="Arial"/>
                <a:cs typeface="Arial"/>
              </a:rPr>
              <a:t>L'humain au cœur</a:t>
            </a:r>
            <a:endParaRPr lang="fr-FR" sz="950" dirty="0"/>
          </a:p>
          <a:p>
            <a:pPr marL="0" indent="0" algn="l">
              <a:buNone/>
            </a:pPr>
            <a:r>
              <a:rPr lang="fr-FR" sz="900" dirty="0">
                <a:solidFill>
                  <a:srgbClr val="5D5D5D"/>
                </a:solidFill>
                <a:latin typeface="Calibri"/>
                <a:cs typeface="Calibri"/>
              </a:rPr>
              <a:t>Tout est livré « à valider », les alertes guident la revue</a:t>
            </a:r>
            <a:endParaRPr lang="fr-FR" sz="900" dirty="0"/>
          </a:p>
        </p:txBody>
      </p:sp>
      <p:sp>
        <p:nvSpPr>
          <p:cNvPr id="20" name="Shape 20"/>
          <p:cNvSpPr/>
          <p:nvPr/>
        </p:nvSpPr>
        <p:spPr>
          <a:xfrm>
            <a:off x="3785616" y="3813048"/>
            <a:ext cx="1572768" cy="886968"/>
          </a:xfrm>
          <a:prstGeom prst="rect">
            <a:avLst/>
          </a:prstGeom>
          <a:solidFill>
            <a:srgbClr val="F0F0F0"/>
          </a:solidFill>
          <a:ln>
            <a:noFill/>
          </a:ln>
        </p:spPr>
        <p:txBody>
          <a:bodyPr wrap="square" lIns="91440" tIns="54864" rIns="73152" bIns="36576" rtlCol="0" anchor="t">
            <a:noAutofit/>
          </a:bodyPr>
          <a:lstStyle/>
          <a:p>
            <a:pPr marL="0" indent="0" algn="l">
              <a:spcAft>
                <a:spcPts val="200"/>
              </a:spcAft>
              <a:buNone/>
            </a:pPr>
            <a:r>
              <a:rPr lang="fr-FR" sz="950" b="1" dirty="0">
                <a:solidFill>
                  <a:srgbClr val="333333"/>
                </a:solidFill>
                <a:latin typeface="Arial"/>
                <a:cs typeface="Arial"/>
              </a:rPr>
              <a:t>Transparence</a:t>
            </a:r>
            <a:endParaRPr lang="fr-FR" sz="950" dirty="0"/>
          </a:p>
          <a:p>
            <a:pPr marL="0" indent="0" algn="l">
              <a:buNone/>
            </a:pPr>
            <a:r>
              <a:rPr lang="fr-FR" sz="900" dirty="0">
                <a:solidFill>
                  <a:srgbClr val="5D5D5D"/>
                </a:solidFill>
                <a:latin typeface="Calibri"/>
                <a:cs typeface="Calibri"/>
              </a:rPr>
              <a:t>Méthode, mesures et limites documentées</a:t>
            </a:r>
            <a:endParaRPr lang="fr-FR" sz="900" dirty="0"/>
          </a:p>
        </p:txBody>
      </p:sp>
      <p:sp>
        <p:nvSpPr>
          <p:cNvPr id="21" name="Shape 21"/>
          <p:cNvSpPr/>
          <p:nvPr/>
        </p:nvSpPr>
        <p:spPr>
          <a:xfrm>
            <a:off x="5449824" y="3813048"/>
            <a:ext cx="1572768" cy="886968"/>
          </a:xfrm>
          <a:prstGeom prst="rect">
            <a:avLst/>
          </a:prstGeom>
          <a:solidFill>
            <a:srgbClr val="F0F0F0"/>
          </a:solidFill>
          <a:ln>
            <a:noFill/>
          </a:ln>
        </p:spPr>
        <p:txBody>
          <a:bodyPr wrap="square" lIns="91440" tIns="54864" rIns="73152" bIns="36576" rtlCol="0" anchor="t">
            <a:noAutofit/>
          </a:bodyPr>
          <a:lstStyle/>
          <a:p>
            <a:pPr marL="0" indent="0" algn="l">
              <a:spcAft>
                <a:spcPts val="200"/>
              </a:spcAft>
              <a:buNone/>
            </a:pPr>
            <a:r>
              <a:rPr lang="fr-FR" sz="950" b="1" dirty="0">
                <a:solidFill>
                  <a:srgbClr val="333333"/>
                </a:solidFill>
                <a:latin typeface="Arial"/>
                <a:cs typeface="Arial"/>
              </a:rPr>
              <a:t>Sécurité et souveraineté</a:t>
            </a:r>
            <a:endParaRPr lang="fr-FR" sz="950" dirty="0"/>
          </a:p>
          <a:p>
            <a:pPr marL="0" indent="0" algn="l">
              <a:buNone/>
            </a:pPr>
            <a:r>
              <a:rPr lang="fr-FR" sz="900" dirty="0">
                <a:solidFill>
                  <a:srgbClr val="5D5D5D"/>
                </a:solidFill>
                <a:latin typeface="Calibri"/>
                <a:cs typeface="Calibri"/>
              </a:rPr>
              <a:t>Données IGN publiques, calcul local</a:t>
            </a:r>
            <a:endParaRPr lang="fr-FR" sz="900" dirty="0"/>
          </a:p>
        </p:txBody>
      </p:sp>
      <p:sp>
        <p:nvSpPr>
          <p:cNvPr id="22" name="Shape 22"/>
          <p:cNvSpPr/>
          <p:nvPr/>
        </p:nvSpPr>
        <p:spPr>
          <a:xfrm>
            <a:off x="7114032" y="3813048"/>
            <a:ext cx="1572768" cy="886968"/>
          </a:xfrm>
          <a:prstGeom prst="rect">
            <a:avLst/>
          </a:prstGeom>
          <a:solidFill>
            <a:srgbClr val="F0F0F0"/>
          </a:solidFill>
          <a:ln>
            <a:noFill/>
          </a:ln>
        </p:spPr>
        <p:txBody>
          <a:bodyPr wrap="square" lIns="91440" tIns="54864" rIns="73152" bIns="36576" rtlCol="0" anchor="t">
            <a:noAutofit/>
          </a:bodyPr>
          <a:lstStyle/>
          <a:p>
            <a:pPr marL="0" indent="0" algn="l">
              <a:spcAft>
                <a:spcPts val="200"/>
              </a:spcAft>
              <a:buNone/>
            </a:pPr>
            <a:r>
              <a:rPr lang="fr-FR" sz="950" b="1" dirty="0">
                <a:solidFill>
                  <a:srgbClr val="333333"/>
                </a:solidFill>
                <a:latin typeface="Arial"/>
                <a:cs typeface="Arial"/>
              </a:rPr>
              <a:t>Responsabilité</a:t>
            </a:r>
            <a:endParaRPr lang="fr-FR" sz="950" dirty="0"/>
          </a:p>
          <a:p>
            <a:pPr marL="0" indent="0" algn="l">
              <a:buNone/>
            </a:pPr>
            <a:r>
              <a:rPr lang="fr-FR" sz="900" dirty="0">
                <a:solidFill>
                  <a:srgbClr val="5D5D5D"/>
                </a:solidFill>
                <a:latin typeface="Calibri"/>
                <a:cs typeface="Calibri"/>
              </a:rPr>
              <a:t>La couche est validée avant tout usage métier</a:t>
            </a:r>
            <a:endParaRPr lang="fr-FR"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NIVEAU 1</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Pas de règle SIG possible, on commence par SAM 3 sur des échantillons</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6</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9"/>
          <p:cNvSpPr/>
          <p:nvPr/>
        </p:nvSpPr>
        <p:spPr>
          <a:xfrm>
            <a:off x="457200" y="1234440"/>
            <a:ext cx="3977640" cy="1338580"/>
          </a:xfrm>
          <a:prstGeom prst="rect">
            <a:avLst/>
          </a:prstGeom>
          <a:solidFill>
            <a:srgbClr val="F0F0F0"/>
          </a:solidFill>
          <a:ln>
            <a:noFill/>
          </a:ln>
        </p:spPr>
        <p:txBody>
          <a:bodyPr wrap="square" lIns="128016" tIns="109728" rIns="128016" bIns="91440" rtlCol="0" anchor="t">
            <a:noAutofit/>
          </a:bodyPr>
          <a:lstStyle/>
          <a:p>
            <a:pPr marL="0" indent="0" algn="l">
              <a:spcAft>
                <a:spcPts val="400"/>
              </a:spcAft>
              <a:buNone/>
            </a:pPr>
            <a:r>
              <a:rPr lang="fr-FR" sz="1250" b="1" dirty="0">
                <a:solidFill>
                  <a:srgbClr val="009FE3"/>
                </a:solidFill>
                <a:latin typeface="Arial"/>
                <a:cs typeface="Arial"/>
              </a:rPr>
              <a:t>Pourquoi pas de règle SIG</a:t>
            </a:r>
            <a:endParaRPr lang="fr-FR" sz="1250" dirty="0"/>
          </a:p>
          <a:p>
            <a:pPr marL="171450" indent="-171450" algn="l">
              <a:spcAft>
                <a:spcPts val="300"/>
              </a:spcAft>
              <a:buFont typeface="Arial"/>
              <a:buChar char="•"/>
            </a:pPr>
            <a:r>
              <a:rPr lang="fr-FR" sz="1100" dirty="0">
                <a:solidFill>
                  <a:srgbClr val="5D5D5D"/>
                </a:solidFill>
                <a:latin typeface="Calibri"/>
                <a:cs typeface="Calibri"/>
              </a:rPr>
              <a:t>Aucune donnée existante ne contient les passages</a:t>
            </a:r>
            <a:endParaRPr lang="fr-FR" sz="1100" dirty="0"/>
          </a:p>
          <a:p>
            <a:pPr marL="171450" indent="-171450" algn="l">
              <a:spcAft>
                <a:spcPts val="300"/>
              </a:spcAft>
              <a:buFont typeface="Arial"/>
              <a:buChar char="•"/>
            </a:pPr>
            <a:r>
              <a:rPr lang="fr-FR" sz="1100" dirty="0">
                <a:solidFill>
                  <a:srgbClr val="5D5D5D"/>
                </a:solidFill>
                <a:latin typeface="Calibri"/>
                <a:cs typeface="Calibri"/>
              </a:rPr>
              <a:t>Une règle transforme une donnée, elle n'en crée pas</a:t>
            </a:r>
            <a:endParaRPr lang="fr-FR" sz="1100" dirty="0"/>
          </a:p>
          <a:p>
            <a:pPr marL="171450" indent="-171450" algn="l">
              <a:spcAft>
                <a:spcPts val="300"/>
              </a:spcAft>
              <a:buFont typeface="Arial"/>
              <a:buChar char="•"/>
            </a:pPr>
            <a:r>
              <a:rPr lang="fr-FR" sz="1100" dirty="0">
                <a:solidFill>
                  <a:srgbClr val="5D5D5D"/>
                </a:solidFill>
                <a:latin typeface="Calibri"/>
                <a:cs typeface="Calibri"/>
              </a:rPr>
              <a:t>Seule l'orthophoto les montre tous</a:t>
            </a:r>
            <a:endParaRPr lang="fr-FR" sz="1100" dirty="0"/>
          </a:p>
        </p:txBody>
      </p:sp>
      <p:sp>
        <p:nvSpPr>
          <p:cNvPr id="10" name="Shape 10"/>
          <p:cNvSpPr/>
          <p:nvPr/>
        </p:nvSpPr>
        <p:spPr>
          <a:xfrm>
            <a:off x="4663440" y="1234440"/>
            <a:ext cx="4023360" cy="1338580"/>
          </a:xfrm>
          <a:prstGeom prst="rect">
            <a:avLst/>
          </a:prstGeom>
          <a:solidFill>
            <a:srgbClr val="F0F0F0"/>
          </a:solidFill>
          <a:ln>
            <a:noFill/>
          </a:ln>
        </p:spPr>
        <p:txBody>
          <a:bodyPr wrap="square" lIns="128016" tIns="109728" rIns="128016" bIns="91440" rtlCol="0" anchor="t">
            <a:noAutofit/>
          </a:bodyPr>
          <a:lstStyle/>
          <a:p>
            <a:pPr marL="0" indent="0" algn="l">
              <a:spcAft>
                <a:spcPts val="400"/>
              </a:spcAft>
              <a:buNone/>
            </a:pPr>
            <a:r>
              <a:rPr lang="fr-FR" sz="1250" b="1" dirty="0">
                <a:solidFill>
                  <a:srgbClr val="009FE3"/>
                </a:solidFill>
                <a:latin typeface="Arial"/>
                <a:cs typeface="Arial"/>
              </a:rPr>
              <a:t>Ce qu'on fait au niveau 1</a:t>
            </a:r>
            <a:endParaRPr lang="fr-FR" sz="1250" dirty="0"/>
          </a:p>
          <a:p>
            <a:pPr marL="171450" indent="-171450" algn="l">
              <a:spcAft>
                <a:spcPts val="300"/>
              </a:spcAft>
              <a:buFont typeface="Arial"/>
              <a:buChar char="•"/>
            </a:pPr>
            <a:r>
              <a:rPr lang="fr-FR" sz="1100" dirty="0">
                <a:solidFill>
                  <a:srgbClr val="5D5D5D"/>
                </a:solidFill>
                <a:latin typeface="Calibri"/>
                <a:cs typeface="Calibri"/>
              </a:rPr>
              <a:t>On choisit quelques quartiers</a:t>
            </a:r>
            <a:endParaRPr lang="fr-FR" sz="1100" dirty="0"/>
          </a:p>
          <a:p>
            <a:pPr marL="171450" indent="-171450" algn="l">
              <a:spcAft>
                <a:spcPts val="300"/>
              </a:spcAft>
              <a:buFont typeface="Arial"/>
              <a:buChar char="•"/>
            </a:pPr>
            <a:r>
              <a:rPr lang="fr-FR" sz="1100" dirty="0">
                <a:solidFill>
                  <a:srgbClr val="5D5D5D"/>
                </a:solidFill>
                <a:latin typeface="Calibri"/>
                <a:cs typeface="Calibri"/>
              </a:rPr>
              <a:t>On lance SAM 3 dans ArcGIS Pro</a:t>
            </a:r>
            <a:endParaRPr lang="fr-FR" sz="1100" dirty="0"/>
          </a:p>
          <a:p>
            <a:pPr marL="171450" indent="-171450" algn="l">
              <a:spcAft>
                <a:spcPts val="300"/>
              </a:spcAft>
              <a:buFont typeface="Arial"/>
              <a:buChar char="•"/>
            </a:pPr>
            <a:r>
              <a:rPr lang="fr-FR" sz="1100" dirty="0">
                <a:solidFill>
                  <a:srgbClr val="5D5D5D"/>
                </a:solidFill>
                <a:latin typeface="Calibri"/>
                <a:cs typeface="Calibri"/>
              </a:rPr>
              <a:t>On vérifie chaque proposition à l'œil</a:t>
            </a:r>
            <a:endParaRPr lang="fr-FR" sz="1100" dirty="0"/>
          </a:p>
          <a:p>
            <a:pPr marL="171450" indent="-171450" algn="l">
              <a:spcAft>
                <a:spcPts val="300"/>
              </a:spcAft>
              <a:buFont typeface="Arial"/>
              <a:buChar char="•"/>
            </a:pPr>
            <a:r>
              <a:rPr lang="fr-FR" sz="1100" dirty="0">
                <a:solidFill>
                  <a:srgbClr val="5D5D5D"/>
                </a:solidFill>
                <a:latin typeface="Calibri"/>
                <a:cs typeface="Calibri"/>
              </a:rPr>
              <a:t>On regarde si un post-traitement suffirait</a:t>
            </a:r>
            <a:endParaRPr lang="fr-FR" sz="1100" dirty="0"/>
          </a:p>
        </p:txBody>
      </p:sp>
      <p:sp>
        <p:nvSpPr>
          <p:cNvPr id="11" name="Shape 11"/>
          <p:cNvSpPr/>
          <p:nvPr/>
        </p:nvSpPr>
        <p:spPr>
          <a:xfrm>
            <a:off x="457200" y="2847340"/>
            <a:ext cx="8229600" cy="1097280"/>
          </a:xfrm>
          <a:prstGeom prst="rect">
            <a:avLst/>
          </a:prstGeom>
          <a:solidFill>
            <a:srgbClr val="F2F8E4"/>
          </a:solidFill>
          <a:ln>
            <a:noFill/>
          </a:ln>
        </p:spPr>
        <p:txBody>
          <a:bodyPr wrap="square" lIns="164592" tIns="73152" rIns="164592" bIns="73152" rtlCol="0" anchor="ctr">
            <a:noAutofit/>
          </a:bodyPr>
          <a:lstStyle/>
          <a:p>
            <a:pPr marL="0" indent="0" algn="l">
              <a:spcAft>
                <a:spcPts val="400"/>
              </a:spcAft>
              <a:buNone/>
            </a:pPr>
            <a:r>
              <a:rPr lang="fr-FR" sz="1300" b="1" dirty="0">
                <a:solidFill>
                  <a:srgbClr val="5E7F0F"/>
                </a:solidFill>
                <a:latin typeface="Arial"/>
                <a:cs typeface="Arial"/>
              </a:rPr>
              <a:t>Sur une autre demande, une règle SIG a suffi</a:t>
            </a:r>
            <a:endParaRPr lang="fr-FR" sz="1300" dirty="0"/>
          </a:p>
          <a:p>
            <a:pPr marL="0" indent="0" algn="l">
              <a:buNone/>
            </a:pPr>
            <a:r>
              <a:rPr lang="fr-FR" sz="1150" dirty="0">
                <a:solidFill>
                  <a:srgbClr val="5D5D5D"/>
                </a:solidFill>
                <a:latin typeface="Calibri"/>
                <a:cs typeface="Calibri"/>
              </a:rPr>
              <a:t>Pour localiser les places publiques à entretenir, une règle appliquée aux données existantes a produit toute la donnée, sans SAM ni modèle. C'est la même logique : on s'arrête dès que ça suffit.</a:t>
            </a:r>
            <a:endParaRPr lang="fr-FR"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NIVEAU 1 · SAM 3</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SAM 3 en zero-shot : il trouve la majorité des passages sans entraînement</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7</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9"/>
          <p:cNvSpPr/>
          <p:nvPr/>
        </p:nvSpPr>
        <p:spPr>
          <a:xfrm>
            <a:off x="457200" y="1234440"/>
            <a:ext cx="4023360" cy="1872996"/>
          </a:xfrm>
          <a:prstGeom prst="rect">
            <a:avLst/>
          </a:prstGeom>
          <a:solidFill>
            <a:srgbClr val="F0F0F0"/>
          </a:solidFill>
          <a:ln>
            <a:noFill/>
          </a:ln>
        </p:spPr>
        <p:txBody>
          <a:bodyPr wrap="square" lIns="128016" tIns="109728" rIns="128016" bIns="91440" rtlCol="0" anchor="t">
            <a:noAutofit/>
          </a:bodyPr>
          <a:lstStyle/>
          <a:p>
            <a:pPr marL="0" indent="0" algn="l">
              <a:spcAft>
                <a:spcPts val="800"/>
              </a:spcAft>
              <a:buNone/>
            </a:pPr>
            <a:r>
              <a:rPr lang="fr-FR" sz="1050" i="1" dirty="0">
                <a:solidFill>
                  <a:srgbClr val="333333"/>
                </a:solidFill>
                <a:latin typeface="Calibri"/>
                <a:cs typeface="Calibri"/>
              </a:rPr>
              <a:t>Zero-shot prompting : on décrit l'objet en texte (« pedestrian crossing »), sans lui montrer un seul exemple.</a:t>
            </a:r>
            <a:endParaRPr lang="fr-FR" sz="1050" dirty="0"/>
          </a:p>
          <a:p>
            <a:pPr marL="0" indent="0" algn="l">
              <a:spcAft>
                <a:spcPts val="400"/>
              </a:spcAft>
              <a:buNone/>
            </a:pPr>
            <a:r>
              <a:rPr lang="fr-FR" sz="1250" b="1" dirty="0">
                <a:solidFill>
                  <a:srgbClr val="009FE3"/>
                </a:solidFill>
                <a:latin typeface="Arial"/>
                <a:cs typeface="Arial"/>
              </a:rPr>
              <a:t>Dans ArcGIS Pro</a:t>
            </a:r>
            <a:endParaRPr lang="fr-FR" sz="1250" dirty="0"/>
          </a:p>
          <a:p>
            <a:pPr marL="171450" indent="-171450" algn="l">
              <a:spcAft>
                <a:spcPts val="300"/>
              </a:spcAft>
              <a:buFont typeface="Arial"/>
              <a:buChar char="•"/>
            </a:pPr>
            <a:r>
              <a:rPr lang="fr-FR" sz="1100" dirty="0">
                <a:solidFill>
                  <a:srgbClr val="5D5D5D"/>
                </a:solidFill>
                <a:latin typeface="Calibri"/>
                <a:cs typeface="Calibri"/>
              </a:rPr>
              <a:t>Outil Detect Objects Using Deep Learning</a:t>
            </a:r>
            <a:endParaRPr lang="fr-FR" sz="1100" dirty="0"/>
          </a:p>
          <a:p>
            <a:pPr marL="171450" indent="-171450" algn="l">
              <a:spcAft>
                <a:spcPts val="300"/>
              </a:spcAft>
              <a:buFont typeface="Arial"/>
              <a:buChar char="•"/>
            </a:pPr>
            <a:r>
              <a:rPr lang="fr-FR" sz="1100" dirty="0">
                <a:solidFill>
                  <a:srgbClr val="5D5D5D"/>
                </a:solidFill>
                <a:latin typeface="Calibri"/>
                <a:cs typeface="Calibri"/>
              </a:rPr>
              <a:t>Modèle SAM3.dlpk</a:t>
            </a:r>
            <a:endParaRPr lang="fr-FR" sz="1100" dirty="0"/>
          </a:p>
          <a:p>
            <a:pPr marL="171450" indent="-171450" algn="l">
              <a:spcAft>
                <a:spcPts val="300"/>
              </a:spcAft>
              <a:buFont typeface="Arial"/>
              <a:buChar char="•"/>
            </a:pPr>
            <a:r>
              <a:rPr lang="fr-FR" sz="1100" dirty="0">
                <a:solidFill>
                  <a:srgbClr val="5D5D5D"/>
                </a:solidFill>
                <a:latin typeface="Calibri"/>
                <a:cs typeface="Calibri"/>
              </a:rPr>
              <a:t>Consigne : « pedestrian crossing »</a:t>
            </a:r>
            <a:endParaRPr lang="fr-FR" sz="1100" dirty="0"/>
          </a:p>
          <a:p>
            <a:pPr marL="171450" indent="-171450" algn="l">
              <a:spcAft>
                <a:spcPts val="300"/>
              </a:spcAft>
              <a:buFont typeface="Arial"/>
              <a:buChar char="•"/>
            </a:pPr>
            <a:r>
              <a:rPr lang="fr-FR" sz="1100" dirty="0">
                <a:solidFill>
                  <a:srgbClr val="5D5D5D"/>
                </a:solidFill>
                <a:latin typeface="Calibri"/>
                <a:cs typeface="Calibri"/>
              </a:rPr>
              <a:t>Polygones en Lambert-93, en 3 minutes sur le premier secteur</a:t>
            </a:r>
            <a:endParaRPr lang="fr-FR" sz="1100" dirty="0"/>
          </a:p>
        </p:txBody>
      </p:sp>
      <p:sp>
        <p:nvSpPr>
          <p:cNvPr id="10" name="Shape 10"/>
          <p:cNvSpPr/>
          <p:nvPr/>
        </p:nvSpPr>
        <p:spPr>
          <a:xfrm>
            <a:off x="457200" y="3290316"/>
            <a:ext cx="4023360" cy="1097280"/>
          </a:xfrm>
          <a:prstGeom prst="rect">
            <a:avLst/>
          </a:prstGeom>
          <a:solidFill>
            <a:srgbClr val="009FE3"/>
          </a:solidFill>
          <a:ln>
            <a:noFill/>
          </a:ln>
        </p:spPr>
        <p:txBody>
          <a:bodyPr wrap="square" lIns="146304" tIns="54864" rIns="146304" bIns="54864" rtlCol="0" anchor="ctr">
            <a:noAutofit/>
          </a:bodyPr>
          <a:lstStyle/>
          <a:p>
            <a:pPr marL="0" indent="0" algn="l">
              <a:spcAft>
                <a:spcPts val="300"/>
              </a:spcAft>
              <a:buNone/>
            </a:pPr>
            <a:r>
              <a:rPr lang="fr-FR" sz="1200" b="1" dirty="0">
                <a:solidFill>
                  <a:srgbClr val="FFFFFF"/>
                </a:solidFill>
                <a:latin typeface="Arial"/>
                <a:cs typeface="Arial"/>
              </a:rPr>
              <a:t>Sur un petit périmètre, ça suffit</a:t>
            </a:r>
            <a:endParaRPr lang="fr-FR" sz="1200" dirty="0"/>
          </a:p>
          <a:p>
            <a:pPr marL="0" indent="0" algn="l">
              <a:buNone/>
            </a:pPr>
            <a:r>
              <a:rPr lang="fr-FR" sz="1100" dirty="0">
                <a:solidFill>
                  <a:srgbClr val="FFFFFF"/>
                </a:solidFill>
                <a:latin typeface="Calibri"/>
                <a:cs typeface="Calibri"/>
              </a:rPr>
              <a:t>À l'échelle d'un quartier, SAM 3 en zero-shot avec un post-traitement suffit. À l'échelle de 8 communes, on passe au niveau 2.</a:t>
            </a:r>
            <a:endParaRPr lang="fr-FR" sz="1100" dirty="0"/>
          </a:p>
        </p:txBody>
      </p:sp>
      <p:sp>
        <p:nvSpPr>
          <p:cNvPr id="11" name="Shape 11"/>
          <p:cNvSpPr txBox="1"/>
          <p:nvPr/>
        </p:nvSpPr>
        <p:spPr>
          <a:xfrm>
            <a:off x="4709160" y="4297680"/>
            <a:ext cx="3977640" cy="320040"/>
          </a:xfrm>
          <a:prstGeom prst="rect">
            <a:avLst/>
          </a:prstGeom>
          <a:noFill/>
          <a:ln>
            <a:noFill/>
          </a:ln>
        </p:spPr>
        <p:txBody>
          <a:bodyPr wrap="square" lIns="0" tIns="0" rIns="0" bIns="0" rtlCol="0" anchor="t">
            <a:noAutofit/>
          </a:bodyPr>
          <a:lstStyle/>
          <a:p>
            <a:pPr marL="0" indent="0" algn="ctr">
              <a:buNone/>
            </a:pPr>
            <a:r>
              <a:rPr lang="fr-FR" sz="1000" i="1" dirty="0">
                <a:solidFill>
                  <a:srgbClr val="5D5D5D"/>
                </a:solidFill>
                <a:latin typeface="Calibri"/>
                <a:cs typeface="Calibri"/>
              </a:rPr>
              <a:t>Entrée de giratoire : passage trouvé et détouré par SAM 3</a:t>
            </a:r>
            <a:endParaRPr lang="fr-FR" sz="1000" dirty="0"/>
          </a:p>
        </p:txBody>
      </p:sp>
      <p:pic>
        <p:nvPicPr>
          <p:cNvPr id="900" name="Image 11" descr="sam_detection_giratoire.png"/>
          <p:cNvPicPr>
            <a:picLocks noChangeAspect="1"/>
          </p:cNvPicPr>
          <p:nvPr/>
        </p:nvPicPr>
        <p:blipFill>
          <a:blip r:embed="rId4"/>
          <a:stretch>
            <a:fillRect/>
          </a:stretch>
        </p:blipFill>
        <p:spPr>
          <a:xfrm>
            <a:off x="5368190" y="1234440"/>
            <a:ext cx="2659580" cy="3017520"/>
          </a:xfrm>
          <a:prstGeom prst="rect">
            <a:avLst/>
          </a:prstGeom>
          <a:ln w="9525">
            <a:solidFill>
              <a:srgbClr val="D0D4D7"/>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NIVEAU 1 · LIMITES</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Les erreurs de SAM 3 reviennent toujours sous les mêmes formes</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8</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pic>
        <p:nvPicPr>
          <p:cNvPr id="9" name="Image 9" descr="sam_detection_simple.png"/>
          <p:cNvPicPr>
            <a:picLocks noChangeAspect="1"/>
          </p:cNvPicPr>
          <p:nvPr/>
        </p:nvPicPr>
        <p:blipFill>
          <a:blip r:embed="rId4"/>
          <a:stretch>
            <a:fillRect/>
          </a:stretch>
        </p:blipFill>
        <p:spPr>
          <a:xfrm>
            <a:off x="457200" y="1456949"/>
            <a:ext cx="1554480" cy="1475222"/>
          </a:xfrm>
          <a:prstGeom prst="rect">
            <a:avLst/>
          </a:prstGeom>
          <a:ln w="9525">
            <a:solidFill>
              <a:srgbClr val="D0D4D7"/>
            </a:solidFill>
          </a:ln>
        </p:spPr>
      </p:pic>
      <p:sp>
        <p:nvSpPr>
          <p:cNvPr id="10" name="Shape 10"/>
          <p:cNvSpPr txBox="1"/>
          <p:nvPr/>
        </p:nvSpPr>
        <p:spPr>
          <a:xfrm>
            <a:off x="438912" y="3273552"/>
            <a:ext cx="1591056" cy="237744"/>
          </a:xfrm>
          <a:prstGeom prst="rect">
            <a:avLst/>
          </a:prstGeom>
          <a:noFill/>
          <a:ln>
            <a:noFill/>
          </a:ln>
        </p:spPr>
        <p:txBody>
          <a:bodyPr wrap="square" lIns="0" tIns="0" rIns="0" bIns="0" rtlCol="0" anchor="t">
            <a:noAutofit/>
          </a:bodyPr>
          <a:lstStyle/>
          <a:p>
            <a:pPr marL="0" indent="0" algn="ctr">
              <a:buNone/>
            </a:pPr>
            <a:r>
              <a:rPr lang="fr-FR" sz="1100" b="1" dirty="0">
                <a:solidFill>
                  <a:srgbClr val="E20134"/>
                </a:solidFill>
                <a:latin typeface="Arial"/>
                <a:cs typeface="Arial"/>
              </a:rPr>
              <a:t>Faux positif</a:t>
            </a:r>
            <a:endParaRPr lang="fr-FR" sz="1100" dirty="0"/>
          </a:p>
        </p:txBody>
      </p:sp>
      <p:sp>
        <p:nvSpPr>
          <p:cNvPr id="11" name="Shape 11"/>
          <p:cNvSpPr txBox="1"/>
          <p:nvPr/>
        </p:nvSpPr>
        <p:spPr>
          <a:xfrm>
            <a:off x="438912" y="3529584"/>
            <a:ext cx="1591056" cy="566928"/>
          </a:xfrm>
          <a:prstGeom prst="rect">
            <a:avLst/>
          </a:prstGeom>
          <a:noFill/>
          <a:ln>
            <a:noFill/>
          </a:ln>
        </p:spPr>
        <p:txBody>
          <a:bodyPr wrap="square" lIns="0" tIns="0" rIns="0" bIns="0" rtlCol="0" anchor="t">
            <a:noAutofit/>
          </a:bodyPr>
          <a:lstStyle/>
          <a:p>
            <a:pPr marL="0" indent="0" algn="ctr">
              <a:buNone/>
            </a:pPr>
            <a:r>
              <a:rPr lang="fr-FR" sz="950" dirty="0">
                <a:solidFill>
                  <a:srgbClr val="5D5D5D"/>
                </a:solidFill>
                <a:latin typeface="Calibri"/>
                <a:cs typeface="Calibri"/>
              </a:rPr>
              <a:t>6,52 m² sur un marquage qui n'est pas un passage</a:t>
            </a:r>
            <a:endParaRPr lang="fr-FR" sz="950" dirty="0"/>
          </a:p>
        </p:txBody>
      </p:sp>
      <p:pic>
        <p:nvPicPr>
          <p:cNvPr id="12" name="Image 12" descr="sam_faux_positif_chevron_voie.png"/>
          <p:cNvPicPr>
            <a:picLocks noChangeAspect="1"/>
          </p:cNvPicPr>
          <p:nvPr/>
        </p:nvPicPr>
        <p:blipFill>
          <a:blip r:embed="rId5"/>
          <a:stretch>
            <a:fillRect/>
          </a:stretch>
        </p:blipFill>
        <p:spPr>
          <a:xfrm>
            <a:off x="2125980" y="1603930"/>
            <a:ext cx="1554480" cy="1181260"/>
          </a:xfrm>
          <a:prstGeom prst="rect">
            <a:avLst/>
          </a:prstGeom>
          <a:ln w="9525">
            <a:solidFill>
              <a:srgbClr val="D0D4D7"/>
            </a:solidFill>
          </a:ln>
        </p:spPr>
      </p:pic>
      <p:sp>
        <p:nvSpPr>
          <p:cNvPr id="13" name="Shape 13"/>
          <p:cNvSpPr txBox="1"/>
          <p:nvPr/>
        </p:nvSpPr>
        <p:spPr>
          <a:xfrm>
            <a:off x="2107692" y="3273552"/>
            <a:ext cx="1591056" cy="237744"/>
          </a:xfrm>
          <a:prstGeom prst="rect">
            <a:avLst/>
          </a:prstGeom>
          <a:noFill/>
          <a:ln>
            <a:noFill/>
          </a:ln>
        </p:spPr>
        <p:txBody>
          <a:bodyPr wrap="square" lIns="0" tIns="0" rIns="0" bIns="0" rtlCol="0" anchor="t">
            <a:noAutofit/>
          </a:bodyPr>
          <a:lstStyle/>
          <a:p>
            <a:pPr marL="0" indent="0" algn="ctr">
              <a:buNone/>
            </a:pPr>
            <a:r>
              <a:rPr lang="fr-FR" sz="1100" b="1" dirty="0">
                <a:solidFill>
                  <a:srgbClr val="333333"/>
                </a:solidFill>
                <a:latin typeface="Arial"/>
                <a:cs typeface="Arial"/>
              </a:rPr>
              <a:t>Autre marquage</a:t>
            </a:r>
            <a:endParaRPr lang="fr-FR" sz="1100" dirty="0"/>
          </a:p>
        </p:txBody>
      </p:sp>
      <p:sp>
        <p:nvSpPr>
          <p:cNvPr id="14" name="Shape 14"/>
          <p:cNvSpPr txBox="1"/>
          <p:nvPr/>
        </p:nvSpPr>
        <p:spPr>
          <a:xfrm>
            <a:off x="2107692" y="3529584"/>
            <a:ext cx="1591056" cy="566928"/>
          </a:xfrm>
          <a:prstGeom prst="rect">
            <a:avLst/>
          </a:prstGeom>
          <a:noFill/>
          <a:ln>
            <a:noFill/>
          </a:ln>
        </p:spPr>
        <p:txBody>
          <a:bodyPr wrap="square" lIns="0" tIns="0" rIns="0" bIns="0" rtlCol="0" anchor="t">
            <a:noAutofit/>
          </a:bodyPr>
          <a:lstStyle/>
          <a:p>
            <a:pPr marL="0" indent="0" algn="ctr">
              <a:buNone/>
            </a:pPr>
            <a:r>
              <a:rPr lang="fr-FR" sz="950" dirty="0">
                <a:solidFill>
                  <a:srgbClr val="5D5D5D"/>
                </a:solidFill>
                <a:latin typeface="Calibri"/>
                <a:cs typeface="Calibri"/>
              </a:rPr>
              <a:t>Chevrons de voirie pris pour un passage</a:t>
            </a:r>
            <a:endParaRPr lang="fr-FR" sz="950" dirty="0"/>
          </a:p>
        </p:txBody>
      </p:sp>
      <p:pic>
        <p:nvPicPr>
          <p:cNvPr id="15" name="Image 15" descr="sam_fusion_complexe_croisement.png"/>
          <p:cNvPicPr>
            <a:picLocks noChangeAspect="1"/>
          </p:cNvPicPr>
          <p:nvPr/>
        </p:nvPicPr>
        <p:blipFill>
          <a:blip r:embed="rId6"/>
          <a:stretch>
            <a:fillRect/>
          </a:stretch>
        </p:blipFill>
        <p:spPr>
          <a:xfrm>
            <a:off x="3794760" y="1483787"/>
            <a:ext cx="1554480" cy="1421545"/>
          </a:xfrm>
          <a:prstGeom prst="rect">
            <a:avLst/>
          </a:prstGeom>
          <a:ln w="9525">
            <a:solidFill>
              <a:srgbClr val="D0D4D7"/>
            </a:solidFill>
          </a:ln>
        </p:spPr>
      </p:pic>
      <p:sp>
        <p:nvSpPr>
          <p:cNvPr id="16" name="Shape 16"/>
          <p:cNvSpPr txBox="1"/>
          <p:nvPr/>
        </p:nvSpPr>
        <p:spPr>
          <a:xfrm>
            <a:off x="3776472" y="3273552"/>
            <a:ext cx="1591056" cy="237744"/>
          </a:xfrm>
          <a:prstGeom prst="rect">
            <a:avLst/>
          </a:prstGeom>
          <a:noFill/>
          <a:ln>
            <a:noFill/>
          </a:ln>
        </p:spPr>
        <p:txBody>
          <a:bodyPr wrap="square" lIns="0" tIns="0" rIns="0" bIns="0" rtlCol="0" anchor="t">
            <a:noAutofit/>
          </a:bodyPr>
          <a:lstStyle/>
          <a:p>
            <a:pPr marL="0" indent="0" algn="ctr">
              <a:buNone/>
            </a:pPr>
            <a:r>
              <a:rPr lang="fr-FR" sz="1100" b="1" dirty="0">
                <a:solidFill>
                  <a:srgbClr val="333333"/>
                </a:solidFill>
                <a:latin typeface="Arial"/>
                <a:cs typeface="Arial"/>
              </a:rPr>
              <a:t>Fusion</a:t>
            </a:r>
            <a:endParaRPr lang="fr-FR" sz="1100" dirty="0"/>
          </a:p>
        </p:txBody>
      </p:sp>
      <p:sp>
        <p:nvSpPr>
          <p:cNvPr id="17" name="Shape 17"/>
          <p:cNvSpPr txBox="1"/>
          <p:nvPr/>
        </p:nvSpPr>
        <p:spPr>
          <a:xfrm>
            <a:off x="3776472" y="3529584"/>
            <a:ext cx="1591056" cy="566928"/>
          </a:xfrm>
          <a:prstGeom prst="rect">
            <a:avLst/>
          </a:prstGeom>
          <a:noFill/>
          <a:ln>
            <a:noFill/>
          </a:ln>
        </p:spPr>
        <p:txBody>
          <a:bodyPr wrap="square" lIns="0" tIns="0" rIns="0" bIns="0" rtlCol="0" anchor="t">
            <a:noAutofit/>
          </a:bodyPr>
          <a:lstStyle/>
          <a:p>
            <a:pPr marL="0" indent="0" algn="ctr">
              <a:buNone/>
            </a:pPr>
            <a:r>
              <a:rPr lang="fr-FR" sz="950" dirty="0">
                <a:solidFill>
                  <a:srgbClr val="5D5D5D"/>
                </a:solidFill>
                <a:latin typeface="Calibri"/>
                <a:cs typeface="Calibri"/>
              </a:rPr>
              <a:t>3 traversées réunies en une entité de 83,5 m²</a:t>
            </a:r>
            <a:endParaRPr lang="fr-FR" sz="950" dirty="0"/>
          </a:p>
        </p:txBody>
      </p:sp>
      <p:pic>
        <p:nvPicPr>
          <p:cNvPr id="18" name="Image 18" descr="sam_ombre_immeuble_zoom_besoin_merge.png"/>
          <p:cNvPicPr>
            <a:picLocks noChangeAspect="1"/>
          </p:cNvPicPr>
          <p:nvPr/>
        </p:nvPicPr>
        <p:blipFill>
          <a:blip r:embed="rId7"/>
          <a:stretch>
            <a:fillRect/>
          </a:stretch>
        </p:blipFill>
        <p:spPr>
          <a:xfrm>
            <a:off x="5463540" y="1374269"/>
            <a:ext cx="1554480" cy="1640581"/>
          </a:xfrm>
          <a:prstGeom prst="rect">
            <a:avLst/>
          </a:prstGeom>
          <a:ln w="9525">
            <a:solidFill>
              <a:srgbClr val="D0D4D7"/>
            </a:solidFill>
          </a:ln>
        </p:spPr>
      </p:pic>
      <p:sp>
        <p:nvSpPr>
          <p:cNvPr id="19" name="Shape 19"/>
          <p:cNvSpPr txBox="1"/>
          <p:nvPr/>
        </p:nvSpPr>
        <p:spPr>
          <a:xfrm>
            <a:off x="5445252" y="3273552"/>
            <a:ext cx="1591056" cy="237744"/>
          </a:xfrm>
          <a:prstGeom prst="rect">
            <a:avLst/>
          </a:prstGeom>
          <a:noFill/>
          <a:ln>
            <a:noFill/>
          </a:ln>
        </p:spPr>
        <p:txBody>
          <a:bodyPr wrap="square" lIns="0" tIns="0" rIns="0" bIns="0" rtlCol="0" anchor="t">
            <a:noAutofit/>
          </a:bodyPr>
          <a:lstStyle/>
          <a:p>
            <a:pPr marL="0" indent="0" algn="ctr">
              <a:buNone/>
            </a:pPr>
            <a:r>
              <a:rPr lang="fr-FR" sz="1100" b="1" dirty="0">
                <a:solidFill>
                  <a:srgbClr val="333333"/>
                </a:solidFill>
                <a:latin typeface="Arial"/>
                <a:cs typeface="Arial"/>
              </a:rPr>
              <a:t>Ombre</a:t>
            </a:r>
            <a:endParaRPr lang="fr-FR" sz="1100" dirty="0"/>
          </a:p>
        </p:txBody>
      </p:sp>
      <p:sp>
        <p:nvSpPr>
          <p:cNvPr id="20" name="Shape 20"/>
          <p:cNvSpPr txBox="1"/>
          <p:nvPr/>
        </p:nvSpPr>
        <p:spPr>
          <a:xfrm>
            <a:off x="5445252" y="3529584"/>
            <a:ext cx="1591056" cy="566928"/>
          </a:xfrm>
          <a:prstGeom prst="rect">
            <a:avLst/>
          </a:prstGeom>
          <a:noFill/>
          <a:ln>
            <a:noFill/>
          </a:ln>
        </p:spPr>
        <p:txBody>
          <a:bodyPr wrap="square" lIns="0" tIns="0" rIns="0" bIns="0" rtlCol="0" anchor="t">
            <a:noAutofit/>
          </a:bodyPr>
          <a:lstStyle/>
          <a:p>
            <a:pPr marL="0" indent="0" algn="ctr">
              <a:buNone/>
            </a:pPr>
            <a:r>
              <a:rPr lang="fr-FR" sz="950" dirty="0">
                <a:solidFill>
                  <a:srgbClr val="5D5D5D"/>
                </a:solidFill>
                <a:latin typeface="Calibri"/>
                <a:cs typeface="Calibri"/>
              </a:rPr>
              <a:t>Un passage coupé en deux par l'ombre d'un immeuble</a:t>
            </a:r>
            <a:endParaRPr lang="fr-FR" sz="950" dirty="0"/>
          </a:p>
        </p:txBody>
      </p:sp>
      <p:pic>
        <p:nvPicPr>
          <p:cNvPr id="21" name="Image 21" descr="sam_occlusion_partielle_voiture.png"/>
          <p:cNvPicPr>
            <a:picLocks noChangeAspect="1"/>
          </p:cNvPicPr>
          <p:nvPr/>
        </p:nvPicPr>
        <p:blipFill>
          <a:blip r:embed="rId8"/>
          <a:stretch>
            <a:fillRect/>
          </a:stretch>
        </p:blipFill>
        <p:spPr>
          <a:xfrm>
            <a:off x="7132320" y="1318420"/>
            <a:ext cx="1554480" cy="1752281"/>
          </a:xfrm>
          <a:prstGeom prst="rect">
            <a:avLst/>
          </a:prstGeom>
          <a:ln w="9525">
            <a:solidFill>
              <a:srgbClr val="D0D4D7"/>
            </a:solidFill>
          </a:ln>
        </p:spPr>
      </p:pic>
      <p:sp>
        <p:nvSpPr>
          <p:cNvPr id="22" name="Shape 22"/>
          <p:cNvSpPr txBox="1"/>
          <p:nvPr/>
        </p:nvSpPr>
        <p:spPr>
          <a:xfrm>
            <a:off x="7114032" y="3273552"/>
            <a:ext cx="1591056" cy="237744"/>
          </a:xfrm>
          <a:prstGeom prst="rect">
            <a:avLst/>
          </a:prstGeom>
          <a:noFill/>
          <a:ln>
            <a:noFill/>
          </a:ln>
        </p:spPr>
        <p:txBody>
          <a:bodyPr wrap="square" lIns="0" tIns="0" rIns="0" bIns="0" rtlCol="0" anchor="t">
            <a:noAutofit/>
          </a:bodyPr>
          <a:lstStyle/>
          <a:p>
            <a:pPr marL="0" indent="0" algn="ctr">
              <a:buNone/>
            </a:pPr>
            <a:r>
              <a:rPr lang="fr-FR" sz="1100" b="1" dirty="0">
                <a:solidFill>
                  <a:srgbClr val="333333"/>
                </a:solidFill>
                <a:latin typeface="Arial"/>
                <a:cs typeface="Arial"/>
              </a:rPr>
              <a:t>Voiture</a:t>
            </a:r>
            <a:endParaRPr lang="fr-FR" sz="1100" dirty="0"/>
          </a:p>
        </p:txBody>
      </p:sp>
      <p:sp>
        <p:nvSpPr>
          <p:cNvPr id="23" name="Shape 23"/>
          <p:cNvSpPr txBox="1"/>
          <p:nvPr/>
        </p:nvSpPr>
        <p:spPr>
          <a:xfrm>
            <a:off x="7114032" y="3529584"/>
            <a:ext cx="1591056" cy="566928"/>
          </a:xfrm>
          <a:prstGeom prst="rect">
            <a:avLst/>
          </a:prstGeom>
          <a:noFill/>
          <a:ln>
            <a:noFill/>
          </a:ln>
        </p:spPr>
        <p:txBody>
          <a:bodyPr wrap="square" lIns="0" tIns="0" rIns="0" bIns="0" rtlCol="0" anchor="t">
            <a:noAutofit/>
          </a:bodyPr>
          <a:lstStyle/>
          <a:p>
            <a:pPr marL="0" indent="0" algn="ctr">
              <a:buNone/>
            </a:pPr>
            <a:r>
              <a:rPr lang="fr-FR" sz="950" dirty="0">
                <a:solidFill>
                  <a:srgbClr val="5D5D5D"/>
                </a:solidFill>
                <a:latin typeface="Calibri"/>
                <a:cs typeface="Calibri"/>
              </a:rPr>
              <a:t>Contour déformé par un véhicule stationné</a:t>
            </a:r>
            <a:endParaRPr lang="fr-FR" sz="950" dirty="0"/>
          </a:p>
        </p:txBody>
      </p:sp>
      <p:sp>
        <p:nvSpPr>
          <p:cNvPr id="24" name="Shape 24"/>
          <p:cNvSpPr/>
          <p:nvPr/>
        </p:nvSpPr>
        <p:spPr>
          <a:xfrm>
            <a:off x="457200" y="4206240"/>
            <a:ext cx="8229600" cy="457200"/>
          </a:xfrm>
          <a:prstGeom prst="rect">
            <a:avLst/>
          </a:prstGeom>
          <a:solidFill>
            <a:srgbClr val="F0F0F0"/>
          </a:solidFill>
          <a:ln>
            <a:noFill/>
          </a:ln>
        </p:spPr>
        <p:txBody>
          <a:bodyPr wrap="square" lIns="146304" tIns="36576" rIns="146304" bIns="36576" rtlCol="0" anchor="ctr">
            <a:noAutofit/>
          </a:bodyPr>
          <a:lstStyle/>
          <a:p>
            <a:pPr marL="0" indent="0" algn="l">
              <a:buNone/>
            </a:pPr>
            <a:r>
              <a:rPr lang="fr-FR" sz="1100" dirty="0">
                <a:solidFill>
                  <a:srgbClr val="5D5D5D"/>
                </a:solidFill>
                <a:latin typeface="Calibri"/>
                <a:cs typeface="Calibri"/>
              </a:rPr>
              <a:t>SAM 3 cherche ce qui ressemble à un passage. Il ne connaît pas les règles du marquage, et il suit le contraste de l'image.</a:t>
            </a:r>
            <a:endParaRPr lang="fr-FR"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NIVEAU 1 · VERDICT</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Corrections par les outils ArcGIS</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9</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10" name="Shape 10"/>
          <p:cNvSpPr/>
          <p:nvPr/>
        </p:nvSpPr>
        <p:spPr>
          <a:xfrm>
            <a:off x="1688704" y="1216152"/>
            <a:ext cx="2788920" cy="2331720"/>
          </a:xfrm>
          <a:prstGeom prst="rect">
            <a:avLst/>
          </a:prstGeom>
          <a:solidFill>
            <a:srgbClr val="FDEEF1"/>
          </a:solidFill>
          <a:ln>
            <a:noFill/>
          </a:ln>
        </p:spPr>
        <p:txBody>
          <a:bodyPr wrap="square" lIns="128016" tIns="91440" rIns="128016" bIns="73152" rtlCol="0" anchor="t">
            <a:noAutofit/>
          </a:bodyPr>
          <a:lstStyle/>
          <a:p>
            <a:pPr marL="0" indent="0" algn="l">
              <a:spcAft>
                <a:spcPts val="400"/>
              </a:spcAft>
              <a:buNone/>
            </a:pPr>
            <a:r>
              <a:rPr lang="fr-FR" sz="1250" b="1" dirty="0">
                <a:solidFill>
                  <a:srgbClr val="E20134"/>
                </a:solidFill>
                <a:latin typeface="Arial"/>
                <a:cs typeface="Arial"/>
              </a:rPr>
              <a:t>À la main, sous SIG</a:t>
            </a:r>
            <a:endParaRPr lang="fr-FR" sz="1250" dirty="0"/>
          </a:p>
          <a:p>
            <a:pPr marL="171450" indent="-171450" algn="l">
              <a:spcAft>
                <a:spcPts val="300"/>
              </a:spcAft>
              <a:buFont typeface="Arial"/>
              <a:buChar char="•"/>
            </a:pPr>
            <a:r>
              <a:rPr lang="fr-FR" sz="1050" dirty="0">
                <a:solidFill>
                  <a:srgbClr val="5D5D5D"/>
                </a:solidFill>
                <a:latin typeface="Calibri"/>
                <a:cs typeface="Calibri"/>
              </a:rPr>
              <a:t>Supprimer les autres marquages</a:t>
            </a:r>
            <a:endParaRPr lang="fr-FR" sz="1050" dirty="0"/>
          </a:p>
          <a:p>
            <a:pPr marL="171450" indent="-171450" algn="l">
              <a:spcAft>
                <a:spcPts val="300"/>
              </a:spcAft>
              <a:buFont typeface="Arial"/>
              <a:buChar char="•"/>
            </a:pPr>
            <a:r>
              <a:rPr lang="fr-FR" sz="1050" dirty="0">
                <a:solidFill>
                  <a:srgbClr val="5D5D5D"/>
                </a:solidFill>
                <a:latin typeface="Calibri"/>
                <a:cs typeface="Calibri"/>
              </a:rPr>
              <a:t>Diviser deux passages fusionnés (à moins de 2 m)</a:t>
            </a:r>
            <a:endParaRPr lang="fr-FR" sz="1050" dirty="0"/>
          </a:p>
          <a:p>
            <a:pPr marL="171450" indent="-171450" algn="l">
              <a:spcAft>
                <a:spcPts val="300"/>
              </a:spcAft>
              <a:buFont typeface="Arial"/>
              <a:buChar char="•"/>
            </a:pPr>
            <a:r>
              <a:rPr lang="fr-FR" sz="1050" dirty="0">
                <a:solidFill>
                  <a:srgbClr val="5D5D5D"/>
                </a:solidFill>
                <a:latin typeface="Calibri"/>
                <a:cs typeface="Calibri"/>
              </a:rPr>
              <a:t>Fusionner un passage coupé par l'ombre</a:t>
            </a:r>
            <a:endParaRPr lang="fr-FR" sz="1050" dirty="0"/>
          </a:p>
          <a:p>
            <a:pPr marL="171450" indent="-171450" algn="l">
              <a:spcAft>
                <a:spcPts val="300"/>
              </a:spcAft>
              <a:buFont typeface="Arial"/>
              <a:buChar char="•"/>
            </a:pPr>
            <a:r>
              <a:rPr lang="fr-FR" sz="1050" dirty="0">
                <a:solidFill>
                  <a:srgbClr val="5D5D5D"/>
                </a:solidFill>
                <a:latin typeface="Calibri"/>
                <a:cs typeface="Calibri"/>
              </a:rPr>
              <a:t>Recaler le contour</a:t>
            </a:r>
            <a:endParaRPr lang="fr-FR" sz="1050" dirty="0"/>
          </a:p>
        </p:txBody>
      </p:sp>
      <p:pic>
        <p:nvPicPr>
          <p:cNvPr id="11" name="Image 11" descr="sam_fusion_carrefour_besoin_divide.png"/>
          <p:cNvPicPr>
            <a:picLocks noChangeAspect="1"/>
          </p:cNvPicPr>
          <p:nvPr/>
        </p:nvPicPr>
        <p:blipFill>
          <a:blip r:embed="rId4"/>
          <a:stretch>
            <a:fillRect/>
          </a:stretch>
        </p:blipFill>
        <p:spPr>
          <a:xfrm>
            <a:off x="4844092" y="1216152"/>
            <a:ext cx="1964545" cy="2331720"/>
          </a:xfrm>
          <a:prstGeom prst="rect">
            <a:avLst/>
          </a:prstGeom>
          <a:ln w="9525">
            <a:solidFill>
              <a:srgbClr val="D0D4D7"/>
            </a:solidFill>
          </a:ln>
        </p:spPr>
      </p:pic>
      <p:sp>
        <p:nvSpPr>
          <p:cNvPr id="12" name="Shape 12"/>
          <p:cNvSpPr txBox="1"/>
          <p:nvPr/>
        </p:nvSpPr>
        <p:spPr>
          <a:xfrm>
            <a:off x="4660504" y="3575304"/>
            <a:ext cx="2331720" cy="274320"/>
          </a:xfrm>
          <a:prstGeom prst="rect">
            <a:avLst/>
          </a:prstGeom>
          <a:noFill/>
          <a:ln>
            <a:noFill/>
          </a:ln>
        </p:spPr>
        <p:txBody>
          <a:bodyPr wrap="square" lIns="0" tIns="0" rIns="0" bIns="0" rtlCol="0" anchor="t">
            <a:noAutofit/>
          </a:bodyPr>
          <a:lstStyle/>
          <a:p>
            <a:pPr marL="0" indent="0" algn="ctr">
              <a:buNone/>
            </a:pPr>
            <a:r>
              <a:rPr lang="fr-FR" sz="950" i="1" dirty="0">
                <a:solidFill>
                  <a:srgbClr val="5D5D5D"/>
                </a:solidFill>
                <a:latin typeface="Calibri"/>
                <a:cs typeface="Calibri"/>
              </a:rPr>
              <a:t>Deux passages fusionnés : outil Divide</a:t>
            </a:r>
            <a:endParaRPr lang="fr-FR" sz="950" dirty="0"/>
          </a:p>
        </p:txBody>
      </p:sp>
      <p:sp>
        <p:nvSpPr>
          <p:cNvPr id="13" name="Shape 13"/>
          <p:cNvSpPr/>
          <p:nvPr/>
        </p:nvSpPr>
        <p:spPr>
          <a:xfrm>
            <a:off x="457200" y="3840480"/>
            <a:ext cx="8229600" cy="841248"/>
          </a:xfrm>
          <a:prstGeom prst="rect">
            <a:avLst/>
          </a:prstGeom>
          <a:solidFill>
            <a:srgbClr val="009FE3"/>
          </a:solidFill>
          <a:ln>
            <a:noFill/>
          </a:ln>
        </p:spPr>
        <p:txBody>
          <a:bodyPr wrap="square" lIns="146304" tIns="54864" rIns="146304" bIns="54864" rtlCol="0" anchor="ctr">
            <a:noAutofit/>
          </a:bodyPr>
          <a:lstStyle/>
          <a:p>
            <a:pPr marL="0" indent="0" algn="l">
              <a:spcAft>
                <a:spcPts val="200"/>
              </a:spcAft>
              <a:buNone/>
            </a:pPr>
            <a:r>
              <a:rPr lang="fr-FR" sz="1150" b="1" dirty="0">
                <a:solidFill>
                  <a:srgbClr val="FFFFFF"/>
                </a:solidFill>
                <a:latin typeface="Arial"/>
                <a:cs typeface="Arial"/>
              </a:rPr>
              <a:t>Quartier pilote : 244 propositions de SAM 3, 215 passages après vérification</a:t>
            </a:r>
            <a:endParaRPr lang="fr-FR" sz="1150" dirty="0"/>
          </a:p>
          <a:p>
            <a:pPr marL="0" indent="0" algn="l">
              <a:spcAft>
                <a:spcPts val="200"/>
              </a:spcAft>
              <a:buNone/>
            </a:pPr>
            <a:r>
              <a:rPr lang="fr-FR" sz="1150" dirty="0">
                <a:solidFill>
                  <a:srgbClr val="FFFFFF"/>
                </a:solidFill>
                <a:latin typeface="Calibri"/>
                <a:cs typeface="Calibri"/>
              </a:rPr>
              <a:t>SAM 3 seul ne suffit pas ici. Mais il nous donne vite un échantillon corrigé, et c'est ce qu'il faut pour entraîner un modèle.</a:t>
            </a:r>
            <a:endParaRPr lang="fr-FR"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NIVEAU 2 · LES DONNÉES</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On annote six quartiers, pas tout le territoire</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10</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9"/>
          <p:cNvSpPr/>
          <p:nvPr/>
        </p:nvSpPr>
        <p:spPr>
          <a:xfrm>
            <a:off x="457200" y="1493797"/>
            <a:ext cx="2148840" cy="292608"/>
          </a:xfrm>
          <a:prstGeom prst="rect">
            <a:avLst/>
          </a:prstGeom>
          <a:solidFill>
            <a:srgbClr val="009FE3"/>
          </a:solidFill>
          <a:ln>
            <a:noFill/>
          </a:ln>
        </p:spPr>
        <p:txBody>
          <a:bodyPr wrap="square" lIns="73152" tIns="18288" rIns="73152" bIns="18288" rtlCol="0" anchor="ctr">
            <a:noAutofit/>
          </a:bodyPr>
          <a:lstStyle/>
          <a:p>
            <a:pPr marL="0" indent="0" algn="l">
              <a:buNone/>
            </a:pPr>
            <a:r>
              <a:rPr lang="fr-FR" sz="1050" b="1" dirty="0">
                <a:solidFill>
                  <a:srgbClr val="FFFFFF"/>
                </a:solidFill>
                <a:latin typeface="Arial"/>
                <a:cs typeface="Arial"/>
              </a:rPr>
              <a:t>Quartier</a:t>
            </a:r>
            <a:endParaRPr lang="fr-FR" sz="1050" dirty="0"/>
          </a:p>
        </p:txBody>
      </p:sp>
      <p:sp>
        <p:nvSpPr>
          <p:cNvPr id="10" name="Shape 10"/>
          <p:cNvSpPr/>
          <p:nvPr/>
        </p:nvSpPr>
        <p:spPr>
          <a:xfrm>
            <a:off x="2606040" y="1493797"/>
            <a:ext cx="1600200" cy="292608"/>
          </a:xfrm>
          <a:prstGeom prst="rect">
            <a:avLst/>
          </a:prstGeom>
          <a:solidFill>
            <a:srgbClr val="009FE3"/>
          </a:solidFill>
          <a:ln>
            <a:noFill/>
          </a:ln>
        </p:spPr>
        <p:txBody>
          <a:bodyPr wrap="square" lIns="73152" tIns="18288" rIns="73152" bIns="18288" rtlCol="0" anchor="ctr">
            <a:noAutofit/>
          </a:bodyPr>
          <a:lstStyle/>
          <a:p>
            <a:pPr marL="0" indent="0" algn="l">
              <a:buNone/>
            </a:pPr>
            <a:r>
              <a:rPr lang="fr-FR" sz="1050" b="1" dirty="0">
                <a:solidFill>
                  <a:srgbClr val="FFFFFF"/>
                </a:solidFill>
                <a:latin typeface="Arial"/>
                <a:cs typeface="Arial"/>
              </a:rPr>
              <a:t>Commune</a:t>
            </a:r>
            <a:endParaRPr lang="fr-FR" sz="1050" dirty="0"/>
          </a:p>
        </p:txBody>
      </p:sp>
      <p:sp>
        <p:nvSpPr>
          <p:cNvPr id="11" name="Shape 11"/>
          <p:cNvSpPr/>
          <p:nvPr/>
        </p:nvSpPr>
        <p:spPr>
          <a:xfrm>
            <a:off x="4206240" y="1493797"/>
            <a:ext cx="868680" cy="292608"/>
          </a:xfrm>
          <a:prstGeom prst="rect">
            <a:avLst/>
          </a:prstGeom>
          <a:solidFill>
            <a:srgbClr val="009FE3"/>
          </a:solidFill>
          <a:ln>
            <a:noFill/>
          </a:ln>
        </p:spPr>
        <p:txBody>
          <a:bodyPr wrap="square" lIns="73152" tIns="18288" rIns="73152" bIns="18288" rtlCol="0" anchor="ctr">
            <a:noAutofit/>
          </a:bodyPr>
          <a:lstStyle/>
          <a:p>
            <a:pPr marL="0" indent="0" algn="r">
              <a:buNone/>
            </a:pPr>
            <a:r>
              <a:rPr lang="fr-FR" sz="1050" b="1" dirty="0">
                <a:solidFill>
                  <a:srgbClr val="FFFFFF"/>
                </a:solidFill>
                <a:latin typeface="Arial"/>
                <a:cs typeface="Arial"/>
              </a:rPr>
              <a:t>Passages</a:t>
            </a:r>
            <a:endParaRPr lang="fr-FR" sz="1050" dirty="0"/>
          </a:p>
        </p:txBody>
      </p:sp>
      <p:sp>
        <p:nvSpPr>
          <p:cNvPr id="12" name="Shape 12"/>
          <p:cNvSpPr/>
          <p:nvPr/>
        </p:nvSpPr>
        <p:spPr>
          <a:xfrm>
            <a:off x="457200" y="1786405"/>
            <a:ext cx="2148840" cy="301752"/>
          </a:xfrm>
          <a:prstGeom prst="rect">
            <a:avLst/>
          </a:prstGeom>
          <a:solidFill>
            <a:srgbClr val="F0F0F0"/>
          </a:solidFill>
          <a:ln>
            <a:noFill/>
          </a:ln>
        </p:spPr>
        <p:txBody>
          <a:bodyPr wrap="square" lIns="73152" tIns="18288" rIns="73152" bIns="18288" rtlCol="0" anchor="ctr">
            <a:noAutofit/>
          </a:bodyPr>
          <a:lstStyle/>
          <a:p>
            <a:pPr marL="0" indent="0" algn="l">
              <a:buNone/>
            </a:pPr>
            <a:r>
              <a:rPr lang="fr-FR" sz="1050" dirty="0">
                <a:solidFill>
                  <a:srgbClr val="5D5D5D"/>
                </a:solidFill>
                <a:latin typeface="Calibri"/>
                <a:cs typeface="Calibri"/>
              </a:rPr>
              <a:t>Silly - Galliéni</a:t>
            </a:r>
            <a:endParaRPr lang="fr-FR" sz="1050" dirty="0"/>
          </a:p>
        </p:txBody>
      </p:sp>
      <p:sp>
        <p:nvSpPr>
          <p:cNvPr id="13" name="Shape 13"/>
          <p:cNvSpPr/>
          <p:nvPr/>
        </p:nvSpPr>
        <p:spPr>
          <a:xfrm>
            <a:off x="2606040" y="1786405"/>
            <a:ext cx="1600200" cy="301752"/>
          </a:xfrm>
          <a:prstGeom prst="rect">
            <a:avLst/>
          </a:prstGeom>
          <a:solidFill>
            <a:srgbClr val="F0F0F0"/>
          </a:solidFill>
          <a:ln>
            <a:noFill/>
          </a:ln>
        </p:spPr>
        <p:txBody>
          <a:bodyPr wrap="square" lIns="73152" tIns="18288" rIns="73152" bIns="18288" rtlCol="0" anchor="ctr">
            <a:noAutofit/>
          </a:bodyPr>
          <a:lstStyle/>
          <a:p>
            <a:pPr marL="0" indent="0" algn="l">
              <a:buNone/>
            </a:pPr>
            <a:r>
              <a:rPr lang="fr-FR" sz="1050" dirty="0">
                <a:solidFill>
                  <a:srgbClr val="5D5D5D"/>
                </a:solidFill>
                <a:latin typeface="Calibri"/>
                <a:cs typeface="Calibri"/>
              </a:rPr>
              <a:t>Boulogne-Billancourt</a:t>
            </a:r>
            <a:endParaRPr lang="fr-FR" sz="1050" dirty="0"/>
          </a:p>
        </p:txBody>
      </p:sp>
      <p:sp>
        <p:nvSpPr>
          <p:cNvPr id="14" name="Shape 14"/>
          <p:cNvSpPr/>
          <p:nvPr/>
        </p:nvSpPr>
        <p:spPr>
          <a:xfrm>
            <a:off x="4206240" y="1786405"/>
            <a:ext cx="868680" cy="301752"/>
          </a:xfrm>
          <a:prstGeom prst="rect">
            <a:avLst/>
          </a:prstGeom>
          <a:solidFill>
            <a:srgbClr val="F0F0F0"/>
          </a:solidFill>
          <a:ln>
            <a:noFill/>
          </a:ln>
        </p:spPr>
        <p:txBody>
          <a:bodyPr wrap="square" lIns="73152" tIns="18288" rIns="73152" bIns="18288" rtlCol="0" anchor="ctr">
            <a:noAutofit/>
          </a:bodyPr>
          <a:lstStyle/>
          <a:p>
            <a:pPr marL="0" indent="0" algn="r">
              <a:buNone/>
            </a:pPr>
            <a:r>
              <a:rPr lang="fr-FR" sz="1050" dirty="0">
                <a:solidFill>
                  <a:srgbClr val="5D5D5D"/>
                </a:solidFill>
                <a:latin typeface="Calibri"/>
                <a:cs typeface="Calibri"/>
              </a:rPr>
              <a:t>214</a:t>
            </a:r>
            <a:endParaRPr lang="fr-FR" sz="1050" dirty="0"/>
          </a:p>
        </p:txBody>
      </p:sp>
      <p:sp>
        <p:nvSpPr>
          <p:cNvPr id="15" name="Shape 15"/>
          <p:cNvSpPr/>
          <p:nvPr/>
        </p:nvSpPr>
        <p:spPr>
          <a:xfrm>
            <a:off x="457200" y="2088157"/>
            <a:ext cx="2148840" cy="301752"/>
          </a:xfrm>
          <a:prstGeom prst="rect">
            <a:avLst/>
          </a:prstGeom>
          <a:solidFill>
            <a:srgbClr val="FFFFFF"/>
          </a:solidFill>
          <a:ln>
            <a:noFill/>
          </a:ln>
        </p:spPr>
        <p:txBody>
          <a:bodyPr wrap="square" lIns="73152" tIns="18288" rIns="73152" bIns="18288" rtlCol="0" anchor="ctr">
            <a:noAutofit/>
          </a:bodyPr>
          <a:lstStyle/>
          <a:p>
            <a:pPr marL="0" indent="0" algn="l">
              <a:buNone/>
            </a:pPr>
            <a:r>
              <a:rPr lang="fr-FR" sz="1050" dirty="0">
                <a:solidFill>
                  <a:srgbClr val="5D5D5D"/>
                </a:solidFill>
                <a:latin typeface="Calibri"/>
                <a:cs typeface="Calibri"/>
              </a:rPr>
              <a:t>République - Point-du-Jour</a:t>
            </a:r>
            <a:endParaRPr lang="fr-FR" sz="1050" dirty="0"/>
          </a:p>
        </p:txBody>
      </p:sp>
      <p:sp>
        <p:nvSpPr>
          <p:cNvPr id="16" name="Shape 16"/>
          <p:cNvSpPr/>
          <p:nvPr/>
        </p:nvSpPr>
        <p:spPr>
          <a:xfrm>
            <a:off x="2606040" y="2088157"/>
            <a:ext cx="1600200" cy="301752"/>
          </a:xfrm>
          <a:prstGeom prst="rect">
            <a:avLst/>
          </a:prstGeom>
          <a:solidFill>
            <a:srgbClr val="FFFFFF"/>
          </a:solidFill>
          <a:ln>
            <a:noFill/>
          </a:ln>
        </p:spPr>
        <p:txBody>
          <a:bodyPr wrap="square" lIns="73152" tIns="18288" rIns="73152" bIns="18288" rtlCol="0" anchor="ctr">
            <a:noAutofit/>
          </a:bodyPr>
          <a:lstStyle/>
          <a:p>
            <a:pPr marL="0" indent="0" algn="l">
              <a:buNone/>
            </a:pPr>
            <a:r>
              <a:rPr lang="fr-FR" sz="1050" dirty="0">
                <a:solidFill>
                  <a:srgbClr val="5D5D5D"/>
                </a:solidFill>
                <a:latin typeface="Calibri"/>
                <a:cs typeface="Calibri"/>
              </a:rPr>
              <a:t>Boulogne-Billancourt</a:t>
            </a:r>
            <a:endParaRPr lang="fr-FR" sz="1050" dirty="0"/>
          </a:p>
        </p:txBody>
      </p:sp>
      <p:sp>
        <p:nvSpPr>
          <p:cNvPr id="17" name="Shape 17"/>
          <p:cNvSpPr/>
          <p:nvPr/>
        </p:nvSpPr>
        <p:spPr>
          <a:xfrm>
            <a:off x="4206240" y="2088157"/>
            <a:ext cx="868680" cy="301752"/>
          </a:xfrm>
          <a:prstGeom prst="rect">
            <a:avLst/>
          </a:prstGeom>
          <a:solidFill>
            <a:srgbClr val="FFFFFF"/>
          </a:solidFill>
          <a:ln>
            <a:noFill/>
          </a:ln>
        </p:spPr>
        <p:txBody>
          <a:bodyPr wrap="square" lIns="73152" tIns="18288" rIns="73152" bIns="18288" rtlCol="0" anchor="ctr">
            <a:noAutofit/>
          </a:bodyPr>
          <a:lstStyle/>
          <a:p>
            <a:pPr marL="0" indent="0" algn="r">
              <a:buNone/>
            </a:pPr>
            <a:r>
              <a:rPr lang="fr-FR" sz="1050" dirty="0">
                <a:solidFill>
                  <a:srgbClr val="5D5D5D"/>
                </a:solidFill>
                <a:latin typeface="Calibri"/>
                <a:cs typeface="Calibri"/>
              </a:rPr>
              <a:t>178</a:t>
            </a:r>
            <a:endParaRPr lang="fr-FR" sz="1050" dirty="0"/>
          </a:p>
        </p:txBody>
      </p:sp>
      <p:sp>
        <p:nvSpPr>
          <p:cNvPr id="18" name="Shape 18"/>
          <p:cNvSpPr/>
          <p:nvPr/>
        </p:nvSpPr>
        <p:spPr>
          <a:xfrm>
            <a:off x="457200" y="2389909"/>
            <a:ext cx="2148840" cy="301752"/>
          </a:xfrm>
          <a:prstGeom prst="rect">
            <a:avLst/>
          </a:prstGeom>
          <a:solidFill>
            <a:srgbClr val="F0F0F0"/>
          </a:solidFill>
          <a:ln>
            <a:noFill/>
          </a:ln>
        </p:spPr>
        <p:txBody>
          <a:bodyPr wrap="square" lIns="73152" tIns="18288" rIns="73152" bIns="18288" rtlCol="0" anchor="ctr">
            <a:noAutofit/>
          </a:bodyPr>
          <a:lstStyle/>
          <a:p>
            <a:pPr marL="0" indent="0" algn="l">
              <a:buNone/>
            </a:pPr>
            <a:r>
              <a:rPr lang="fr-FR" sz="1050" dirty="0">
                <a:solidFill>
                  <a:srgbClr val="5D5D5D"/>
                </a:solidFill>
                <a:latin typeface="Calibri"/>
                <a:cs typeface="Calibri"/>
              </a:rPr>
              <a:t>Le Centre Saint-Rémy</a:t>
            </a:r>
            <a:endParaRPr lang="fr-FR" sz="1050" dirty="0"/>
          </a:p>
        </p:txBody>
      </p:sp>
      <p:sp>
        <p:nvSpPr>
          <p:cNvPr id="19" name="Shape 19"/>
          <p:cNvSpPr/>
          <p:nvPr/>
        </p:nvSpPr>
        <p:spPr>
          <a:xfrm>
            <a:off x="2606040" y="2389909"/>
            <a:ext cx="1600200" cy="301752"/>
          </a:xfrm>
          <a:prstGeom prst="rect">
            <a:avLst/>
          </a:prstGeom>
          <a:solidFill>
            <a:srgbClr val="F0F0F0"/>
          </a:solidFill>
          <a:ln>
            <a:noFill/>
          </a:ln>
        </p:spPr>
        <p:txBody>
          <a:bodyPr wrap="square" lIns="73152" tIns="18288" rIns="73152" bIns="18288" rtlCol="0" anchor="ctr">
            <a:noAutofit/>
          </a:bodyPr>
          <a:lstStyle/>
          <a:p>
            <a:pPr marL="0" indent="0" algn="l">
              <a:buNone/>
            </a:pPr>
            <a:r>
              <a:rPr lang="fr-FR" sz="1050" dirty="0">
                <a:solidFill>
                  <a:srgbClr val="5D5D5D"/>
                </a:solidFill>
                <a:latin typeface="Calibri"/>
                <a:cs typeface="Calibri"/>
              </a:rPr>
              <a:t>Vanves</a:t>
            </a:r>
            <a:endParaRPr lang="fr-FR" sz="1050" dirty="0"/>
          </a:p>
        </p:txBody>
      </p:sp>
      <p:sp>
        <p:nvSpPr>
          <p:cNvPr id="20" name="Shape 20"/>
          <p:cNvSpPr/>
          <p:nvPr/>
        </p:nvSpPr>
        <p:spPr>
          <a:xfrm>
            <a:off x="4206240" y="2389909"/>
            <a:ext cx="868680" cy="301752"/>
          </a:xfrm>
          <a:prstGeom prst="rect">
            <a:avLst/>
          </a:prstGeom>
          <a:solidFill>
            <a:srgbClr val="F0F0F0"/>
          </a:solidFill>
          <a:ln>
            <a:noFill/>
          </a:ln>
        </p:spPr>
        <p:txBody>
          <a:bodyPr wrap="square" lIns="73152" tIns="18288" rIns="73152" bIns="18288" rtlCol="0" anchor="ctr">
            <a:noAutofit/>
          </a:bodyPr>
          <a:lstStyle/>
          <a:p>
            <a:pPr marL="0" indent="0" algn="r">
              <a:buNone/>
            </a:pPr>
            <a:r>
              <a:rPr lang="fr-FR" sz="1050" dirty="0">
                <a:solidFill>
                  <a:srgbClr val="5D5D5D"/>
                </a:solidFill>
                <a:latin typeface="Calibri"/>
                <a:cs typeface="Calibri"/>
              </a:rPr>
              <a:t>125</a:t>
            </a:r>
            <a:endParaRPr lang="fr-FR" sz="1050" dirty="0"/>
          </a:p>
        </p:txBody>
      </p:sp>
      <p:sp>
        <p:nvSpPr>
          <p:cNvPr id="21" name="Shape 21"/>
          <p:cNvSpPr/>
          <p:nvPr/>
        </p:nvSpPr>
        <p:spPr>
          <a:xfrm>
            <a:off x="457200" y="2691661"/>
            <a:ext cx="2148840" cy="301752"/>
          </a:xfrm>
          <a:prstGeom prst="rect">
            <a:avLst/>
          </a:prstGeom>
          <a:solidFill>
            <a:srgbClr val="FFFFFF"/>
          </a:solidFill>
          <a:ln>
            <a:noFill/>
          </a:ln>
        </p:spPr>
        <p:txBody>
          <a:bodyPr wrap="square" lIns="73152" tIns="18288" rIns="73152" bIns="18288" rtlCol="0" anchor="ctr">
            <a:noAutofit/>
          </a:bodyPr>
          <a:lstStyle/>
          <a:p>
            <a:pPr marL="0" indent="0" algn="l">
              <a:buNone/>
            </a:pPr>
            <a:r>
              <a:rPr lang="fr-FR" sz="1050" dirty="0">
                <a:solidFill>
                  <a:srgbClr val="5D5D5D"/>
                </a:solidFill>
                <a:latin typeface="Calibri"/>
                <a:cs typeface="Calibri"/>
              </a:rPr>
              <a:t>Meudon-sur-Seine</a:t>
            </a:r>
            <a:endParaRPr lang="fr-FR" sz="1050" dirty="0"/>
          </a:p>
        </p:txBody>
      </p:sp>
      <p:sp>
        <p:nvSpPr>
          <p:cNvPr id="22" name="Shape 22"/>
          <p:cNvSpPr/>
          <p:nvPr/>
        </p:nvSpPr>
        <p:spPr>
          <a:xfrm>
            <a:off x="2606040" y="2691661"/>
            <a:ext cx="1600200" cy="301752"/>
          </a:xfrm>
          <a:prstGeom prst="rect">
            <a:avLst/>
          </a:prstGeom>
          <a:solidFill>
            <a:srgbClr val="FFFFFF"/>
          </a:solidFill>
          <a:ln>
            <a:noFill/>
          </a:ln>
        </p:spPr>
        <p:txBody>
          <a:bodyPr wrap="square" lIns="73152" tIns="18288" rIns="73152" bIns="18288" rtlCol="0" anchor="ctr">
            <a:noAutofit/>
          </a:bodyPr>
          <a:lstStyle/>
          <a:p>
            <a:pPr marL="0" indent="0" algn="l">
              <a:buNone/>
            </a:pPr>
            <a:r>
              <a:rPr lang="fr-FR" sz="1050" dirty="0">
                <a:solidFill>
                  <a:srgbClr val="5D5D5D"/>
                </a:solidFill>
                <a:latin typeface="Calibri"/>
                <a:cs typeface="Calibri"/>
              </a:rPr>
              <a:t>Meudon</a:t>
            </a:r>
            <a:endParaRPr lang="fr-FR" sz="1050" dirty="0"/>
          </a:p>
        </p:txBody>
      </p:sp>
      <p:sp>
        <p:nvSpPr>
          <p:cNvPr id="23" name="Shape 23"/>
          <p:cNvSpPr/>
          <p:nvPr/>
        </p:nvSpPr>
        <p:spPr>
          <a:xfrm>
            <a:off x="4206240" y="2691661"/>
            <a:ext cx="868680" cy="301752"/>
          </a:xfrm>
          <a:prstGeom prst="rect">
            <a:avLst/>
          </a:prstGeom>
          <a:solidFill>
            <a:srgbClr val="FFFFFF"/>
          </a:solidFill>
          <a:ln>
            <a:noFill/>
          </a:ln>
        </p:spPr>
        <p:txBody>
          <a:bodyPr wrap="square" lIns="73152" tIns="18288" rIns="73152" bIns="18288" rtlCol="0" anchor="ctr">
            <a:noAutofit/>
          </a:bodyPr>
          <a:lstStyle/>
          <a:p>
            <a:pPr marL="0" indent="0" algn="r">
              <a:buNone/>
            </a:pPr>
            <a:r>
              <a:rPr lang="fr-FR" sz="1050" dirty="0">
                <a:solidFill>
                  <a:srgbClr val="5D5D5D"/>
                </a:solidFill>
                <a:latin typeface="Calibri"/>
                <a:cs typeface="Calibri"/>
              </a:rPr>
              <a:t>106</a:t>
            </a:r>
            <a:endParaRPr lang="fr-FR" sz="1050" dirty="0"/>
          </a:p>
        </p:txBody>
      </p:sp>
      <p:sp>
        <p:nvSpPr>
          <p:cNvPr id="24" name="Shape 24"/>
          <p:cNvSpPr/>
          <p:nvPr/>
        </p:nvSpPr>
        <p:spPr>
          <a:xfrm>
            <a:off x="457200" y="2993413"/>
            <a:ext cx="2148840" cy="301752"/>
          </a:xfrm>
          <a:prstGeom prst="rect">
            <a:avLst/>
          </a:prstGeom>
          <a:solidFill>
            <a:srgbClr val="F0F0F0"/>
          </a:solidFill>
          <a:ln>
            <a:noFill/>
          </a:ln>
        </p:spPr>
        <p:txBody>
          <a:bodyPr wrap="square" lIns="73152" tIns="18288" rIns="73152" bIns="18288" rtlCol="0" anchor="ctr">
            <a:noAutofit/>
          </a:bodyPr>
          <a:lstStyle/>
          <a:p>
            <a:pPr marL="0" indent="0" algn="l">
              <a:buNone/>
            </a:pPr>
            <a:r>
              <a:rPr lang="fr-FR" sz="1050" dirty="0">
                <a:solidFill>
                  <a:srgbClr val="5D5D5D"/>
                </a:solidFill>
                <a:latin typeface="Calibri"/>
                <a:cs typeface="Calibri"/>
              </a:rPr>
              <a:t>Garenne - Rive Gauche</a:t>
            </a:r>
            <a:endParaRPr lang="fr-FR" sz="1050" dirty="0"/>
          </a:p>
        </p:txBody>
      </p:sp>
      <p:sp>
        <p:nvSpPr>
          <p:cNvPr id="25" name="Shape 25"/>
          <p:cNvSpPr/>
          <p:nvPr/>
        </p:nvSpPr>
        <p:spPr>
          <a:xfrm>
            <a:off x="2606040" y="2993413"/>
            <a:ext cx="1600200" cy="301752"/>
          </a:xfrm>
          <a:prstGeom prst="rect">
            <a:avLst/>
          </a:prstGeom>
          <a:solidFill>
            <a:srgbClr val="F0F0F0"/>
          </a:solidFill>
          <a:ln>
            <a:noFill/>
          </a:ln>
        </p:spPr>
        <p:txBody>
          <a:bodyPr wrap="square" lIns="73152" tIns="18288" rIns="73152" bIns="18288" rtlCol="0" anchor="ctr">
            <a:noAutofit/>
          </a:bodyPr>
          <a:lstStyle/>
          <a:p>
            <a:pPr marL="0" indent="0" algn="l">
              <a:buNone/>
            </a:pPr>
            <a:r>
              <a:rPr lang="fr-FR" sz="1050" dirty="0">
                <a:solidFill>
                  <a:srgbClr val="5D5D5D"/>
                </a:solidFill>
                <a:latin typeface="Calibri"/>
                <a:cs typeface="Calibri"/>
              </a:rPr>
              <a:t>Sèvres</a:t>
            </a:r>
            <a:endParaRPr lang="fr-FR" sz="1050" dirty="0"/>
          </a:p>
        </p:txBody>
      </p:sp>
      <p:sp>
        <p:nvSpPr>
          <p:cNvPr id="26" name="Shape 26"/>
          <p:cNvSpPr/>
          <p:nvPr/>
        </p:nvSpPr>
        <p:spPr>
          <a:xfrm>
            <a:off x="4206240" y="2993413"/>
            <a:ext cx="868680" cy="301752"/>
          </a:xfrm>
          <a:prstGeom prst="rect">
            <a:avLst/>
          </a:prstGeom>
          <a:solidFill>
            <a:srgbClr val="F0F0F0"/>
          </a:solidFill>
          <a:ln>
            <a:noFill/>
          </a:ln>
        </p:spPr>
        <p:txBody>
          <a:bodyPr wrap="square" lIns="73152" tIns="18288" rIns="73152" bIns="18288" rtlCol="0" anchor="ctr">
            <a:noAutofit/>
          </a:bodyPr>
          <a:lstStyle/>
          <a:p>
            <a:pPr marL="0" indent="0" algn="r">
              <a:buNone/>
            </a:pPr>
            <a:r>
              <a:rPr lang="fr-FR" sz="1050" dirty="0">
                <a:solidFill>
                  <a:srgbClr val="5D5D5D"/>
                </a:solidFill>
                <a:latin typeface="Calibri"/>
                <a:cs typeface="Calibri"/>
              </a:rPr>
              <a:t>36</a:t>
            </a:r>
            <a:endParaRPr lang="fr-FR" sz="1050" dirty="0"/>
          </a:p>
        </p:txBody>
      </p:sp>
      <p:sp>
        <p:nvSpPr>
          <p:cNvPr id="27" name="Shape 27"/>
          <p:cNvSpPr/>
          <p:nvPr/>
        </p:nvSpPr>
        <p:spPr>
          <a:xfrm>
            <a:off x="457200" y="3295165"/>
            <a:ext cx="2148840" cy="301752"/>
          </a:xfrm>
          <a:prstGeom prst="rect">
            <a:avLst/>
          </a:prstGeom>
          <a:solidFill>
            <a:srgbClr val="FFFFFF"/>
          </a:solidFill>
          <a:ln>
            <a:noFill/>
          </a:ln>
        </p:spPr>
        <p:txBody>
          <a:bodyPr wrap="square" lIns="73152" tIns="18288" rIns="73152" bIns="18288" rtlCol="0" anchor="ctr">
            <a:noAutofit/>
          </a:bodyPr>
          <a:lstStyle/>
          <a:p>
            <a:pPr marL="0" indent="0" algn="l">
              <a:buNone/>
            </a:pPr>
            <a:r>
              <a:rPr lang="fr-FR" sz="1050" dirty="0">
                <a:solidFill>
                  <a:srgbClr val="5D5D5D"/>
                </a:solidFill>
                <a:latin typeface="Calibri"/>
                <a:cs typeface="Calibri"/>
              </a:rPr>
              <a:t>Gabriel Péri - Danton</a:t>
            </a:r>
            <a:endParaRPr lang="fr-FR" sz="1050" dirty="0"/>
          </a:p>
        </p:txBody>
      </p:sp>
      <p:sp>
        <p:nvSpPr>
          <p:cNvPr id="28" name="Shape 28"/>
          <p:cNvSpPr/>
          <p:nvPr/>
        </p:nvSpPr>
        <p:spPr>
          <a:xfrm>
            <a:off x="2606040" y="3295165"/>
            <a:ext cx="1600200" cy="301752"/>
          </a:xfrm>
          <a:prstGeom prst="rect">
            <a:avLst/>
          </a:prstGeom>
          <a:solidFill>
            <a:srgbClr val="FFFFFF"/>
          </a:solidFill>
          <a:ln>
            <a:noFill/>
          </a:ln>
        </p:spPr>
        <p:txBody>
          <a:bodyPr wrap="square" lIns="73152" tIns="18288" rIns="73152" bIns="18288" rtlCol="0" anchor="ctr">
            <a:noAutofit/>
          </a:bodyPr>
          <a:lstStyle/>
          <a:p>
            <a:pPr marL="0" indent="0" algn="l">
              <a:buNone/>
            </a:pPr>
            <a:r>
              <a:rPr lang="fr-FR" sz="1050" dirty="0">
                <a:solidFill>
                  <a:srgbClr val="5D5D5D"/>
                </a:solidFill>
                <a:latin typeface="Calibri"/>
                <a:cs typeface="Calibri"/>
              </a:rPr>
              <a:t>Sèvres</a:t>
            </a:r>
            <a:endParaRPr lang="fr-FR" sz="1050" dirty="0"/>
          </a:p>
        </p:txBody>
      </p:sp>
      <p:sp>
        <p:nvSpPr>
          <p:cNvPr id="29" name="Shape 29"/>
          <p:cNvSpPr/>
          <p:nvPr/>
        </p:nvSpPr>
        <p:spPr>
          <a:xfrm>
            <a:off x="4206240" y="3295165"/>
            <a:ext cx="868680" cy="301752"/>
          </a:xfrm>
          <a:prstGeom prst="rect">
            <a:avLst/>
          </a:prstGeom>
          <a:solidFill>
            <a:srgbClr val="FFFFFF"/>
          </a:solidFill>
          <a:ln>
            <a:noFill/>
          </a:ln>
        </p:spPr>
        <p:txBody>
          <a:bodyPr wrap="square" lIns="73152" tIns="18288" rIns="73152" bIns="18288" rtlCol="0" anchor="ctr">
            <a:noAutofit/>
          </a:bodyPr>
          <a:lstStyle/>
          <a:p>
            <a:pPr marL="0" indent="0" algn="r">
              <a:buNone/>
            </a:pPr>
            <a:r>
              <a:rPr lang="fr-FR" sz="1050" dirty="0">
                <a:solidFill>
                  <a:srgbClr val="5D5D5D"/>
                </a:solidFill>
                <a:latin typeface="Calibri"/>
                <a:cs typeface="Calibri"/>
              </a:rPr>
              <a:t>11</a:t>
            </a:r>
            <a:endParaRPr lang="fr-FR" sz="1050" dirty="0"/>
          </a:p>
        </p:txBody>
      </p:sp>
      <p:sp>
        <p:nvSpPr>
          <p:cNvPr id="30" name="Shape 30"/>
          <p:cNvSpPr/>
          <p:nvPr/>
        </p:nvSpPr>
        <p:spPr>
          <a:xfrm>
            <a:off x="457200" y="3596917"/>
            <a:ext cx="2148840" cy="301752"/>
          </a:xfrm>
          <a:prstGeom prst="rect">
            <a:avLst/>
          </a:prstGeom>
          <a:solidFill>
            <a:srgbClr val="F0F0F0"/>
          </a:solidFill>
          <a:ln>
            <a:noFill/>
          </a:ln>
        </p:spPr>
        <p:txBody>
          <a:bodyPr wrap="square" lIns="73152" tIns="18288" rIns="73152" bIns="18288" rtlCol="0" anchor="ctr">
            <a:noAutofit/>
          </a:bodyPr>
          <a:lstStyle/>
          <a:p>
            <a:pPr marL="0" indent="0" algn="l">
              <a:buNone/>
            </a:pPr>
            <a:r>
              <a:rPr lang="fr-FR" sz="1050" b="1" dirty="0">
                <a:solidFill>
                  <a:srgbClr val="333333"/>
                </a:solidFill>
                <a:latin typeface="Arial"/>
                <a:cs typeface="Arial"/>
              </a:rPr>
              <a:t>Total</a:t>
            </a:r>
            <a:endParaRPr lang="fr-FR" sz="1050" dirty="0"/>
          </a:p>
        </p:txBody>
      </p:sp>
      <p:sp>
        <p:nvSpPr>
          <p:cNvPr id="31" name="Shape 31"/>
          <p:cNvSpPr/>
          <p:nvPr/>
        </p:nvSpPr>
        <p:spPr>
          <a:xfrm>
            <a:off x="2606040" y="3596917"/>
            <a:ext cx="1600200" cy="301752"/>
          </a:xfrm>
          <a:prstGeom prst="rect">
            <a:avLst/>
          </a:prstGeom>
          <a:solidFill>
            <a:srgbClr val="F0F0F0"/>
          </a:solidFill>
          <a:ln>
            <a:noFill/>
          </a:ln>
        </p:spPr>
        <p:txBody>
          <a:bodyPr wrap="square" lIns="73152" tIns="18288" rIns="73152" bIns="18288" rtlCol="0" anchor="ctr">
            <a:noAutofit/>
          </a:bodyPr>
          <a:lstStyle/>
          <a:p>
            <a:pPr marL="0" indent="0" algn="l">
              <a:buNone/>
            </a:pPr>
            <a:r>
              <a:rPr lang="fr-FR" sz="1050" b="1" dirty="0">
                <a:solidFill>
                  <a:srgbClr val="333333"/>
                </a:solidFill>
                <a:latin typeface="Arial"/>
                <a:cs typeface="Arial"/>
              </a:rPr>
              <a:t>4 communes sur 8</a:t>
            </a:r>
            <a:endParaRPr lang="fr-FR" sz="1050" dirty="0"/>
          </a:p>
        </p:txBody>
      </p:sp>
      <p:sp>
        <p:nvSpPr>
          <p:cNvPr id="32" name="Shape 32"/>
          <p:cNvSpPr/>
          <p:nvPr/>
        </p:nvSpPr>
        <p:spPr>
          <a:xfrm>
            <a:off x="4206240" y="3596917"/>
            <a:ext cx="868680" cy="301752"/>
          </a:xfrm>
          <a:prstGeom prst="rect">
            <a:avLst/>
          </a:prstGeom>
          <a:solidFill>
            <a:srgbClr val="F0F0F0"/>
          </a:solidFill>
          <a:ln>
            <a:noFill/>
          </a:ln>
        </p:spPr>
        <p:txBody>
          <a:bodyPr wrap="square" lIns="73152" tIns="18288" rIns="73152" bIns="18288" rtlCol="0" anchor="ctr">
            <a:noAutofit/>
          </a:bodyPr>
          <a:lstStyle/>
          <a:p>
            <a:pPr marL="0" indent="0" algn="r">
              <a:buNone/>
            </a:pPr>
            <a:r>
              <a:rPr lang="fr-FR" sz="1050" b="1" dirty="0">
                <a:solidFill>
                  <a:srgbClr val="333333"/>
                </a:solidFill>
                <a:latin typeface="Arial"/>
                <a:cs typeface="Arial"/>
              </a:rPr>
              <a:t>670</a:t>
            </a:r>
            <a:endParaRPr lang="fr-FR" sz="1050" dirty="0"/>
          </a:p>
        </p:txBody>
      </p:sp>
      <p:pic>
        <p:nvPicPr>
          <p:cNvPr id="34" name="Image 34" descr="illu_carte_quartiers_annotes_charte.png"/>
          <p:cNvPicPr>
            <a:picLocks noChangeAspect="1"/>
          </p:cNvPicPr>
          <p:nvPr/>
        </p:nvPicPr>
        <p:blipFill>
          <a:blip r:embed="rId4"/>
          <a:stretch>
            <a:fillRect/>
          </a:stretch>
        </p:blipFill>
        <p:spPr>
          <a:xfrm>
            <a:off x="5257800" y="1404851"/>
            <a:ext cx="3429000" cy="2493818"/>
          </a:xfrm>
          <a:prstGeom prst="rect">
            <a:avLst/>
          </a:prstGeom>
        </p:spPr>
      </p:pic>
      <p:sp>
        <p:nvSpPr>
          <p:cNvPr id="35" name="Shape 35"/>
          <p:cNvSpPr txBox="1"/>
          <p:nvPr/>
        </p:nvSpPr>
        <p:spPr>
          <a:xfrm>
            <a:off x="5257800" y="4160520"/>
            <a:ext cx="3429000" cy="457200"/>
          </a:xfrm>
          <a:prstGeom prst="rect">
            <a:avLst/>
          </a:prstGeom>
          <a:noFill/>
          <a:ln>
            <a:noFill/>
          </a:ln>
        </p:spPr>
        <p:txBody>
          <a:bodyPr wrap="square" lIns="0" tIns="0" rIns="0" bIns="0" rtlCol="0" anchor="t">
            <a:noAutofit/>
          </a:bodyPr>
          <a:lstStyle/>
          <a:p>
            <a:pPr marL="0" indent="0" algn="ctr">
              <a:buNone/>
            </a:pPr>
            <a:r>
              <a:rPr lang="fr-FR" sz="950" i="1" dirty="0">
                <a:solidFill>
                  <a:srgbClr val="5D5D5D"/>
                </a:solidFill>
                <a:latin typeface="Calibri"/>
                <a:cs typeface="Calibri"/>
              </a:rPr>
              <a:t>En bleu, les 6 quartiers annotés, sur les 38 de GPSO</a:t>
            </a:r>
            <a:endParaRPr lang="fr-FR"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NIVEAU 2 · LA CHAÎNE</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De l'orthophoto à la couche publiée, en six étapes</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11</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pic>
        <p:nvPicPr>
          <p:cNvPr id="9" name="Image 9" descr="illu_chaine_simple.png"/>
          <p:cNvPicPr>
            <a:picLocks noChangeAspect="1"/>
          </p:cNvPicPr>
          <p:nvPr/>
        </p:nvPicPr>
        <p:blipFill>
          <a:blip r:embed="rId4"/>
          <a:stretch>
            <a:fillRect/>
          </a:stretch>
        </p:blipFill>
        <p:spPr>
          <a:xfrm>
            <a:off x="457200" y="1570974"/>
            <a:ext cx="8229600" cy="2161572"/>
          </a:xfrm>
          <a:prstGeom prst="rect">
            <a:avLst/>
          </a:prstGeom>
        </p:spPr>
      </p:pic>
      <p:sp>
        <p:nvSpPr>
          <p:cNvPr id="10" name="Shape 10"/>
          <p:cNvSpPr txBox="1"/>
          <p:nvPr/>
        </p:nvSpPr>
        <p:spPr>
          <a:xfrm>
            <a:off x="457200" y="4160520"/>
            <a:ext cx="8229600" cy="274320"/>
          </a:xfrm>
          <a:prstGeom prst="rect">
            <a:avLst/>
          </a:prstGeom>
          <a:noFill/>
          <a:ln>
            <a:noFill/>
          </a:ln>
        </p:spPr>
        <p:txBody>
          <a:bodyPr wrap="square" lIns="0" tIns="0" rIns="0" bIns="0" rtlCol="0" anchor="t">
            <a:noAutofit/>
          </a:bodyPr>
          <a:lstStyle/>
          <a:p>
            <a:pPr marL="0" indent="0" algn="ctr">
              <a:buNone/>
            </a:pPr>
            <a:r>
              <a:rPr lang="fr-FR" sz="1100" dirty="0">
                <a:solidFill>
                  <a:srgbClr val="333333"/>
                </a:solidFill>
                <a:latin typeface="Calibri"/>
                <a:cs typeface="Calibri"/>
              </a:rPr>
              <a:t>Le modèle est aussi livré en .dlpk pour Classify Pixels Using Deep Learning dans ArcGIS Pro.</a:t>
            </a:r>
            <a:endParaRPr lang="fr-FR"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NIVEAU 2 · LE PIÈGE À ÉVITER</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Découper le territoire avant de tuiler</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12</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9"/>
          <p:cNvSpPr/>
          <p:nvPr/>
        </p:nvSpPr>
        <p:spPr>
          <a:xfrm>
            <a:off x="457200" y="1188720"/>
            <a:ext cx="3246120" cy="3520440"/>
          </a:xfrm>
          <a:prstGeom prst="rect">
            <a:avLst/>
          </a:prstGeom>
          <a:solidFill>
            <a:srgbClr val="FDEEF1"/>
          </a:solidFill>
          <a:ln>
            <a:noFill/>
          </a:ln>
        </p:spPr>
        <p:txBody>
          <a:bodyPr rtlCol="0" anchor="ctr"/>
          <a:lstStyle/>
          <a:p>
            <a:endParaRPr lang="fr-FR" dirty="0"/>
          </a:p>
        </p:txBody>
      </p:sp>
      <p:sp>
        <p:nvSpPr>
          <p:cNvPr id="10" name="Shape 10"/>
          <p:cNvSpPr txBox="1"/>
          <p:nvPr/>
        </p:nvSpPr>
        <p:spPr>
          <a:xfrm>
            <a:off x="594360" y="1261872"/>
            <a:ext cx="3017520" cy="274320"/>
          </a:xfrm>
          <a:prstGeom prst="rect">
            <a:avLst/>
          </a:prstGeom>
          <a:noFill/>
          <a:ln>
            <a:noFill/>
          </a:ln>
        </p:spPr>
        <p:txBody>
          <a:bodyPr wrap="square" lIns="0" tIns="0" rIns="0" bIns="0" rtlCol="0" anchor="t">
            <a:noAutofit/>
          </a:bodyPr>
          <a:lstStyle/>
          <a:p>
            <a:pPr marL="0" indent="0" algn="l">
              <a:buNone/>
            </a:pPr>
            <a:r>
              <a:rPr lang="fr-FR" sz="1250" b="1" dirty="0">
                <a:solidFill>
                  <a:srgbClr val="E20134"/>
                </a:solidFill>
                <a:latin typeface="Arial"/>
                <a:cs typeface="Arial"/>
              </a:rPr>
              <a:t>Tuiler, puis tirer au sort</a:t>
            </a:r>
            <a:endParaRPr lang="fr-FR" sz="1250" dirty="0"/>
          </a:p>
        </p:txBody>
      </p:sp>
      <p:pic>
        <p:nvPicPr>
          <p:cNvPr id="11" name="Image 11" descr="illu_tuiles_chevauchement_charte.png"/>
          <p:cNvPicPr>
            <a:picLocks noChangeAspect="1"/>
          </p:cNvPicPr>
          <p:nvPr/>
        </p:nvPicPr>
        <p:blipFill>
          <a:blip r:embed="rId4"/>
          <a:stretch>
            <a:fillRect/>
          </a:stretch>
        </p:blipFill>
        <p:spPr>
          <a:xfrm>
            <a:off x="594360" y="1574292"/>
            <a:ext cx="2971800" cy="1981200"/>
          </a:xfrm>
          <a:prstGeom prst="rect">
            <a:avLst/>
          </a:prstGeom>
        </p:spPr>
      </p:pic>
      <p:sp>
        <p:nvSpPr>
          <p:cNvPr id="12" name="Shape 12"/>
          <p:cNvSpPr txBox="1"/>
          <p:nvPr/>
        </p:nvSpPr>
        <p:spPr>
          <a:xfrm>
            <a:off x="594360" y="3584448"/>
            <a:ext cx="2971800" cy="274320"/>
          </a:xfrm>
          <a:prstGeom prst="rect">
            <a:avLst/>
          </a:prstGeom>
          <a:noFill/>
          <a:ln>
            <a:noFill/>
          </a:ln>
        </p:spPr>
        <p:txBody>
          <a:bodyPr wrap="square" lIns="0" tIns="0" rIns="0" bIns="0" rtlCol="0" anchor="t">
            <a:noAutofit/>
          </a:bodyPr>
          <a:lstStyle/>
          <a:p>
            <a:pPr marL="0" indent="0" algn="ctr">
              <a:buNone/>
            </a:pPr>
            <a:r>
              <a:rPr lang="fr-FR" sz="900" i="1" dirty="0">
                <a:solidFill>
                  <a:srgbClr val="5D5D5D"/>
                </a:solidFill>
                <a:latin typeface="Calibri"/>
                <a:cs typeface="Calibri"/>
              </a:rPr>
              <a:t>Deux tuiles voisines : la bande violette est dans les deux</a:t>
            </a:r>
            <a:endParaRPr lang="fr-FR" sz="900" dirty="0"/>
          </a:p>
        </p:txBody>
      </p:sp>
      <p:sp>
        <p:nvSpPr>
          <p:cNvPr id="13" name="Shape 13"/>
          <p:cNvSpPr txBox="1"/>
          <p:nvPr/>
        </p:nvSpPr>
        <p:spPr>
          <a:xfrm>
            <a:off x="594360" y="3904488"/>
            <a:ext cx="3017520" cy="777240"/>
          </a:xfrm>
          <a:prstGeom prst="rect">
            <a:avLst/>
          </a:prstGeom>
          <a:noFill/>
          <a:ln>
            <a:noFill/>
          </a:ln>
        </p:spPr>
        <p:txBody>
          <a:bodyPr wrap="square" lIns="0" tIns="0" rIns="0" bIns="0" rtlCol="0" anchor="t">
            <a:noAutofit/>
          </a:bodyPr>
          <a:lstStyle/>
          <a:p>
            <a:pPr marL="171450" indent="-171450" algn="l">
              <a:spcAft>
                <a:spcPts val="200"/>
              </a:spcAft>
              <a:buFont typeface="Arial"/>
              <a:buChar char="•"/>
            </a:pPr>
            <a:r>
              <a:rPr lang="fr-FR" sz="1050" b="1" dirty="0">
                <a:solidFill>
                  <a:srgbClr val="333333"/>
                </a:solidFill>
                <a:latin typeface="Arial"/>
                <a:cs typeface="Arial"/>
              </a:rPr>
              <a:t>84 % du sol des tuiles de contrôle déjà vu à l'entraînement</a:t>
            </a:r>
            <a:endParaRPr lang="fr-FR" sz="1050" dirty="0"/>
          </a:p>
          <a:p>
            <a:pPr marL="171450" indent="-171450" algn="l">
              <a:buFont typeface="Arial"/>
              <a:buChar char="•"/>
            </a:pPr>
            <a:r>
              <a:rPr lang="fr-FR" sz="1050" b="1" dirty="0">
                <a:solidFill>
                  <a:srgbClr val="333333"/>
                </a:solidFill>
                <a:latin typeface="Arial"/>
                <a:cs typeface="Arial"/>
              </a:rPr>
              <a:t>2 tuiles sur 117 vraiment nouvelles</a:t>
            </a:r>
            <a:endParaRPr lang="fr-FR" sz="1050" dirty="0"/>
          </a:p>
        </p:txBody>
      </p:sp>
      <p:sp>
        <p:nvSpPr>
          <p:cNvPr id="14" name="Shape 14"/>
          <p:cNvSpPr/>
          <p:nvPr/>
        </p:nvSpPr>
        <p:spPr>
          <a:xfrm>
            <a:off x="3840480" y="1188720"/>
            <a:ext cx="4846320" cy="3520440"/>
          </a:xfrm>
          <a:prstGeom prst="rect">
            <a:avLst/>
          </a:prstGeom>
          <a:solidFill>
            <a:srgbClr val="F2F8E4"/>
          </a:solidFill>
          <a:ln>
            <a:noFill/>
          </a:ln>
        </p:spPr>
        <p:txBody>
          <a:bodyPr rtlCol="0" anchor="ctr"/>
          <a:lstStyle/>
          <a:p>
            <a:endParaRPr lang="fr-FR" dirty="0"/>
          </a:p>
        </p:txBody>
      </p:sp>
      <p:sp>
        <p:nvSpPr>
          <p:cNvPr id="15" name="Shape 15"/>
          <p:cNvSpPr txBox="1"/>
          <p:nvPr/>
        </p:nvSpPr>
        <p:spPr>
          <a:xfrm>
            <a:off x="3977640" y="1261872"/>
            <a:ext cx="4572000" cy="274320"/>
          </a:xfrm>
          <a:prstGeom prst="rect">
            <a:avLst/>
          </a:prstGeom>
          <a:noFill/>
          <a:ln>
            <a:noFill/>
          </a:ln>
        </p:spPr>
        <p:txBody>
          <a:bodyPr wrap="square" lIns="0" tIns="0" rIns="0" bIns="0" rtlCol="0" anchor="t">
            <a:noAutofit/>
          </a:bodyPr>
          <a:lstStyle/>
          <a:p>
            <a:pPr marL="0" indent="0" algn="l">
              <a:buNone/>
            </a:pPr>
            <a:r>
              <a:rPr lang="fr-FR" sz="1250" b="1" dirty="0">
                <a:solidFill>
                  <a:srgbClr val="5E7F0F"/>
                </a:solidFill>
                <a:latin typeface="Arial"/>
                <a:cs typeface="Arial"/>
              </a:rPr>
              <a:t>Découper par quartiers, puis tuiler</a:t>
            </a:r>
            <a:endParaRPr lang="fr-FR" sz="1250" dirty="0"/>
          </a:p>
        </p:txBody>
      </p:sp>
      <p:pic>
        <p:nvPicPr>
          <p:cNvPr id="16" name="Image 16" descr="illu_carte_decoupage_charte.png"/>
          <p:cNvPicPr>
            <a:picLocks noChangeAspect="1"/>
          </p:cNvPicPr>
          <p:nvPr/>
        </p:nvPicPr>
        <p:blipFill>
          <a:blip r:embed="rId5"/>
          <a:stretch>
            <a:fillRect/>
          </a:stretch>
        </p:blipFill>
        <p:spPr>
          <a:xfrm>
            <a:off x="3931920" y="1572768"/>
            <a:ext cx="2514600" cy="1828800"/>
          </a:xfrm>
          <a:prstGeom prst="rect">
            <a:avLst/>
          </a:prstGeom>
        </p:spPr>
      </p:pic>
      <p:sp>
        <p:nvSpPr>
          <p:cNvPr id="17" name="Shape 17"/>
          <p:cNvSpPr/>
          <p:nvPr/>
        </p:nvSpPr>
        <p:spPr>
          <a:xfrm>
            <a:off x="6537960" y="1600200"/>
            <a:ext cx="109728" cy="502920"/>
          </a:xfrm>
          <a:prstGeom prst="rect">
            <a:avLst/>
          </a:prstGeom>
          <a:solidFill>
            <a:srgbClr val="009FE3"/>
          </a:solidFill>
          <a:ln>
            <a:noFill/>
          </a:ln>
        </p:spPr>
        <p:txBody>
          <a:bodyPr rtlCol="0" anchor="ctr"/>
          <a:lstStyle/>
          <a:p>
            <a:endParaRPr lang="fr-FR" dirty="0"/>
          </a:p>
        </p:txBody>
      </p:sp>
      <p:sp>
        <p:nvSpPr>
          <p:cNvPr id="18" name="Shape 18"/>
          <p:cNvSpPr txBox="1"/>
          <p:nvPr/>
        </p:nvSpPr>
        <p:spPr>
          <a:xfrm>
            <a:off x="6720840" y="1600200"/>
            <a:ext cx="1920240" cy="530352"/>
          </a:xfrm>
          <a:prstGeom prst="rect">
            <a:avLst/>
          </a:prstGeom>
          <a:noFill/>
          <a:ln>
            <a:noFill/>
          </a:ln>
        </p:spPr>
        <p:txBody>
          <a:bodyPr wrap="square" lIns="0" tIns="0" rIns="0" bIns="0" rtlCol="0" anchor="t">
            <a:noAutofit/>
          </a:bodyPr>
          <a:lstStyle/>
          <a:p>
            <a:pPr marL="0" indent="0" algn="l">
              <a:buNone/>
            </a:pPr>
            <a:r>
              <a:rPr lang="fr-FR" sz="1050" b="1" dirty="0">
                <a:solidFill>
                  <a:srgbClr val="009FE3"/>
                </a:solidFill>
                <a:latin typeface="Arial"/>
                <a:cs typeface="Arial"/>
              </a:rPr>
              <a:t>Train</a:t>
            </a:r>
            <a:endParaRPr lang="fr-FR" sz="1050" dirty="0"/>
          </a:p>
          <a:p>
            <a:pPr marL="0" indent="0" algn="l">
              <a:buNone/>
            </a:pPr>
            <a:r>
              <a:rPr lang="fr-FR" sz="900" dirty="0">
                <a:solidFill>
                  <a:srgbClr val="5D5D5D"/>
                </a:solidFill>
                <a:latin typeface="Calibri"/>
                <a:cs typeface="Calibri"/>
              </a:rPr>
              <a:t>Boulogne-Billancourt et Sèvres</a:t>
            </a:r>
            <a:endParaRPr lang="fr-FR" sz="900" dirty="0"/>
          </a:p>
          <a:p>
            <a:pPr marL="0" indent="0" algn="l">
              <a:buNone/>
            </a:pPr>
            <a:r>
              <a:rPr lang="fr-FR" sz="900" b="1" dirty="0">
                <a:solidFill>
                  <a:srgbClr val="333333"/>
                </a:solidFill>
                <a:latin typeface="Arial"/>
                <a:cs typeface="Arial"/>
              </a:rPr>
              <a:t>439 passages · 65,5 %</a:t>
            </a:r>
            <a:endParaRPr lang="fr-FR" sz="900" dirty="0"/>
          </a:p>
        </p:txBody>
      </p:sp>
      <p:sp>
        <p:nvSpPr>
          <p:cNvPr id="19" name="Shape 19"/>
          <p:cNvSpPr/>
          <p:nvPr/>
        </p:nvSpPr>
        <p:spPr>
          <a:xfrm>
            <a:off x="6537960" y="2203704"/>
            <a:ext cx="109728" cy="502920"/>
          </a:xfrm>
          <a:prstGeom prst="rect">
            <a:avLst/>
          </a:prstGeom>
          <a:solidFill>
            <a:srgbClr val="525DDC"/>
          </a:solidFill>
          <a:ln>
            <a:noFill/>
          </a:ln>
        </p:spPr>
        <p:txBody>
          <a:bodyPr rtlCol="0" anchor="ctr"/>
          <a:lstStyle/>
          <a:p>
            <a:endParaRPr lang="fr-FR" dirty="0"/>
          </a:p>
        </p:txBody>
      </p:sp>
      <p:sp>
        <p:nvSpPr>
          <p:cNvPr id="20" name="Shape 20"/>
          <p:cNvSpPr txBox="1"/>
          <p:nvPr/>
        </p:nvSpPr>
        <p:spPr>
          <a:xfrm>
            <a:off x="6720840" y="2203704"/>
            <a:ext cx="1920240" cy="530352"/>
          </a:xfrm>
          <a:prstGeom prst="rect">
            <a:avLst/>
          </a:prstGeom>
          <a:noFill/>
          <a:ln>
            <a:noFill/>
          </a:ln>
        </p:spPr>
        <p:txBody>
          <a:bodyPr wrap="square" lIns="0" tIns="0" rIns="0" bIns="0" rtlCol="0" anchor="t">
            <a:noAutofit/>
          </a:bodyPr>
          <a:lstStyle/>
          <a:p>
            <a:pPr marL="0" indent="0" algn="l">
              <a:buNone/>
            </a:pPr>
            <a:r>
              <a:rPr lang="fr-FR" sz="1050" b="1" dirty="0" err="1">
                <a:solidFill>
                  <a:srgbClr val="525DDC"/>
                </a:solidFill>
                <a:latin typeface="Arial"/>
                <a:cs typeface="Arial"/>
              </a:rPr>
              <a:t>Validate</a:t>
            </a:r>
            <a:endParaRPr lang="fr-FR" sz="1050" dirty="0"/>
          </a:p>
          <a:p>
            <a:pPr marL="0" indent="0" algn="l">
              <a:buNone/>
            </a:pPr>
            <a:r>
              <a:rPr lang="fr-FR" sz="900" dirty="0">
                <a:solidFill>
                  <a:srgbClr val="5D5D5D"/>
                </a:solidFill>
                <a:latin typeface="Calibri"/>
                <a:cs typeface="Calibri"/>
              </a:rPr>
              <a:t>Meudon-sur-Seine</a:t>
            </a:r>
            <a:endParaRPr lang="fr-FR" sz="900" dirty="0"/>
          </a:p>
          <a:p>
            <a:pPr marL="0" indent="0" algn="l">
              <a:buNone/>
            </a:pPr>
            <a:r>
              <a:rPr lang="fr-FR" sz="900" b="1" dirty="0">
                <a:solidFill>
                  <a:srgbClr val="333333"/>
                </a:solidFill>
                <a:latin typeface="Arial"/>
                <a:cs typeface="Arial"/>
              </a:rPr>
              <a:t>106 passages · 15,8 %</a:t>
            </a:r>
            <a:endParaRPr lang="fr-FR" sz="900" dirty="0"/>
          </a:p>
        </p:txBody>
      </p:sp>
      <p:sp>
        <p:nvSpPr>
          <p:cNvPr id="21" name="Shape 21"/>
          <p:cNvSpPr/>
          <p:nvPr/>
        </p:nvSpPr>
        <p:spPr>
          <a:xfrm>
            <a:off x="6537960" y="2807208"/>
            <a:ext cx="109728" cy="502920"/>
          </a:xfrm>
          <a:prstGeom prst="rect">
            <a:avLst/>
          </a:prstGeom>
          <a:solidFill>
            <a:srgbClr val="6E9A0B"/>
          </a:solidFill>
          <a:ln>
            <a:noFill/>
          </a:ln>
        </p:spPr>
        <p:txBody>
          <a:bodyPr rtlCol="0" anchor="ctr"/>
          <a:lstStyle/>
          <a:p>
            <a:endParaRPr lang="fr-FR" dirty="0"/>
          </a:p>
        </p:txBody>
      </p:sp>
      <p:sp>
        <p:nvSpPr>
          <p:cNvPr id="22" name="Shape 22"/>
          <p:cNvSpPr txBox="1"/>
          <p:nvPr/>
        </p:nvSpPr>
        <p:spPr>
          <a:xfrm>
            <a:off x="6720840" y="2807208"/>
            <a:ext cx="1920240" cy="530352"/>
          </a:xfrm>
          <a:prstGeom prst="rect">
            <a:avLst/>
          </a:prstGeom>
          <a:noFill/>
          <a:ln>
            <a:noFill/>
          </a:ln>
        </p:spPr>
        <p:txBody>
          <a:bodyPr wrap="square" lIns="0" tIns="0" rIns="0" bIns="0" rtlCol="0" anchor="t">
            <a:noAutofit/>
          </a:bodyPr>
          <a:lstStyle/>
          <a:p>
            <a:pPr marL="0" indent="0" algn="l">
              <a:buNone/>
            </a:pPr>
            <a:r>
              <a:rPr lang="fr-FR" sz="1050" b="1" dirty="0">
                <a:solidFill>
                  <a:srgbClr val="6E9A0B"/>
                </a:solidFill>
                <a:latin typeface="Arial"/>
                <a:cs typeface="Arial"/>
              </a:rPr>
              <a:t>Test</a:t>
            </a:r>
            <a:endParaRPr lang="fr-FR" sz="1050" dirty="0"/>
          </a:p>
          <a:p>
            <a:pPr marL="0" indent="0" algn="l">
              <a:buNone/>
            </a:pPr>
            <a:r>
              <a:rPr lang="fr-FR" sz="900" dirty="0">
                <a:solidFill>
                  <a:srgbClr val="5D5D5D"/>
                </a:solidFill>
                <a:latin typeface="Calibri"/>
                <a:cs typeface="Calibri"/>
              </a:rPr>
              <a:t>Le Centre Saint-Rémy, Vanves</a:t>
            </a:r>
            <a:endParaRPr lang="fr-FR" sz="900" dirty="0"/>
          </a:p>
          <a:p>
            <a:pPr marL="0" indent="0" algn="l">
              <a:buNone/>
            </a:pPr>
            <a:r>
              <a:rPr lang="fr-FR" sz="900" b="1" dirty="0">
                <a:solidFill>
                  <a:srgbClr val="333333"/>
                </a:solidFill>
                <a:latin typeface="Arial"/>
                <a:cs typeface="Arial"/>
              </a:rPr>
              <a:t>125 passages · 18,7 %</a:t>
            </a:r>
            <a:endParaRPr lang="fr-FR" sz="900" dirty="0"/>
          </a:p>
        </p:txBody>
      </p:sp>
      <p:pic>
        <p:nvPicPr>
          <p:cNvPr id="23" name="Image 23" descr="illu_tuile_apprentissage.png"/>
          <p:cNvPicPr>
            <a:picLocks noChangeAspect="1"/>
          </p:cNvPicPr>
          <p:nvPr/>
        </p:nvPicPr>
        <p:blipFill>
          <a:blip r:embed="rId6"/>
          <a:stretch>
            <a:fillRect/>
          </a:stretch>
        </p:blipFill>
        <p:spPr>
          <a:xfrm>
            <a:off x="3977640" y="3474720"/>
            <a:ext cx="685800" cy="685800"/>
          </a:xfrm>
          <a:prstGeom prst="rect">
            <a:avLst/>
          </a:prstGeom>
          <a:ln w="9525">
            <a:solidFill>
              <a:srgbClr val="009FE3"/>
            </a:solidFill>
          </a:ln>
        </p:spPr>
      </p:pic>
      <p:pic>
        <p:nvPicPr>
          <p:cNvPr id="24" name="Image 24" descr="illu_tuile_reglage.png"/>
          <p:cNvPicPr>
            <a:picLocks noChangeAspect="1"/>
          </p:cNvPicPr>
          <p:nvPr/>
        </p:nvPicPr>
        <p:blipFill>
          <a:blip r:embed="rId7"/>
          <a:stretch>
            <a:fillRect/>
          </a:stretch>
        </p:blipFill>
        <p:spPr>
          <a:xfrm>
            <a:off x="4736592" y="3474720"/>
            <a:ext cx="685800" cy="685800"/>
          </a:xfrm>
          <a:prstGeom prst="rect">
            <a:avLst/>
          </a:prstGeom>
          <a:ln w="9525">
            <a:solidFill>
              <a:srgbClr val="525DDC"/>
            </a:solidFill>
          </a:ln>
        </p:spPr>
      </p:pic>
      <p:pic>
        <p:nvPicPr>
          <p:cNvPr id="25" name="Image 25" descr="illu_tuile_examen.png"/>
          <p:cNvPicPr>
            <a:picLocks noChangeAspect="1"/>
          </p:cNvPicPr>
          <p:nvPr/>
        </p:nvPicPr>
        <p:blipFill>
          <a:blip r:embed="rId8"/>
          <a:stretch>
            <a:fillRect/>
          </a:stretch>
        </p:blipFill>
        <p:spPr>
          <a:xfrm>
            <a:off x="5495544" y="3474720"/>
            <a:ext cx="685800" cy="685800"/>
          </a:xfrm>
          <a:prstGeom prst="rect">
            <a:avLst/>
          </a:prstGeom>
          <a:ln w="9525">
            <a:solidFill>
              <a:srgbClr val="95C11F"/>
            </a:solidFill>
          </a:ln>
        </p:spPr>
      </p:pic>
      <p:sp>
        <p:nvSpPr>
          <p:cNvPr id="26" name="Shape 26"/>
          <p:cNvSpPr txBox="1"/>
          <p:nvPr/>
        </p:nvSpPr>
        <p:spPr>
          <a:xfrm>
            <a:off x="6309360" y="3474720"/>
            <a:ext cx="2286000" cy="685800"/>
          </a:xfrm>
          <a:prstGeom prst="rect">
            <a:avLst/>
          </a:prstGeom>
          <a:noFill/>
          <a:ln>
            <a:noFill/>
          </a:ln>
        </p:spPr>
        <p:txBody>
          <a:bodyPr wrap="square" lIns="0" tIns="0" rIns="0" bIns="0" rtlCol="0" anchor="ctr">
            <a:noAutofit/>
          </a:bodyPr>
          <a:lstStyle/>
          <a:p>
            <a:pPr marL="0" indent="0" algn="l">
              <a:buNone/>
            </a:pPr>
            <a:r>
              <a:rPr lang="fr-FR" sz="900" i="1" dirty="0">
                <a:solidFill>
                  <a:srgbClr val="5D5D5D"/>
                </a:solidFill>
                <a:latin typeface="Calibri"/>
                <a:cs typeface="Calibri"/>
              </a:rPr>
              <a:t>Une vraie tuile de chaque groupe, passages de référence en bleu clair</a:t>
            </a:r>
            <a:endParaRPr lang="fr-FR" sz="900" dirty="0"/>
          </a:p>
        </p:txBody>
      </p:sp>
      <p:sp>
        <p:nvSpPr>
          <p:cNvPr id="27" name="Shape 27"/>
          <p:cNvSpPr txBox="1"/>
          <p:nvPr/>
        </p:nvSpPr>
        <p:spPr>
          <a:xfrm>
            <a:off x="3977640" y="4233672"/>
            <a:ext cx="4617720" cy="457200"/>
          </a:xfrm>
          <a:prstGeom prst="rect">
            <a:avLst/>
          </a:prstGeom>
          <a:noFill/>
          <a:ln>
            <a:noFill/>
          </a:ln>
        </p:spPr>
        <p:txBody>
          <a:bodyPr wrap="square" lIns="0" tIns="0" rIns="0" bIns="0" rtlCol="0" anchor="t">
            <a:noAutofit/>
          </a:bodyPr>
          <a:lstStyle/>
          <a:p>
            <a:pPr marL="171450" indent="-171450" algn="l">
              <a:spcAft>
                <a:spcPts val="100"/>
              </a:spcAft>
              <a:buFont typeface="Arial"/>
              <a:buChar char="•"/>
            </a:pPr>
            <a:r>
              <a:rPr lang="fr-FR" sz="1050" b="1" dirty="0">
                <a:solidFill>
                  <a:srgbClr val="333333"/>
                </a:solidFill>
                <a:latin typeface="Arial"/>
                <a:cs typeface="Arial"/>
              </a:rPr>
              <a:t>Aucun mètre carré en commun, 778 m à 2,4 km entre les groupes</a:t>
            </a:r>
            <a:endParaRPr lang="fr-FR" sz="1050" dirty="0"/>
          </a:p>
          <a:p>
            <a:pPr marL="171450" indent="-171450" algn="l">
              <a:buFont typeface="Arial"/>
              <a:buChar char="•"/>
            </a:pPr>
            <a:r>
              <a:rPr lang="fr-FR" sz="1000" dirty="0">
                <a:solidFill>
                  <a:srgbClr val="5D5D5D"/>
                </a:solidFill>
                <a:latin typeface="Calibri"/>
                <a:cs typeface="Calibri"/>
              </a:rPr>
              <a:t>Dans ArcGIS : paramètre « Input Mask Polygons » de l'export</a:t>
            </a:r>
            <a:endParaRPr lang="fr-FR"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NIVEAU 2 · L'ENTRAÎNEMENT</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On entraîne un U-Net ResNet34 dans ArcGIS Pro</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13</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pic>
        <p:nvPicPr>
          <p:cNvPr id="9" name="Image 9" descr="train_log_arcgis_gpu_usage.png"/>
          <p:cNvPicPr>
            <a:picLocks noChangeAspect="1"/>
          </p:cNvPicPr>
          <p:nvPr/>
        </p:nvPicPr>
        <p:blipFill>
          <a:blip r:embed="rId4"/>
          <a:stretch>
            <a:fillRect/>
          </a:stretch>
        </p:blipFill>
        <p:spPr>
          <a:xfrm>
            <a:off x="457200" y="1189901"/>
            <a:ext cx="5120640" cy="2064181"/>
          </a:xfrm>
          <a:prstGeom prst="rect">
            <a:avLst/>
          </a:prstGeom>
          <a:ln w="9525">
            <a:solidFill>
              <a:srgbClr val="D0D4D7"/>
            </a:solidFill>
          </a:ln>
        </p:spPr>
      </p:pic>
      <p:sp>
        <p:nvSpPr>
          <p:cNvPr id="10" name="Shape 10"/>
          <p:cNvSpPr txBox="1"/>
          <p:nvPr/>
        </p:nvSpPr>
        <p:spPr>
          <a:xfrm>
            <a:off x="457200" y="3310128"/>
            <a:ext cx="5120640" cy="365760"/>
          </a:xfrm>
          <a:prstGeom prst="rect">
            <a:avLst/>
          </a:prstGeom>
          <a:noFill/>
          <a:ln>
            <a:noFill/>
          </a:ln>
        </p:spPr>
        <p:txBody>
          <a:bodyPr wrap="square" lIns="0" tIns="0" rIns="0" bIns="0" rtlCol="0" anchor="t">
            <a:noAutofit/>
          </a:bodyPr>
          <a:lstStyle/>
          <a:p>
            <a:pPr marL="0" indent="0" algn="ctr">
              <a:buNone/>
            </a:pPr>
            <a:r>
              <a:rPr lang="fr-FR" sz="950" i="1" dirty="0">
                <a:solidFill>
                  <a:srgbClr val="5D5D5D"/>
                </a:solidFill>
                <a:latin typeface="Calibri"/>
                <a:cs typeface="Calibri"/>
              </a:rPr>
              <a:t>Train Deep Learning Model dans ArcGIS Pro, sur le GPU d'un poste de travail</a:t>
            </a:r>
            <a:endParaRPr lang="fr-FR" sz="950" dirty="0"/>
          </a:p>
        </p:txBody>
      </p:sp>
      <p:sp>
        <p:nvSpPr>
          <p:cNvPr id="11" name="Shape 11"/>
          <p:cNvSpPr/>
          <p:nvPr/>
        </p:nvSpPr>
        <p:spPr>
          <a:xfrm>
            <a:off x="457200" y="3794760"/>
            <a:ext cx="5120640" cy="868680"/>
          </a:xfrm>
          <a:prstGeom prst="rect">
            <a:avLst/>
          </a:prstGeom>
          <a:solidFill>
            <a:srgbClr val="F0F0F0"/>
          </a:solidFill>
          <a:ln>
            <a:noFill/>
          </a:ln>
        </p:spPr>
        <p:txBody>
          <a:bodyPr wrap="square" lIns="146304" tIns="54864" rIns="146304" bIns="54864" rtlCol="0" anchor="ctr">
            <a:noAutofit/>
          </a:bodyPr>
          <a:lstStyle/>
          <a:p>
            <a:pPr marL="0" indent="0" algn="l">
              <a:buNone/>
            </a:pPr>
            <a:r>
              <a:rPr lang="fr-FR" sz="1100" dirty="0">
                <a:solidFill>
                  <a:srgbClr val="333333"/>
                </a:solidFill>
                <a:latin typeface="Calibri"/>
                <a:cs typeface="Calibri"/>
              </a:rPr>
              <a:t>Entraîné sur Boulogne et Sèvres, réglé sur Meudon-sur-Seine, testé sur Vanves.</a:t>
            </a:r>
            <a:endParaRPr lang="fr-FR" sz="1100" dirty="0"/>
          </a:p>
        </p:txBody>
      </p:sp>
      <p:sp>
        <p:nvSpPr>
          <p:cNvPr id="12" name="Shape 12"/>
          <p:cNvSpPr/>
          <p:nvPr/>
        </p:nvSpPr>
        <p:spPr>
          <a:xfrm>
            <a:off x="5760720" y="1188720"/>
            <a:ext cx="2926080" cy="1874520"/>
          </a:xfrm>
          <a:prstGeom prst="rect">
            <a:avLst/>
          </a:prstGeom>
          <a:solidFill>
            <a:srgbClr val="F0F0F0"/>
          </a:solidFill>
          <a:ln>
            <a:noFill/>
          </a:ln>
        </p:spPr>
        <p:txBody>
          <a:bodyPr wrap="square" lIns="128016" tIns="91440" rIns="128016" bIns="73152" rtlCol="0" anchor="t">
            <a:noAutofit/>
          </a:bodyPr>
          <a:lstStyle/>
          <a:p>
            <a:pPr marL="0" indent="0" algn="l">
              <a:spcAft>
                <a:spcPts val="400"/>
              </a:spcAft>
              <a:buNone/>
            </a:pPr>
            <a:r>
              <a:rPr lang="fr-FR" sz="1250" b="1" dirty="0">
                <a:solidFill>
                  <a:srgbClr val="009FE3"/>
                </a:solidFill>
                <a:latin typeface="Arial"/>
                <a:cs typeface="Arial"/>
              </a:rPr>
              <a:t>Pourquoi ce modèle</a:t>
            </a:r>
            <a:endParaRPr lang="fr-FR" sz="1250" dirty="0"/>
          </a:p>
          <a:p>
            <a:pPr marL="171450" indent="-171450" algn="l">
              <a:spcAft>
                <a:spcPts val="300"/>
              </a:spcAft>
              <a:buFont typeface="Arial"/>
              <a:buChar char="•"/>
            </a:pPr>
            <a:r>
              <a:rPr lang="fr-FR" sz="1100" dirty="0">
                <a:solidFill>
                  <a:srgbClr val="5D5D5D"/>
                </a:solidFill>
                <a:latin typeface="Calibri"/>
                <a:cs typeface="Calibri"/>
              </a:rPr>
              <a:t>Architecture classique</a:t>
            </a:r>
            <a:endParaRPr lang="fr-FR" sz="1100" dirty="0"/>
          </a:p>
          <a:p>
            <a:pPr marL="171450" indent="-171450" algn="l">
              <a:spcAft>
                <a:spcPts val="300"/>
              </a:spcAft>
              <a:buFont typeface="Arial"/>
              <a:buChar char="•"/>
            </a:pPr>
            <a:r>
              <a:rPr lang="fr-FR" sz="1100" dirty="0">
                <a:solidFill>
                  <a:srgbClr val="5D5D5D"/>
                </a:solidFill>
                <a:latin typeface="Calibri"/>
                <a:cs typeface="Calibri"/>
              </a:rPr>
              <a:t>Assez léger pour un poste avec GPU</a:t>
            </a:r>
            <a:endParaRPr lang="fr-FR" sz="1100" dirty="0"/>
          </a:p>
          <a:p>
            <a:pPr marL="171450" indent="-171450" algn="l">
              <a:spcAft>
                <a:spcPts val="300"/>
              </a:spcAft>
              <a:buFont typeface="Arial"/>
              <a:buChar char="•"/>
            </a:pPr>
            <a:r>
              <a:rPr lang="fr-FR" sz="1100" dirty="0">
                <a:solidFill>
                  <a:srgbClr val="5D5D5D"/>
                </a:solidFill>
                <a:latin typeface="Calibri"/>
                <a:cs typeface="Calibri"/>
              </a:rPr>
              <a:t>Proposé tel quel dans ArcGIS Pro</a:t>
            </a:r>
            <a:endParaRPr lang="fr-FR" sz="1100" dirty="0"/>
          </a:p>
        </p:txBody>
      </p:sp>
      <p:sp>
        <p:nvSpPr>
          <p:cNvPr id="13" name="Shape 13"/>
          <p:cNvSpPr/>
          <p:nvPr/>
        </p:nvSpPr>
        <p:spPr>
          <a:xfrm>
            <a:off x="5760720" y="3200400"/>
            <a:ext cx="2926080" cy="1463040"/>
          </a:xfrm>
          <a:prstGeom prst="rect">
            <a:avLst/>
          </a:prstGeom>
          <a:solidFill>
            <a:srgbClr val="009FE3"/>
          </a:solidFill>
          <a:ln>
            <a:noFill/>
          </a:ln>
        </p:spPr>
        <p:txBody>
          <a:bodyPr wrap="square" lIns="146304" tIns="54864" rIns="146304" bIns="54864" rtlCol="0" anchor="ctr">
            <a:noAutofit/>
          </a:bodyPr>
          <a:lstStyle/>
          <a:p>
            <a:pPr marL="0" indent="0" algn="l">
              <a:spcAft>
                <a:spcPts val="200"/>
              </a:spcAft>
              <a:buNone/>
            </a:pPr>
            <a:r>
              <a:rPr lang="fr-FR" sz="1150" b="1" dirty="0">
                <a:solidFill>
                  <a:srgbClr val="FFFFFF"/>
                </a:solidFill>
                <a:latin typeface="Arial"/>
                <a:cs typeface="Arial"/>
              </a:rPr>
              <a:t>ATTENTION Licence Image </a:t>
            </a:r>
            <a:r>
              <a:rPr lang="fr-FR" sz="1150" b="1" dirty="0" err="1">
                <a:solidFill>
                  <a:srgbClr val="FFFFFF"/>
                </a:solidFill>
                <a:latin typeface="Arial"/>
                <a:cs typeface="Arial"/>
              </a:rPr>
              <a:t>Analyst</a:t>
            </a:r>
            <a:r>
              <a:rPr lang="fr-FR" sz="1150" b="1" dirty="0">
                <a:solidFill>
                  <a:srgbClr val="FFFFFF"/>
                </a:solidFill>
                <a:latin typeface="Arial"/>
                <a:cs typeface="Arial"/>
              </a:rPr>
              <a:t> </a:t>
            </a:r>
            <a:r>
              <a:rPr lang="fr-FR" sz="1150" b="1" dirty="0" err="1">
                <a:solidFill>
                  <a:srgbClr val="FFFFFF"/>
                </a:solidFill>
                <a:latin typeface="Arial"/>
                <a:cs typeface="Arial"/>
              </a:rPr>
              <a:t>Nécéssaire</a:t>
            </a:r>
            <a:r>
              <a:rPr lang="fr-FR" sz="1150" b="1" dirty="0">
                <a:solidFill>
                  <a:srgbClr val="FFFFFF"/>
                </a:solidFill>
                <a:latin typeface="Arial"/>
                <a:cs typeface="Arial"/>
              </a:rPr>
              <a:t> !</a:t>
            </a:r>
          </a:p>
          <a:p>
            <a:pPr marL="0" indent="0" algn="l">
              <a:spcAft>
                <a:spcPts val="200"/>
              </a:spcAft>
              <a:buNone/>
            </a:pPr>
            <a:r>
              <a:rPr lang="fr-FR" sz="1150" b="1" dirty="0">
                <a:solidFill>
                  <a:srgbClr val="FFFFFF"/>
                </a:solidFill>
                <a:latin typeface="Arial"/>
                <a:cs typeface="Arial"/>
              </a:rPr>
              <a:t>Livré en .dlpk</a:t>
            </a:r>
            <a:endParaRPr lang="fr-FR" sz="1150" dirty="0"/>
          </a:p>
          <a:p>
            <a:pPr marL="0" indent="0" algn="l">
              <a:spcAft>
                <a:spcPts val="200"/>
              </a:spcAft>
              <a:buNone/>
            </a:pPr>
            <a:r>
              <a:rPr lang="fr-FR" sz="1150" dirty="0">
                <a:solidFill>
                  <a:srgbClr val="FFFFFF"/>
                </a:solidFill>
                <a:latin typeface="Calibri"/>
                <a:cs typeface="Calibri"/>
              </a:rPr>
              <a:t>Utilisable dans ArcGIS Pro avec Classify Pixels Using Deep Learning.</a:t>
            </a:r>
            <a:endParaRPr lang="fr-FR"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DU MASQUE AU POINT</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Pour chaque passage, on garde un point et un polygone</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14</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pic>
        <p:nvPicPr>
          <p:cNvPr id="9" name="Image 9" descr="illu_etape_1_ortho.png"/>
          <p:cNvPicPr>
            <a:picLocks noChangeAspect="1"/>
          </p:cNvPicPr>
          <p:nvPr/>
        </p:nvPicPr>
        <p:blipFill>
          <a:blip r:embed="rId4"/>
          <a:stretch>
            <a:fillRect/>
          </a:stretch>
        </p:blipFill>
        <p:spPr>
          <a:xfrm>
            <a:off x="640080" y="1188720"/>
            <a:ext cx="1508760" cy="1508760"/>
          </a:xfrm>
          <a:prstGeom prst="rect">
            <a:avLst/>
          </a:prstGeom>
          <a:ln w="9525">
            <a:solidFill>
              <a:srgbClr val="D0D4D7"/>
            </a:solidFill>
          </a:ln>
        </p:spPr>
      </p:pic>
      <p:sp>
        <p:nvSpPr>
          <p:cNvPr id="10" name="Shape 10"/>
          <p:cNvSpPr txBox="1"/>
          <p:nvPr/>
        </p:nvSpPr>
        <p:spPr>
          <a:xfrm>
            <a:off x="457200" y="2743200"/>
            <a:ext cx="1874520" cy="384048"/>
          </a:xfrm>
          <a:prstGeom prst="rect">
            <a:avLst/>
          </a:prstGeom>
          <a:noFill/>
          <a:ln>
            <a:noFill/>
          </a:ln>
        </p:spPr>
        <p:txBody>
          <a:bodyPr wrap="square" lIns="0" tIns="0" rIns="0" bIns="0" rtlCol="0" anchor="t">
            <a:noAutofit/>
          </a:bodyPr>
          <a:lstStyle/>
          <a:p>
            <a:pPr marL="0" indent="0" algn="ctr">
              <a:buNone/>
            </a:pPr>
            <a:r>
              <a:rPr lang="fr-FR" sz="1150" b="1" dirty="0">
                <a:solidFill>
                  <a:srgbClr val="333333"/>
                </a:solidFill>
                <a:latin typeface="Arial"/>
                <a:cs typeface="Arial"/>
              </a:rPr>
              <a:t>Orthophoto</a:t>
            </a:r>
            <a:endParaRPr lang="fr-FR" sz="1150" dirty="0"/>
          </a:p>
          <a:p>
            <a:pPr marL="0" indent="0" algn="ctr">
              <a:buNone/>
            </a:pPr>
            <a:r>
              <a:rPr lang="fr-FR" sz="900" dirty="0">
                <a:solidFill>
                  <a:srgbClr val="5D5D5D"/>
                </a:solidFill>
                <a:latin typeface="Calibri"/>
                <a:cs typeface="Calibri"/>
              </a:rPr>
              <a:t>IGN 20 cm</a:t>
            </a:r>
            <a:endParaRPr lang="fr-FR" sz="900" dirty="0"/>
          </a:p>
        </p:txBody>
      </p:sp>
      <p:cxnSp>
        <p:nvCxnSpPr>
          <p:cNvPr id="11" name="Flèche 11"/>
          <p:cNvCxnSpPr/>
          <p:nvPr/>
        </p:nvCxnSpPr>
        <p:spPr>
          <a:xfrm>
            <a:off x="2194560" y="1938528"/>
            <a:ext cx="457200" cy="0"/>
          </a:xfrm>
          <a:prstGeom prst="straightConnector1">
            <a:avLst/>
          </a:prstGeom>
          <a:ln w="22225">
            <a:solidFill>
              <a:srgbClr val="009FE3"/>
            </a:solidFill>
            <a:tailEnd type="triangle" w="med" len="med"/>
          </a:ln>
        </p:spPr>
      </p:cxnSp>
      <p:pic>
        <p:nvPicPr>
          <p:cNvPr id="12" name="Image 12" descr="illu_etape_2_masque.png"/>
          <p:cNvPicPr>
            <a:picLocks noChangeAspect="1"/>
          </p:cNvPicPr>
          <p:nvPr/>
        </p:nvPicPr>
        <p:blipFill>
          <a:blip r:embed="rId5"/>
          <a:stretch>
            <a:fillRect/>
          </a:stretch>
        </p:blipFill>
        <p:spPr>
          <a:xfrm>
            <a:off x="2770632" y="1188720"/>
            <a:ext cx="1508760" cy="1508760"/>
          </a:xfrm>
          <a:prstGeom prst="rect">
            <a:avLst/>
          </a:prstGeom>
          <a:ln w="9525">
            <a:solidFill>
              <a:srgbClr val="D0D4D7"/>
            </a:solidFill>
          </a:ln>
        </p:spPr>
      </p:pic>
      <p:sp>
        <p:nvSpPr>
          <p:cNvPr id="13" name="Shape 13"/>
          <p:cNvSpPr txBox="1"/>
          <p:nvPr/>
        </p:nvSpPr>
        <p:spPr>
          <a:xfrm>
            <a:off x="2587752" y="2743200"/>
            <a:ext cx="1874520" cy="384048"/>
          </a:xfrm>
          <a:prstGeom prst="rect">
            <a:avLst/>
          </a:prstGeom>
          <a:noFill/>
          <a:ln>
            <a:noFill/>
          </a:ln>
        </p:spPr>
        <p:txBody>
          <a:bodyPr wrap="square" lIns="0" tIns="0" rIns="0" bIns="0" rtlCol="0" anchor="t">
            <a:noAutofit/>
          </a:bodyPr>
          <a:lstStyle/>
          <a:p>
            <a:pPr marL="0" indent="0" algn="ctr">
              <a:buNone/>
            </a:pPr>
            <a:r>
              <a:rPr lang="fr-FR" sz="1150" b="1" dirty="0">
                <a:solidFill>
                  <a:srgbClr val="333333"/>
                </a:solidFill>
                <a:latin typeface="Arial"/>
                <a:cs typeface="Arial"/>
              </a:rPr>
              <a:t>Masque</a:t>
            </a:r>
            <a:endParaRPr lang="fr-FR" sz="1150" dirty="0"/>
          </a:p>
          <a:p>
            <a:pPr marL="0" indent="0" algn="ctr">
              <a:buNone/>
            </a:pPr>
            <a:r>
              <a:rPr lang="fr-FR" sz="900" dirty="0">
                <a:solidFill>
                  <a:srgbClr val="5D5D5D"/>
                </a:solidFill>
                <a:latin typeface="Calibri"/>
                <a:cs typeface="Calibri"/>
              </a:rPr>
              <a:t>pixels « passage »</a:t>
            </a:r>
            <a:endParaRPr lang="fr-FR" sz="900" dirty="0"/>
          </a:p>
        </p:txBody>
      </p:sp>
      <p:cxnSp>
        <p:nvCxnSpPr>
          <p:cNvPr id="14" name="Flèche 14"/>
          <p:cNvCxnSpPr/>
          <p:nvPr/>
        </p:nvCxnSpPr>
        <p:spPr>
          <a:xfrm>
            <a:off x="4325112" y="1938528"/>
            <a:ext cx="457200" cy="0"/>
          </a:xfrm>
          <a:prstGeom prst="straightConnector1">
            <a:avLst/>
          </a:prstGeom>
          <a:ln w="22225">
            <a:solidFill>
              <a:srgbClr val="009FE3"/>
            </a:solidFill>
            <a:tailEnd type="triangle" w="med" len="med"/>
          </a:ln>
        </p:spPr>
      </p:cxnSp>
      <p:pic>
        <p:nvPicPr>
          <p:cNvPr id="15" name="Image 15" descr="illu_etape_3_contour.png"/>
          <p:cNvPicPr>
            <a:picLocks noChangeAspect="1"/>
          </p:cNvPicPr>
          <p:nvPr/>
        </p:nvPicPr>
        <p:blipFill>
          <a:blip r:embed="rId6"/>
          <a:stretch>
            <a:fillRect/>
          </a:stretch>
        </p:blipFill>
        <p:spPr>
          <a:xfrm>
            <a:off x="4901184" y="1188720"/>
            <a:ext cx="1508760" cy="1508760"/>
          </a:xfrm>
          <a:prstGeom prst="rect">
            <a:avLst/>
          </a:prstGeom>
          <a:ln w="9525">
            <a:solidFill>
              <a:srgbClr val="D0D4D7"/>
            </a:solidFill>
          </a:ln>
        </p:spPr>
      </p:pic>
      <p:sp>
        <p:nvSpPr>
          <p:cNvPr id="16" name="Shape 16"/>
          <p:cNvSpPr txBox="1"/>
          <p:nvPr/>
        </p:nvSpPr>
        <p:spPr>
          <a:xfrm>
            <a:off x="4718304" y="2743200"/>
            <a:ext cx="1874520" cy="384048"/>
          </a:xfrm>
          <a:prstGeom prst="rect">
            <a:avLst/>
          </a:prstGeom>
          <a:noFill/>
          <a:ln>
            <a:noFill/>
          </a:ln>
        </p:spPr>
        <p:txBody>
          <a:bodyPr wrap="square" lIns="0" tIns="0" rIns="0" bIns="0" rtlCol="0" anchor="t">
            <a:noAutofit/>
          </a:bodyPr>
          <a:lstStyle/>
          <a:p>
            <a:pPr marL="0" indent="0" algn="ctr">
              <a:buNone/>
            </a:pPr>
            <a:r>
              <a:rPr lang="fr-FR" sz="1150" b="1" dirty="0">
                <a:solidFill>
                  <a:srgbClr val="333333"/>
                </a:solidFill>
                <a:latin typeface="Arial"/>
                <a:cs typeface="Arial"/>
              </a:rPr>
              <a:t>Polygone</a:t>
            </a:r>
            <a:endParaRPr lang="fr-FR" sz="1150" dirty="0"/>
          </a:p>
          <a:p>
            <a:pPr marL="0" indent="0" algn="ctr">
              <a:buNone/>
            </a:pPr>
            <a:r>
              <a:rPr lang="fr-FR" sz="900" dirty="0">
                <a:solidFill>
                  <a:srgbClr val="5D5D5D"/>
                </a:solidFill>
                <a:latin typeface="Calibri"/>
                <a:cs typeface="Calibri"/>
              </a:rPr>
              <a:t>contour du passage (emprise)</a:t>
            </a:r>
            <a:endParaRPr lang="fr-FR" sz="900" dirty="0"/>
          </a:p>
        </p:txBody>
      </p:sp>
      <p:cxnSp>
        <p:nvCxnSpPr>
          <p:cNvPr id="17" name="Flèche 17"/>
          <p:cNvCxnSpPr/>
          <p:nvPr/>
        </p:nvCxnSpPr>
        <p:spPr>
          <a:xfrm>
            <a:off x="6455664" y="1938528"/>
            <a:ext cx="457200" cy="0"/>
          </a:xfrm>
          <a:prstGeom prst="straightConnector1">
            <a:avLst/>
          </a:prstGeom>
          <a:ln w="22225">
            <a:solidFill>
              <a:srgbClr val="009FE3"/>
            </a:solidFill>
            <a:tailEnd type="triangle" w="med" len="med"/>
          </a:ln>
        </p:spPr>
      </p:cxnSp>
      <p:pic>
        <p:nvPicPr>
          <p:cNvPr id="18" name="Image 18" descr="illu_etape_4_point.png"/>
          <p:cNvPicPr>
            <a:picLocks noChangeAspect="1"/>
          </p:cNvPicPr>
          <p:nvPr/>
        </p:nvPicPr>
        <p:blipFill>
          <a:blip r:embed="rId7"/>
          <a:stretch>
            <a:fillRect/>
          </a:stretch>
        </p:blipFill>
        <p:spPr>
          <a:xfrm>
            <a:off x="7031736" y="1188720"/>
            <a:ext cx="1508760" cy="1508760"/>
          </a:xfrm>
          <a:prstGeom prst="rect">
            <a:avLst/>
          </a:prstGeom>
          <a:ln w="9525">
            <a:solidFill>
              <a:srgbClr val="D0D4D7"/>
            </a:solidFill>
          </a:ln>
        </p:spPr>
      </p:pic>
      <p:sp>
        <p:nvSpPr>
          <p:cNvPr id="19" name="Shape 19"/>
          <p:cNvSpPr txBox="1"/>
          <p:nvPr/>
        </p:nvSpPr>
        <p:spPr>
          <a:xfrm>
            <a:off x="6848856" y="2743200"/>
            <a:ext cx="1874520" cy="384048"/>
          </a:xfrm>
          <a:prstGeom prst="rect">
            <a:avLst/>
          </a:prstGeom>
          <a:noFill/>
          <a:ln>
            <a:noFill/>
          </a:ln>
        </p:spPr>
        <p:txBody>
          <a:bodyPr wrap="square" lIns="0" tIns="0" rIns="0" bIns="0" rtlCol="0" anchor="t">
            <a:noAutofit/>
          </a:bodyPr>
          <a:lstStyle/>
          <a:p>
            <a:pPr marL="0" indent="0" algn="ctr">
              <a:buNone/>
            </a:pPr>
            <a:r>
              <a:rPr lang="fr-FR" sz="1150" b="1" dirty="0">
                <a:solidFill>
                  <a:srgbClr val="333333"/>
                </a:solidFill>
                <a:latin typeface="Arial"/>
                <a:cs typeface="Arial"/>
              </a:rPr>
              <a:t>Point</a:t>
            </a:r>
            <a:endParaRPr lang="fr-FR" sz="1150" dirty="0"/>
          </a:p>
          <a:p>
            <a:pPr marL="0" indent="0" algn="ctr">
              <a:buNone/>
            </a:pPr>
            <a:r>
              <a:rPr lang="fr-FR" sz="900" dirty="0" err="1">
                <a:solidFill>
                  <a:srgbClr val="5D5D5D"/>
                </a:solidFill>
                <a:latin typeface="Calibri"/>
                <a:cs typeface="Calibri"/>
              </a:rPr>
              <a:t>centroid</a:t>
            </a:r>
            <a:r>
              <a:rPr lang="fr-FR" sz="900" dirty="0">
                <a:solidFill>
                  <a:srgbClr val="5D5D5D"/>
                </a:solidFill>
                <a:latin typeface="Calibri"/>
                <a:cs typeface="Calibri"/>
              </a:rPr>
              <a:t>, en Lambert-93</a:t>
            </a:r>
            <a:endParaRPr lang="fr-FR" sz="900" dirty="0"/>
          </a:p>
        </p:txBody>
      </p:sp>
      <p:sp>
        <p:nvSpPr>
          <p:cNvPr id="20" name="Shape 20"/>
          <p:cNvSpPr/>
          <p:nvPr/>
        </p:nvSpPr>
        <p:spPr>
          <a:xfrm>
            <a:off x="457200" y="3291840"/>
            <a:ext cx="2651760" cy="1371600"/>
          </a:xfrm>
          <a:prstGeom prst="rect">
            <a:avLst/>
          </a:prstGeom>
          <a:solidFill>
            <a:srgbClr val="F0F0F0"/>
          </a:solidFill>
          <a:ln>
            <a:noFill/>
          </a:ln>
        </p:spPr>
        <p:txBody>
          <a:bodyPr wrap="square" lIns="128016" tIns="91440" rIns="128016" bIns="73152" rtlCol="0" anchor="t">
            <a:noAutofit/>
          </a:bodyPr>
          <a:lstStyle/>
          <a:p>
            <a:pPr marL="0" indent="0" algn="l">
              <a:spcAft>
                <a:spcPts val="400"/>
              </a:spcAft>
              <a:buNone/>
            </a:pPr>
            <a:r>
              <a:rPr lang="fr-FR" sz="1250" b="1" dirty="0">
                <a:solidFill>
                  <a:srgbClr val="009FE3"/>
                </a:solidFill>
                <a:latin typeface="Arial"/>
                <a:cs typeface="Arial"/>
              </a:rPr>
              <a:t>Compter</a:t>
            </a:r>
            <a:endParaRPr lang="fr-FR" sz="1250" dirty="0"/>
          </a:p>
          <a:p>
            <a:pPr marL="0" indent="0" algn="l">
              <a:buNone/>
            </a:pPr>
            <a:r>
              <a:rPr lang="fr-FR" sz="1050" dirty="0">
                <a:solidFill>
                  <a:srgbClr val="5D5D5D"/>
                </a:solidFill>
                <a:latin typeface="Calibri"/>
                <a:cs typeface="Calibri"/>
              </a:rPr>
              <a:t>Un point par passage. On compte par quartier et par commune.</a:t>
            </a:r>
            <a:endParaRPr lang="fr-FR" sz="1050" dirty="0"/>
          </a:p>
        </p:txBody>
      </p:sp>
      <p:sp>
        <p:nvSpPr>
          <p:cNvPr id="21" name="Shape 21"/>
          <p:cNvSpPr/>
          <p:nvPr/>
        </p:nvSpPr>
        <p:spPr>
          <a:xfrm>
            <a:off x="3246120" y="3291840"/>
            <a:ext cx="2651760" cy="1371600"/>
          </a:xfrm>
          <a:prstGeom prst="rect">
            <a:avLst/>
          </a:prstGeom>
          <a:solidFill>
            <a:srgbClr val="F0F0F0"/>
          </a:solidFill>
          <a:ln>
            <a:noFill/>
          </a:ln>
        </p:spPr>
        <p:txBody>
          <a:bodyPr wrap="square" lIns="128016" tIns="91440" rIns="128016" bIns="73152" rtlCol="0" anchor="t">
            <a:noAutofit/>
          </a:bodyPr>
          <a:lstStyle/>
          <a:p>
            <a:pPr marL="0" indent="0" algn="l">
              <a:spcAft>
                <a:spcPts val="400"/>
              </a:spcAft>
              <a:buNone/>
            </a:pPr>
            <a:r>
              <a:rPr lang="fr-FR" sz="1250" b="1" dirty="0">
                <a:solidFill>
                  <a:srgbClr val="009FE3"/>
                </a:solidFill>
                <a:latin typeface="Arial"/>
                <a:cs typeface="Arial"/>
              </a:rPr>
              <a:t>Localiser</a:t>
            </a:r>
            <a:endParaRPr lang="fr-FR" sz="1250" dirty="0"/>
          </a:p>
          <a:p>
            <a:pPr marL="0" indent="0" algn="l">
              <a:buNone/>
            </a:pPr>
            <a:r>
              <a:rPr lang="fr-FR" sz="1050" dirty="0">
                <a:solidFill>
                  <a:srgbClr val="5D5D5D"/>
                </a:solidFill>
                <a:latin typeface="Calibri"/>
                <a:cs typeface="Calibri"/>
              </a:rPr>
              <a:t>Le point tombe sur le passage. Notre cible : moins de 1,5 m d'écart.</a:t>
            </a:r>
            <a:endParaRPr lang="fr-FR" sz="1050" dirty="0"/>
          </a:p>
        </p:txBody>
      </p:sp>
      <p:sp>
        <p:nvSpPr>
          <p:cNvPr id="22" name="Shape 22"/>
          <p:cNvSpPr/>
          <p:nvPr/>
        </p:nvSpPr>
        <p:spPr>
          <a:xfrm>
            <a:off x="6035040" y="3291840"/>
            <a:ext cx="2651760" cy="1371600"/>
          </a:xfrm>
          <a:prstGeom prst="rect">
            <a:avLst/>
          </a:prstGeom>
          <a:solidFill>
            <a:srgbClr val="F0F0F0"/>
          </a:solidFill>
          <a:ln>
            <a:noFill/>
          </a:ln>
        </p:spPr>
        <p:txBody>
          <a:bodyPr wrap="square" lIns="128016" tIns="91440" rIns="128016" bIns="73152" rtlCol="0" anchor="t">
            <a:noAutofit/>
          </a:bodyPr>
          <a:lstStyle/>
          <a:p>
            <a:pPr marL="0" indent="0" algn="l">
              <a:spcAft>
                <a:spcPts val="400"/>
              </a:spcAft>
              <a:buNone/>
            </a:pPr>
            <a:r>
              <a:rPr lang="fr-FR" sz="1250" b="1" dirty="0">
                <a:solidFill>
                  <a:srgbClr val="009FE3"/>
                </a:solidFill>
                <a:latin typeface="Arial"/>
                <a:cs typeface="Arial"/>
              </a:rPr>
              <a:t>Mesurer</a:t>
            </a:r>
            <a:endParaRPr lang="fr-FR" sz="1250" dirty="0"/>
          </a:p>
          <a:p>
            <a:pPr marL="0" indent="0" algn="l">
              <a:buNone/>
            </a:pPr>
            <a:r>
              <a:rPr lang="fr-FR" sz="1050" dirty="0">
                <a:solidFill>
                  <a:srgbClr val="5D5D5D"/>
                </a:solidFill>
                <a:latin typeface="Calibri"/>
                <a:cs typeface="Calibri"/>
              </a:rPr>
              <a:t>Le polygone donne déjà la surface d'emprise, la largeur, la longueur et l'orientation.</a:t>
            </a:r>
            <a:endParaRPr lang="fr-FR"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RÉSULTAT SUR LE QUARTIER DE TEST</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Sur Vanves, jamais vu à l'entraînement, zéro point parasite</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15</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9"/>
          <p:cNvSpPr/>
          <p:nvPr/>
        </p:nvSpPr>
        <p:spPr>
          <a:xfrm>
            <a:off x="457200" y="1511529"/>
            <a:ext cx="1920240" cy="1600200"/>
          </a:xfrm>
          <a:prstGeom prst="rect">
            <a:avLst/>
          </a:prstGeom>
          <a:solidFill>
            <a:srgbClr val="F0F0F0"/>
          </a:solidFill>
          <a:ln>
            <a:noFill/>
          </a:ln>
        </p:spPr>
        <p:txBody>
          <a:bodyPr wrap="square" lIns="73152" tIns="73152" rIns="73152" bIns="73152" rtlCol="0" anchor="ctr">
            <a:noAutofit/>
          </a:bodyPr>
          <a:lstStyle/>
          <a:p>
            <a:pPr marL="0" indent="0" algn="ctr">
              <a:spcAft>
                <a:spcPts val="400"/>
              </a:spcAft>
              <a:buNone/>
            </a:pPr>
            <a:r>
              <a:rPr lang="fr-FR" sz="3000" b="1" dirty="0">
                <a:solidFill>
                  <a:srgbClr val="95C11F"/>
                </a:solidFill>
                <a:latin typeface="Arial"/>
                <a:cs typeface="Arial"/>
              </a:rPr>
              <a:t>0</a:t>
            </a:r>
            <a:endParaRPr lang="fr-FR" sz="3000" dirty="0"/>
          </a:p>
          <a:p>
            <a:pPr marL="0" indent="0" algn="ctr">
              <a:buNone/>
            </a:pPr>
            <a:r>
              <a:rPr lang="fr-FR" sz="1100" dirty="0">
                <a:solidFill>
                  <a:srgbClr val="333333"/>
                </a:solidFill>
                <a:latin typeface="Calibri"/>
                <a:cs typeface="Calibri"/>
              </a:rPr>
              <a:t>point parasite</a:t>
            </a:r>
            <a:endParaRPr lang="fr-FR" sz="1100" dirty="0"/>
          </a:p>
        </p:txBody>
      </p:sp>
      <p:sp>
        <p:nvSpPr>
          <p:cNvPr id="10" name="Shape 10"/>
          <p:cNvSpPr/>
          <p:nvPr/>
        </p:nvSpPr>
        <p:spPr>
          <a:xfrm>
            <a:off x="2560320" y="1511529"/>
            <a:ext cx="1920240" cy="1600200"/>
          </a:xfrm>
          <a:prstGeom prst="rect">
            <a:avLst/>
          </a:prstGeom>
          <a:solidFill>
            <a:srgbClr val="F0F0F0"/>
          </a:solidFill>
          <a:ln>
            <a:noFill/>
          </a:ln>
        </p:spPr>
        <p:txBody>
          <a:bodyPr wrap="square" lIns="73152" tIns="73152" rIns="73152" bIns="73152" rtlCol="0" anchor="ctr">
            <a:noAutofit/>
          </a:bodyPr>
          <a:lstStyle/>
          <a:p>
            <a:pPr marL="0" indent="0" algn="ctr">
              <a:spcAft>
                <a:spcPts val="400"/>
              </a:spcAft>
              <a:buNone/>
            </a:pPr>
            <a:r>
              <a:rPr lang="fr-FR" sz="3000" b="1" dirty="0">
                <a:solidFill>
                  <a:srgbClr val="009FE3"/>
                </a:solidFill>
                <a:latin typeface="Arial"/>
                <a:cs typeface="Arial"/>
              </a:rPr>
              <a:t>89 %</a:t>
            </a:r>
            <a:endParaRPr lang="fr-FR" sz="3000" dirty="0"/>
          </a:p>
          <a:p>
            <a:pPr marL="0" indent="0" algn="ctr">
              <a:buNone/>
            </a:pPr>
            <a:r>
              <a:rPr lang="fr-FR" sz="1100" dirty="0">
                <a:solidFill>
                  <a:srgbClr val="333333"/>
                </a:solidFill>
                <a:latin typeface="Calibri"/>
                <a:cs typeface="Calibri"/>
              </a:rPr>
              <a:t>des passages retrouvés</a:t>
            </a:r>
            <a:endParaRPr lang="fr-FR" sz="1100" dirty="0"/>
          </a:p>
          <a:p>
            <a:pPr marL="0" indent="0" algn="ctr">
              <a:buNone/>
            </a:pPr>
            <a:r>
              <a:rPr lang="fr-FR" sz="1100" dirty="0">
                <a:solidFill>
                  <a:srgbClr val="333333"/>
                </a:solidFill>
                <a:latin typeface="Calibri"/>
                <a:cs typeface="Calibri"/>
              </a:rPr>
              <a:t>76 sur 85</a:t>
            </a:r>
            <a:endParaRPr lang="fr-FR" sz="1100" dirty="0"/>
          </a:p>
        </p:txBody>
      </p:sp>
      <p:sp>
        <p:nvSpPr>
          <p:cNvPr id="11" name="Shape 11"/>
          <p:cNvSpPr/>
          <p:nvPr/>
        </p:nvSpPr>
        <p:spPr>
          <a:xfrm>
            <a:off x="4663440" y="1511529"/>
            <a:ext cx="1920240" cy="1600200"/>
          </a:xfrm>
          <a:prstGeom prst="rect">
            <a:avLst/>
          </a:prstGeom>
          <a:solidFill>
            <a:srgbClr val="F0F0F0"/>
          </a:solidFill>
          <a:ln>
            <a:noFill/>
          </a:ln>
        </p:spPr>
        <p:txBody>
          <a:bodyPr wrap="square" lIns="73152" tIns="73152" rIns="73152" bIns="73152" rtlCol="0" anchor="ctr">
            <a:noAutofit/>
          </a:bodyPr>
          <a:lstStyle/>
          <a:p>
            <a:pPr marL="0" indent="0" algn="ctr">
              <a:spcAft>
                <a:spcPts val="400"/>
              </a:spcAft>
              <a:buNone/>
            </a:pPr>
            <a:r>
              <a:rPr lang="fr-FR" sz="3000" b="1" dirty="0">
                <a:solidFill>
                  <a:srgbClr val="009FE3"/>
                </a:solidFill>
                <a:latin typeface="Arial"/>
                <a:cs typeface="Arial"/>
              </a:rPr>
              <a:t>0,40 m</a:t>
            </a:r>
            <a:endParaRPr lang="fr-FR" sz="3000" dirty="0"/>
          </a:p>
          <a:p>
            <a:pPr marL="0" indent="0" algn="ctr">
              <a:buNone/>
            </a:pPr>
            <a:r>
              <a:rPr lang="fr-FR" sz="1100" dirty="0">
                <a:solidFill>
                  <a:srgbClr val="333333"/>
                </a:solidFill>
                <a:latin typeface="Calibri"/>
                <a:cs typeface="Calibri"/>
              </a:rPr>
              <a:t>écart médian</a:t>
            </a:r>
            <a:endParaRPr lang="fr-FR" sz="1100" dirty="0"/>
          </a:p>
          <a:p>
            <a:pPr marL="0" indent="0" algn="ctr">
              <a:buNone/>
            </a:pPr>
            <a:r>
              <a:rPr lang="fr-FR" sz="1100" dirty="0">
                <a:solidFill>
                  <a:srgbClr val="333333"/>
                </a:solidFill>
                <a:latin typeface="Calibri"/>
                <a:cs typeface="Calibri"/>
              </a:rPr>
              <a:t>du centre</a:t>
            </a:r>
            <a:endParaRPr lang="fr-FR" sz="1100" dirty="0"/>
          </a:p>
        </p:txBody>
      </p:sp>
      <p:sp>
        <p:nvSpPr>
          <p:cNvPr id="12" name="Shape 12"/>
          <p:cNvSpPr/>
          <p:nvPr/>
        </p:nvSpPr>
        <p:spPr>
          <a:xfrm>
            <a:off x="6766560" y="1511529"/>
            <a:ext cx="1920240" cy="1600200"/>
          </a:xfrm>
          <a:prstGeom prst="rect">
            <a:avLst/>
          </a:prstGeom>
          <a:solidFill>
            <a:srgbClr val="F0F0F0"/>
          </a:solidFill>
          <a:ln>
            <a:noFill/>
          </a:ln>
        </p:spPr>
        <p:txBody>
          <a:bodyPr wrap="square" lIns="73152" tIns="73152" rIns="73152" bIns="73152" rtlCol="0" anchor="ctr">
            <a:noAutofit/>
          </a:bodyPr>
          <a:lstStyle/>
          <a:p>
            <a:pPr marL="0" indent="0" algn="ctr">
              <a:spcAft>
                <a:spcPts val="400"/>
              </a:spcAft>
              <a:buNone/>
            </a:pPr>
            <a:r>
              <a:rPr lang="fr-FR" sz="3000" b="1" dirty="0">
                <a:solidFill>
                  <a:srgbClr val="009FE3"/>
                </a:solidFill>
                <a:latin typeface="Arial"/>
                <a:cs typeface="Arial"/>
              </a:rPr>
              <a:t>91 %</a:t>
            </a:r>
            <a:endParaRPr lang="fr-FR" sz="3000" dirty="0"/>
          </a:p>
          <a:p>
            <a:pPr marL="0" indent="0" algn="ctr">
              <a:buNone/>
            </a:pPr>
            <a:r>
              <a:rPr lang="fr-FR" sz="1100" dirty="0">
                <a:solidFill>
                  <a:srgbClr val="333333"/>
                </a:solidFill>
                <a:latin typeface="Calibri"/>
                <a:cs typeface="Calibri"/>
              </a:rPr>
              <a:t>des centres à moins</a:t>
            </a:r>
            <a:endParaRPr lang="fr-FR" sz="1100" dirty="0"/>
          </a:p>
          <a:p>
            <a:pPr marL="0" indent="0" algn="ctr">
              <a:buNone/>
            </a:pPr>
            <a:r>
              <a:rPr lang="fr-FR" sz="1100" dirty="0">
                <a:solidFill>
                  <a:srgbClr val="333333"/>
                </a:solidFill>
                <a:latin typeface="Calibri"/>
                <a:cs typeface="Calibri"/>
              </a:rPr>
              <a:t>de 1,5 m</a:t>
            </a:r>
            <a:endParaRPr lang="fr-FR" sz="1100" dirty="0"/>
          </a:p>
        </p:txBody>
      </p:sp>
      <p:sp>
        <p:nvSpPr>
          <p:cNvPr id="13" name="Shape 13"/>
          <p:cNvSpPr/>
          <p:nvPr/>
        </p:nvSpPr>
        <p:spPr>
          <a:xfrm>
            <a:off x="457200" y="3294609"/>
            <a:ext cx="8229600" cy="777240"/>
          </a:xfrm>
          <a:prstGeom prst="rect">
            <a:avLst/>
          </a:prstGeom>
          <a:solidFill>
            <a:srgbClr val="FFFFFF"/>
          </a:solidFill>
          <a:ln w="12700">
            <a:solidFill>
              <a:srgbClr val="009FE3"/>
            </a:solidFill>
          </a:ln>
        </p:spPr>
        <p:txBody>
          <a:bodyPr wrap="square" lIns="146304" tIns="54864" rIns="146304" bIns="54864" rtlCol="0" anchor="ctr">
            <a:noAutofit/>
          </a:bodyPr>
          <a:lstStyle/>
          <a:p>
            <a:pPr marL="0" indent="0" algn="l">
              <a:buNone/>
            </a:pPr>
            <a:r>
              <a:rPr lang="fr-FR" sz="1150" dirty="0">
                <a:solidFill>
                  <a:srgbClr val="333333"/>
                </a:solidFill>
                <a:latin typeface="Calibri"/>
                <a:cs typeface="Calibri"/>
              </a:rPr>
              <a:t>Sur les 9 passages manqués, 6 sont bien détectés mais collés à un voisin dans un carrefour. Ils sont comptés comme un seul objet, et l'alerte « fusion probable » les signale.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LE POST-TRAITEMENT</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Le post-traitement trie ce qu'il faut vérifier</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16</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9"/>
          <p:cNvSpPr/>
          <p:nvPr/>
        </p:nvSpPr>
        <p:spPr>
          <a:xfrm>
            <a:off x="457200" y="1188720"/>
            <a:ext cx="365760" cy="365760"/>
          </a:xfrm>
          <a:prstGeom prst="ellipse">
            <a:avLst/>
          </a:prstGeom>
          <a:solidFill>
            <a:srgbClr val="009FE3"/>
          </a:solidFill>
          <a:ln>
            <a:noFill/>
          </a:ln>
        </p:spPr>
        <p:txBody>
          <a:bodyPr wrap="square" lIns="0" tIns="0" rIns="0" bIns="0" rtlCol="0" anchor="ctr">
            <a:noAutofit/>
          </a:bodyPr>
          <a:lstStyle/>
          <a:p>
            <a:pPr marL="0" indent="0" algn="ctr">
              <a:buNone/>
            </a:pPr>
            <a:r>
              <a:rPr lang="fr-FR" sz="1200" b="1" dirty="0">
                <a:solidFill>
                  <a:srgbClr val="FFFFFF"/>
                </a:solidFill>
                <a:latin typeface="Arial"/>
                <a:cs typeface="Arial"/>
              </a:rPr>
              <a:t>1</a:t>
            </a:r>
            <a:endParaRPr lang="fr-FR" sz="1200" dirty="0"/>
          </a:p>
        </p:txBody>
      </p:sp>
      <p:sp>
        <p:nvSpPr>
          <p:cNvPr id="10" name="Shape 10"/>
          <p:cNvSpPr txBox="1"/>
          <p:nvPr/>
        </p:nvSpPr>
        <p:spPr>
          <a:xfrm>
            <a:off x="960120" y="1161288"/>
            <a:ext cx="3200400" cy="237744"/>
          </a:xfrm>
          <a:prstGeom prst="rect">
            <a:avLst/>
          </a:prstGeom>
          <a:noFill/>
          <a:ln>
            <a:noFill/>
          </a:ln>
        </p:spPr>
        <p:txBody>
          <a:bodyPr wrap="square" lIns="0" tIns="0" rIns="0" bIns="0" rtlCol="0" anchor="t">
            <a:noAutofit/>
          </a:bodyPr>
          <a:lstStyle/>
          <a:p>
            <a:pPr marL="0" indent="0" algn="l">
              <a:buNone/>
            </a:pPr>
            <a:r>
              <a:rPr lang="fr-FR" sz="1150" b="1" dirty="0">
                <a:solidFill>
                  <a:srgbClr val="333333"/>
                </a:solidFill>
                <a:latin typeface="Arial"/>
                <a:cs typeface="Arial"/>
              </a:rPr>
              <a:t>Recoller les tuiles</a:t>
            </a:r>
            <a:endParaRPr lang="fr-FR" sz="1150" dirty="0"/>
          </a:p>
        </p:txBody>
      </p:sp>
      <p:sp>
        <p:nvSpPr>
          <p:cNvPr id="11" name="Shape 11"/>
          <p:cNvSpPr txBox="1"/>
          <p:nvPr/>
        </p:nvSpPr>
        <p:spPr>
          <a:xfrm>
            <a:off x="960120" y="1389888"/>
            <a:ext cx="3200400" cy="274320"/>
          </a:xfrm>
          <a:prstGeom prst="rect">
            <a:avLst/>
          </a:prstGeom>
          <a:noFill/>
          <a:ln>
            <a:noFill/>
          </a:ln>
        </p:spPr>
        <p:txBody>
          <a:bodyPr wrap="square" lIns="0" tIns="0" rIns="0" bIns="0" rtlCol="0" anchor="t">
            <a:noAutofit/>
          </a:bodyPr>
          <a:lstStyle/>
          <a:p>
            <a:pPr marL="0" indent="0" algn="l">
              <a:buNone/>
            </a:pPr>
            <a:r>
              <a:rPr lang="fr-FR" sz="950" dirty="0">
                <a:solidFill>
                  <a:srgbClr val="5D5D5D"/>
                </a:solidFill>
                <a:latin typeface="Calibri"/>
                <a:cs typeface="Calibri"/>
              </a:rPr>
              <a:t>un passage vu sur plusieurs tuiles ne compte qu'une fois</a:t>
            </a:r>
            <a:endParaRPr lang="fr-FR" sz="950" dirty="0"/>
          </a:p>
        </p:txBody>
      </p:sp>
      <p:sp>
        <p:nvSpPr>
          <p:cNvPr id="12" name="Shape 12"/>
          <p:cNvSpPr/>
          <p:nvPr/>
        </p:nvSpPr>
        <p:spPr>
          <a:xfrm>
            <a:off x="457200" y="1737360"/>
            <a:ext cx="365760" cy="365760"/>
          </a:xfrm>
          <a:prstGeom prst="ellipse">
            <a:avLst/>
          </a:prstGeom>
          <a:solidFill>
            <a:srgbClr val="009FE3"/>
          </a:solidFill>
          <a:ln>
            <a:noFill/>
          </a:ln>
        </p:spPr>
        <p:txBody>
          <a:bodyPr wrap="square" lIns="0" tIns="0" rIns="0" bIns="0" rtlCol="0" anchor="ctr">
            <a:noAutofit/>
          </a:bodyPr>
          <a:lstStyle/>
          <a:p>
            <a:pPr marL="0" indent="0" algn="ctr">
              <a:buNone/>
            </a:pPr>
            <a:r>
              <a:rPr lang="fr-FR" sz="1200" b="1" dirty="0">
                <a:solidFill>
                  <a:srgbClr val="FFFFFF"/>
                </a:solidFill>
                <a:latin typeface="Arial"/>
                <a:cs typeface="Arial"/>
              </a:rPr>
              <a:t>2</a:t>
            </a:r>
            <a:endParaRPr lang="fr-FR" sz="1200" dirty="0"/>
          </a:p>
        </p:txBody>
      </p:sp>
      <p:sp>
        <p:nvSpPr>
          <p:cNvPr id="13" name="Shape 13"/>
          <p:cNvSpPr txBox="1"/>
          <p:nvPr/>
        </p:nvSpPr>
        <p:spPr>
          <a:xfrm>
            <a:off x="960120" y="1709928"/>
            <a:ext cx="3200400" cy="237744"/>
          </a:xfrm>
          <a:prstGeom prst="rect">
            <a:avLst/>
          </a:prstGeom>
          <a:noFill/>
          <a:ln>
            <a:noFill/>
          </a:ln>
        </p:spPr>
        <p:txBody>
          <a:bodyPr wrap="square" lIns="0" tIns="0" rIns="0" bIns="0" rtlCol="0" anchor="t">
            <a:noAutofit/>
          </a:bodyPr>
          <a:lstStyle/>
          <a:p>
            <a:pPr marL="0" indent="0" algn="l">
              <a:buNone/>
            </a:pPr>
            <a:r>
              <a:rPr lang="fr-FR" sz="1150" b="1" dirty="0">
                <a:solidFill>
                  <a:srgbClr val="333333"/>
                </a:solidFill>
                <a:latin typeface="Arial"/>
                <a:cs typeface="Arial"/>
              </a:rPr>
              <a:t>Retirer les petites taches</a:t>
            </a:r>
            <a:endParaRPr lang="fr-FR" sz="1150" dirty="0"/>
          </a:p>
        </p:txBody>
      </p:sp>
      <p:sp>
        <p:nvSpPr>
          <p:cNvPr id="14" name="Shape 14"/>
          <p:cNvSpPr txBox="1"/>
          <p:nvPr/>
        </p:nvSpPr>
        <p:spPr>
          <a:xfrm>
            <a:off x="960120" y="1938528"/>
            <a:ext cx="3200400" cy="274320"/>
          </a:xfrm>
          <a:prstGeom prst="rect">
            <a:avLst/>
          </a:prstGeom>
          <a:noFill/>
          <a:ln>
            <a:noFill/>
          </a:ln>
        </p:spPr>
        <p:txBody>
          <a:bodyPr wrap="square" lIns="0" tIns="0" rIns="0" bIns="0" rtlCol="0" anchor="t">
            <a:noAutofit/>
          </a:bodyPr>
          <a:lstStyle/>
          <a:p>
            <a:pPr marL="0" indent="0" algn="l">
              <a:buNone/>
            </a:pPr>
            <a:r>
              <a:rPr lang="fr-FR" sz="950" dirty="0">
                <a:solidFill>
                  <a:srgbClr val="5D5D5D"/>
                </a:solidFill>
                <a:latin typeface="Calibri"/>
                <a:cs typeface="Calibri"/>
              </a:rPr>
              <a:t>moins de 6 m²</a:t>
            </a:r>
            <a:endParaRPr lang="fr-FR" sz="950" dirty="0"/>
          </a:p>
        </p:txBody>
      </p:sp>
      <p:sp>
        <p:nvSpPr>
          <p:cNvPr id="15" name="Shape 15"/>
          <p:cNvSpPr/>
          <p:nvPr/>
        </p:nvSpPr>
        <p:spPr>
          <a:xfrm>
            <a:off x="457200" y="2286000"/>
            <a:ext cx="365760" cy="365760"/>
          </a:xfrm>
          <a:prstGeom prst="ellipse">
            <a:avLst/>
          </a:prstGeom>
          <a:solidFill>
            <a:srgbClr val="009FE3"/>
          </a:solidFill>
          <a:ln>
            <a:noFill/>
          </a:ln>
        </p:spPr>
        <p:txBody>
          <a:bodyPr wrap="square" lIns="0" tIns="0" rIns="0" bIns="0" rtlCol="0" anchor="ctr">
            <a:noAutofit/>
          </a:bodyPr>
          <a:lstStyle/>
          <a:p>
            <a:pPr marL="0" indent="0" algn="ctr">
              <a:buNone/>
            </a:pPr>
            <a:r>
              <a:rPr lang="fr-FR" sz="1200" b="1" dirty="0">
                <a:solidFill>
                  <a:srgbClr val="FFFFFF"/>
                </a:solidFill>
                <a:latin typeface="Arial"/>
                <a:cs typeface="Arial"/>
              </a:rPr>
              <a:t>3</a:t>
            </a:r>
            <a:endParaRPr lang="fr-FR" sz="1200" dirty="0"/>
          </a:p>
        </p:txBody>
      </p:sp>
      <p:sp>
        <p:nvSpPr>
          <p:cNvPr id="16" name="Shape 16"/>
          <p:cNvSpPr txBox="1"/>
          <p:nvPr/>
        </p:nvSpPr>
        <p:spPr>
          <a:xfrm>
            <a:off x="960120" y="2258568"/>
            <a:ext cx="3200400" cy="237744"/>
          </a:xfrm>
          <a:prstGeom prst="rect">
            <a:avLst/>
          </a:prstGeom>
          <a:noFill/>
          <a:ln>
            <a:noFill/>
          </a:ln>
        </p:spPr>
        <p:txBody>
          <a:bodyPr wrap="square" lIns="0" tIns="0" rIns="0" bIns="0" rtlCol="0" anchor="t">
            <a:noAutofit/>
          </a:bodyPr>
          <a:lstStyle/>
          <a:p>
            <a:pPr marL="0" indent="0" algn="l">
              <a:buNone/>
            </a:pPr>
            <a:r>
              <a:rPr lang="fr-FR" sz="1150" b="1" dirty="0">
                <a:solidFill>
                  <a:srgbClr val="333333"/>
                </a:solidFill>
                <a:latin typeface="Arial"/>
                <a:cs typeface="Arial"/>
              </a:rPr>
              <a:t>Faire les polygones et les points</a:t>
            </a:r>
            <a:endParaRPr lang="fr-FR" sz="1150" dirty="0"/>
          </a:p>
        </p:txBody>
      </p:sp>
      <p:sp>
        <p:nvSpPr>
          <p:cNvPr id="17" name="Shape 17"/>
          <p:cNvSpPr txBox="1"/>
          <p:nvPr/>
        </p:nvSpPr>
        <p:spPr>
          <a:xfrm>
            <a:off x="960120" y="2487168"/>
            <a:ext cx="3200400" cy="274320"/>
          </a:xfrm>
          <a:prstGeom prst="rect">
            <a:avLst/>
          </a:prstGeom>
          <a:noFill/>
          <a:ln>
            <a:noFill/>
          </a:ln>
        </p:spPr>
        <p:txBody>
          <a:bodyPr wrap="square" lIns="0" tIns="0" rIns="0" bIns="0" rtlCol="0" anchor="t">
            <a:noAutofit/>
          </a:bodyPr>
          <a:lstStyle/>
          <a:p>
            <a:pPr marL="0" indent="0" algn="l">
              <a:buNone/>
            </a:pPr>
            <a:r>
              <a:rPr lang="fr-FR" sz="950" dirty="0">
                <a:solidFill>
                  <a:srgbClr val="5D5D5D"/>
                </a:solidFill>
                <a:latin typeface="Calibri"/>
                <a:cs typeface="Calibri"/>
              </a:rPr>
              <a:t>avec surface, dimensions, commune</a:t>
            </a:r>
            <a:endParaRPr lang="fr-FR" sz="950" dirty="0"/>
          </a:p>
        </p:txBody>
      </p:sp>
      <p:sp>
        <p:nvSpPr>
          <p:cNvPr id="18" name="Shape 18"/>
          <p:cNvSpPr/>
          <p:nvPr/>
        </p:nvSpPr>
        <p:spPr>
          <a:xfrm>
            <a:off x="457200" y="2834640"/>
            <a:ext cx="365760" cy="365760"/>
          </a:xfrm>
          <a:prstGeom prst="ellipse">
            <a:avLst/>
          </a:prstGeom>
          <a:solidFill>
            <a:srgbClr val="009FE3"/>
          </a:solidFill>
          <a:ln>
            <a:noFill/>
          </a:ln>
        </p:spPr>
        <p:txBody>
          <a:bodyPr wrap="square" lIns="0" tIns="0" rIns="0" bIns="0" rtlCol="0" anchor="ctr">
            <a:noAutofit/>
          </a:bodyPr>
          <a:lstStyle/>
          <a:p>
            <a:pPr marL="0" indent="0" algn="ctr">
              <a:buNone/>
            </a:pPr>
            <a:r>
              <a:rPr lang="fr-FR" sz="1200" b="1" dirty="0">
                <a:solidFill>
                  <a:srgbClr val="FFFFFF"/>
                </a:solidFill>
                <a:latin typeface="Arial"/>
                <a:cs typeface="Arial"/>
              </a:rPr>
              <a:t>4</a:t>
            </a:r>
            <a:endParaRPr lang="fr-FR" sz="1200" dirty="0"/>
          </a:p>
        </p:txBody>
      </p:sp>
      <p:sp>
        <p:nvSpPr>
          <p:cNvPr id="19" name="Shape 19"/>
          <p:cNvSpPr txBox="1"/>
          <p:nvPr/>
        </p:nvSpPr>
        <p:spPr>
          <a:xfrm>
            <a:off x="960120" y="2807208"/>
            <a:ext cx="3200400" cy="237744"/>
          </a:xfrm>
          <a:prstGeom prst="rect">
            <a:avLst/>
          </a:prstGeom>
          <a:noFill/>
          <a:ln>
            <a:noFill/>
          </a:ln>
        </p:spPr>
        <p:txBody>
          <a:bodyPr wrap="square" lIns="0" tIns="0" rIns="0" bIns="0" rtlCol="0" anchor="t">
            <a:noAutofit/>
          </a:bodyPr>
          <a:lstStyle/>
          <a:p>
            <a:pPr marL="0" indent="0" algn="l">
              <a:buNone/>
            </a:pPr>
            <a:r>
              <a:rPr lang="fr-FR" sz="1150" b="1" dirty="0">
                <a:solidFill>
                  <a:srgbClr val="333333"/>
                </a:solidFill>
                <a:latin typeface="Arial"/>
                <a:cs typeface="Arial"/>
              </a:rPr>
              <a:t>Poser une alerte</a:t>
            </a:r>
            <a:endParaRPr lang="fr-FR" sz="1150" dirty="0"/>
          </a:p>
        </p:txBody>
      </p:sp>
      <p:sp>
        <p:nvSpPr>
          <p:cNvPr id="20" name="Shape 20"/>
          <p:cNvSpPr txBox="1"/>
          <p:nvPr/>
        </p:nvSpPr>
        <p:spPr>
          <a:xfrm>
            <a:off x="960120" y="3035808"/>
            <a:ext cx="3200400" cy="274320"/>
          </a:xfrm>
          <a:prstGeom prst="rect">
            <a:avLst/>
          </a:prstGeom>
          <a:noFill/>
          <a:ln>
            <a:noFill/>
          </a:ln>
        </p:spPr>
        <p:txBody>
          <a:bodyPr wrap="square" lIns="0" tIns="0" rIns="0" bIns="0" rtlCol="0" anchor="t">
            <a:noAutofit/>
          </a:bodyPr>
          <a:lstStyle/>
          <a:p>
            <a:pPr marL="0" indent="0" algn="l">
              <a:buNone/>
            </a:pPr>
            <a:r>
              <a:rPr lang="fr-FR" sz="950" dirty="0">
                <a:solidFill>
                  <a:srgbClr val="5D5D5D"/>
                </a:solidFill>
                <a:latin typeface="Calibri"/>
                <a:cs typeface="Calibri"/>
              </a:rPr>
              <a:t>trop petit, trop grand, forme atypique, faible confiance</a:t>
            </a:r>
            <a:endParaRPr lang="fr-FR" sz="950" dirty="0"/>
          </a:p>
        </p:txBody>
      </p:sp>
      <p:pic>
        <p:nvPicPr>
          <p:cNvPr id="21" name="Image 21" descr="illu_post_avant.png"/>
          <p:cNvPicPr>
            <a:picLocks noChangeAspect="1"/>
          </p:cNvPicPr>
          <p:nvPr/>
        </p:nvPicPr>
        <p:blipFill>
          <a:blip r:embed="rId4"/>
          <a:stretch>
            <a:fillRect/>
          </a:stretch>
        </p:blipFill>
        <p:spPr>
          <a:xfrm>
            <a:off x="4343400" y="1188720"/>
            <a:ext cx="2103120" cy="2103120"/>
          </a:xfrm>
          <a:prstGeom prst="rect">
            <a:avLst/>
          </a:prstGeom>
          <a:ln w="9525">
            <a:solidFill>
              <a:srgbClr val="D0D4D7"/>
            </a:solidFill>
          </a:ln>
        </p:spPr>
      </p:pic>
      <p:sp>
        <p:nvSpPr>
          <p:cNvPr id="22" name="Shape 22"/>
          <p:cNvSpPr txBox="1"/>
          <p:nvPr/>
        </p:nvSpPr>
        <p:spPr>
          <a:xfrm>
            <a:off x="4343400" y="3319272"/>
            <a:ext cx="2103120" cy="228600"/>
          </a:xfrm>
          <a:prstGeom prst="rect">
            <a:avLst/>
          </a:prstGeom>
          <a:noFill/>
          <a:ln>
            <a:noFill/>
          </a:ln>
        </p:spPr>
        <p:txBody>
          <a:bodyPr wrap="square" lIns="0" tIns="0" rIns="0" bIns="0" rtlCol="0" anchor="t">
            <a:noAutofit/>
          </a:bodyPr>
          <a:lstStyle/>
          <a:p>
            <a:pPr marL="0" indent="0" algn="ctr">
              <a:buNone/>
            </a:pPr>
            <a:r>
              <a:rPr lang="fr-FR" sz="1000" b="1" dirty="0">
                <a:solidFill>
                  <a:srgbClr val="333333"/>
                </a:solidFill>
                <a:latin typeface="Arial"/>
                <a:cs typeface="Arial"/>
              </a:rPr>
              <a:t>Masque brut du U-Net</a:t>
            </a:r>
            <a:endParaRPr lang="fr-FR" sz="1000" dirty="0"/>
          </a:p>
        </p:txBody>
      </p:sp>
      <p:pic>
        <p:nvPicPr>
          <p:cNvPr id="23" name="Image 23" descr="illu_post_apres.png"/>
          <p:cNvPicPr>
            <a:picLocks noChangeAspect="1"/>
          </p:cNvPicPr>
          <p:nvPr/>
        </p:nvPicPr>
        <p:blipFill>
          <a:blip r:embed="rId5"/>
          <a:stretch>
            <a:fillRect/>
          </a:stretch>
        </p:blipFill>
        <p:spPr>
          <a:xfrm>
            <a:off x="6583680" y="1188720"/>
            <a:ext cx="2103120" cy="2103120"/>
          </a:xfrm>
          <a:prstGeom prst="rect">
            <a:avLst/>
          </a:prstGeom>
          <a:ln w="9525">
            <a:solidFill>
              <a:srgbClr val="D0D4D7"/>
            </a:solidFill>
          </a:ln>
        </p:spPr>
      </p:pic>
      <p:sp>
        <p:nvSpPr>
          <p:cNvPr id="24" name="Shape 24"/>
          <p:cNvSpPr txBox="1"/>
          <p:nvPr/>
        </p:nvSpPr>
        <p:spPr>
          <a:xfrm>
            <a:off x="6583680" y="3319272"/>
            <a:ext cx="2103120" cy="228600"/>
          </a:xfrm>
          <a:prstGeom prst="rect">
            <a:avLst/>
          </a:prstGeom>
          <a:noFill/>
          <a:ln>
            <a:noFill/>
          </a:ln>
        </p:spPr>
        <p:txBody>
          <a:bodyPr wrap="square" lIns="0" tIns="0" rIns="0" bIns="0" rtlCol="0" anchor="t">
            <a:noAutofit/>
          </a:bodyPr>
          <a:lstStyle/>
          <a:p>
            <a:pPr marL="0" indent="0" algn="ctr">
              <a:buNone/>
            </a:pPr>
            <a:r>
              <a:rPr lang="fr-FR" sz="1000" b="1" dirty="0">
                <a:solidFill>
                  <a:srgbClr val="333333"/>
                </a:solidFill>
                <a:latin typeface="Arial"/>
                <a:cs typeface="Arial"/>
              </a:rPr>
              <a:t>Contours et points</a:t>
            </a:r>
            <a:endParaRPr lang="fr-FR" sz="1000" dirty="0"/>
          </a:p>
        </p:txBody>
      </p:sp>
      <p:sp>
        <p:nvSpPr>
          <p:cNvPr id="26" name="Shape 26"/>
          <p:cNvSpPr/>
          <p:nvPr/>
        </p:nvSpPr>
        <p:spPr>
          <a:xfrm>
            <a:off x="457200" y="3796320"/>
            <a:ext cx="5498701" cy="274320"/>
          </a:xfrm>
          <a:prstGeom prst="rect">
            <a:avLst/>
          </a:prstGeom>
          <a:solidFill>
            <a:srgbClr val="95C11F"/>
          </a:solidFill>
          <a:ln>
            <a:noFill/>
          </a:ln>
        </p:spPr>
        <p:txBody>
          <a:bodyPr rtlCol="0" anchor="ctr"/>
          <a:lstStyle/>
          <a:p>
            <a:endParaRPr lang="fr-FR" dirty="0"/>
          </a:p>
        </p:txBody>
      </p:sp>
      <p:sp>
        <p:nvSpPr>
          <p:cNvPr id="27" name="Shape 27"/>
          <p:cNvSpPr/>
          <p:nvPr/>
        </p:nvSpPr>
        <p:spPr>
          <a:xfrm>
            <a:off x="5955901" y="3796320"/>
            <a:ext cx="1507793" cy="274320"/>
          </a:xfrm>
          <a:prstGeom prst="rect">
            <a:avLst/>
          </a:prstGeom>
          <a:solidFill>
            <a:srgbClr val="F39200"/>
          </a:solidFill>
          <a:ln>
            <a:noFill/>
          </a:ln>
        </p:spPr>
        <p:txBody>
          <a:bodyPr rtlCol="0" anchor="ctr"/>
          <a:lstStyle/>
          <a:p>
            <a:endParaRPr lang="fr-FR" dirty="0"/>
          </a:p>
        </p:txBody>
      </p:sp>
      <p:sp>
        <p:nvSpPr>
          <p:cNvPr id="28" name="Shape 28"/>
          <p:cNvSpPr/>
          <p:nvPr/>
        </p:nvSpPr>
        <p:spPr>
          <a:xfrm>
            <a:off x="7463695" y="3796320"/>
            <a:ext cx="495568" cy="274320"/>
          </a:xfrm>
          <a:prstGeom prst="rect">
            <a:avLst/>
          </a:prstGeom>
          <a:solidFill>
            <a:srgbClr val="9B51E0"/>
          </a:solidFill>
          <a:ln>
            <a:noFill/>
          </a:ln>
        </p:spPr>
        <p:txBody>
          <a:bodyPr rtlCol="0" anchor="ctr"/>
          <a:lstStyle/>
          <a:p>
            <a:endParaRPr lang="fr-FR" dirty="0"/>
          </a:p>
        </p:txBody>
      </p:sp>
      <p:sp>
        <p:nvSpPr>
          <p:cNvPr id="29" name="Shape 29"/>
          <p:cNvSpPr/>
          <p:nvPr/>
        </p:nvSpPr>
        <p:spPr>
          <a:xfrm>
            <a:off x="7959263" y="3796320"/>
            <a:ext cx="458664" cy="274320"/>
          </a:xfrm>
          <a:prstGeom prst="rect">
            <a:avLst/>
          </a:prstGeom>
          <a:solidFill>
            <a:srgbClr val="E20134"/>
          </a:solidFill>
          <a:ln>
            <a:noFill/>
          </a:ln>
        </p:spPr>
        <p:txBody>
          <a:bodyPr rtlCol="0" anchor="ctr"/>
          <a:lstStyle/>
          <a:p>
            <a:endParaRPr lang="fr-FR" dirty="0"/>
          </a:p>
        </p:txBody>
      </p:sp>
      <p:sp>
        <p:nvSpPr>
          <p:cNvPr id="30" name="Shape 30"/>
          <p:cNvSpPr/>
          <p:nvPr/>
        </p:nvSpPr>
        <p:spPr>
          <a:xfrm>
            <a:off x="8417928" y="3796320"/>
            <a:ext cx="216152" cy="274320"/>
          </a:xfrm>
          <a:prstGeom prst="rect">
            <a:avLst/>
          </a:prstGeom>
          <a:solidFill>
            <a:srgbClr val="525DDC"/>
          </a:solidFill>
          <a:ln>
            <a:noFill/>
          </a:ln>
        </p:spPr>
        <p:txBody>
          <a:bodyPr rtlCol="0" anchor="ctr"/>
          <a:lstStyle/>
          <a:p>
            <a:endParaRPr lang="fr-FR" dirty="0"/>
          </a:p>
        </p:txBody>
      </p:sp>
      <p:sp>
        <p:nvSpPr>
          <p:cNvPr id="31" name="Shape 31"/>
          <p:cNvSpPr/>
          <p:nvPr/>
        </p:nvSpPr>
        <p:spPr>
          <a:xfrm>
            <a:off x="8634080" y="3796320"/>
            <a:ext cx="52720" cy="274320"/>
          </a:xfrm>
          <a:prstGeom prst="rect">
            <a:avLst/>
          </a:prstGeom>
          <a:solidFill>
            <a:srgbClr val="5D5D5D"/>
          </a:solidFill>
          <a:ln>
            <a:noFill/>
          </a:ln>
        </p:spPr>
        <p:txBody>
          <a:bodyPr rtlCol="0" anchor="ctr"/>
          <a:lstStyle/>
          <a:p>
            <a:endParaRPr lang="fr-FR" dirty="0"/>
          </a:p>
        </p:txBody>
      </p:sp>
      <p:sp>
        <p:nvSpPr>
          <p:cNvPr id="32" name="Shape 32"/>
          <p:cNvSpPr/>
          <p:nvPr/>
        </p:nvSpPr>
        <p:spPr>
          <a:xfrm>
            <a:off x="457200" y="4207800"/>
            <a:ext cx="128016" cy="128016"/>
          </a:xfrm>
          <a:prstGeom prst="rect">
            <a:avLst/>
          </a:prstGeom>
          <a:solidFill>
            <a:srgbClr val="95C11F"/>
          </a:solidFill>
          <a:ln>
            <a:noFill/>
          </a:ln>
        </p:spPr>
        <p:txBody>
          <a:bodyPr rtlCol="0" anchor="ctr"/>
          <a:lstStyle/>
          <a:p>
            <a:endParaRPr lang="fr-FR" dirty="0"/>
          </a:p>
        </p:txBody>
      </p:sp>
      <p:sp>
        <p:nvSpPr>
          <p:cNvPr id="33" name="Shape 33"/>
          <p:cNvSpPr txBox="1"/>
          <p:nvPr/>
        </p:nvSpPr>
        <p:spPr>
          <a:xfrm>
            <a:off x="640080" y="4134648"/>
            <a:ext cx="1188720" cy="274320"/>
          </a:xfrm>
          <a:prstGeom prst="rect">
            <a:avLst/>
          </a:prstGeom>
          <a:noFill/>
          <a:ln>
            <a:noFill/>
          </a:ln>
        </p:spPr>
        <p:txBody>
          <a:bodyPr wrap="square" lIns="0" tIns="0" rIns="0" bIns="0" rtlCol="0" anchor="ctr">
            <a:noAutofit/>
          </a:bodyPr>
          <a:lstStyle/>
          <a:p>
            <a:pPr marL="0" indent="0" algn="l">
              <a:buNone/>
            </a:pPr>
            <a:r>
              <a:rPr lang="fr-FR" sz="900" dirty="0">
                <a:solidFill>
                  <a:srgbClr val="333333"/>
                </a:solidFill>
                <a:latin typeface="Calibri"/>
                <a:cs typeface="Calibri"/>
              </a:rPr>
              <a:t>Sans alerte 2 086</a:t>
            </a:r>
            <a:endParaRPr lang="fr-FR" sz="900" dirty="0"/>
          </a:p>
        </p:txBody>
      </p:sp>
      <p:sp>
        <p:nvSpPr>
          <p:cNvPr id="34" name="Shape 34"/>
          <p:cNvSpPr/>
          <p:nvPr/>
        </p:nvSpPr>
        <p:spPr>
          <a:xfrm>
            <a:off x="1828800" y="4207800"/>
            <a:ext cx="128016" cy="128016"/>
          </a:xfrm>
          <a:prstGeom prst="rect">
            <a:avLst/>
          </a:prstGeom>
          <a:solidFill>
            <a:srgbClr val="F39200"/>
          </a:solidFill>
          <a:ln>
            <a:noFill/>
          </a:ln>
        </p:spPr>
        <p:txBody>
          <a:bodyPr rtlCol="0" anchor="ctr"/>
          <a:lstStyle/>
          <a:p>
            <a:endParaRPr lang="fr-FR" dirty="0"/>
          </a:p>
        </p:txBody>
      </p:sp>
      <p:sp>
        <p:nvSpPr>
          <p:cNvPr id="35" name="Shape 35"/>
          <p:cNvSpPr txBox="1"/>
          <p:nvPr/>
        </p:nvSpPr>
        <p:spPr>
          <a:xfrm>
            <a:off x="2011680" y="4134648"/>
            <a:ext cx="1188720" cy="274320"/>
          </a:xfrm>
          <a:prstGeom prst="rect">
            <a:avLst/>
          </a:prstGeom>
          <a:noFill/>
          <a:ln>
            <a:noFill/>
          </a:ln>
        </p:spPr>
        <p:txBody>
          <a:bodyPr wrap="square" lIns="0" tIns="0" rIns="0" bIns="0" rtlCol="0" anchor="ctr">
            <a:noAutofit/>
          </a:bodyPr>
          <a:lstStyle/>
          <a:p>
            <a:pPr marL="0" indent="0" algn="l">
              <a:buNone/>
            </a:pPr>
            <a:r>
              <a:rPr lang="fr-FR" sz="900" dirty="0">
                <a:solidFill>
                  <a:srgbClr val="333333"/>
                </a:solidFill>
                <a:latin typeface="Calibri"/>
                <a:cs typeface="Calibri"/>
              </a:rPr>
              <a:t>Faible confiance 572</a:t>
            </a:r>
            <a:endParaRPr lang="fr-FR" sz="900" dirty="0"/>
          </a:p>
        </p:txBody>
      </p:sp>
      <p:sp>
        <p:nvSpPr>
          <p:cNvPr id="36" name="Shape 36"/>
          <p:cNvSpPr/>
          <p:nvPr/>
        </p:nvSpPr>
        <p:spPr>
          <a:xfrm>
            <a:off x="3200400" y="4207800"/>
            <a:ext cx="128016" cy="128016"/>
          </a:xfrm>
          <a:prstGeom prst="rect">
            <a:avLst/>
          </a:prstGeom>
          <a:solidFill>
            <a:srgbClr val="9B51E0"/>
          </a:solidFill>
          <a:ln>
            <a:noFill/>
          </a:ln>
        </p:spPr>
        <p:txBody>
          <a:bodyPr rtlCol="0" anchor="ctr"/>
          <a:lstStyle/>
          <a:p>
            <a:endParaRPr lang="fr-FR" dirty="0"/>
          </a:p>
        </p:txBody>
      </p:sp>
      <p:sp>
        <p:nvSpPr>
          <p:cNvPr id="37" name="Shape 37"/>
          <p:cNvSpPr txBox="1"/>
          <p:nvPr/>
        </p:nvSpPr>
        <p:spPr>
          <a:xfrm>
            <a:off x="3383280" y="4134648"/>
            <a:ext cx="1188720" cy="274320"/>
          </a:xfrm>
          <a:prstGeom prst="rect">
            <a:avLst/>
          </a:prstGeom>
          <a:noFill/>
          <a:ln>
            <a:noFill/>
          </a:ln>
        </p:spPr>
        <p:txBody>
          <a:bodyPr wrap="square" lIns="0" tIns="0" rIns="0" bIns="0" rtlCol="0" anchor="ctr">
            <a:noAutofit/>
          </a:bodyPr>
          <a:lstStyle/>
          <a:p>
            <a:pPr marL="0" indent="0" algn="l">
              <a:buNone/>
            </a:pPr>
            <a:r>
              <a:rPr lang="fr-FR" sz="900" dirty="0">
                <a:solidFill>
                  <a:srgbClr val="333333"/>
                </a:solidFill>
                <a:latin typeface="Calibri"/>
                <a:cs typeface="Calibri"/>
              </a:rPr>
              <a:t>Forme atypique 188</a:t>
            </a:r>
            <a:endParaRPr lang="fr-FR" sz="900" dirty="0"/>
          </a:p>
        </p:txBody>
      </p:sp>
      <p:sp>
        <p:nvSpPr>
          <p:cNvPr id="38" name="Shape 38"/>
          <p:cNvSpPr/>
          <p:nvPr/>
        </p:nvSpPr>
        <p:spPr>
          <a:xfrm>
            <a:off x="4572000" y="4207800"/>
            <a:ext cx="128016" cy="128016"/>
          </a:xfrm>
          <a:prstGeom prst="rect">
            <a:avLst/>
          </a:prstGeom>
          <a:solidFill>
            <a:srgbClr val="E20134"/>
          </a:solidFill>
          <a:ln>
            <a:noFill/>
          </a:ln>
        </p:spPr>
        <p:txBody>
          <a:bodyPr rtlCol="0" anchor="ctr"/>
          <a:lstStyle/>
          <a:p>
            <a:endParaRPr lang="fr-FR" dirty="0"/>
          </a:p>
        </p:txBody>
      </p:sp>
      <p:sp>
        <p:nvSpPr>
          <p:cNvPr id="39" name="Shape 39"/>
          <p:cNvSpPr txBox="1"/>
          <p:nvPr/>
        </p:nvSpPr>
        <p:spPr>
          <a:xfrm>
            <a:off x="4754880" y="4134648"/>
            <a:ext cx="1188720" cy="274320"/>
          </a:xfrm>
          <a:prstGeom prst="rect">
            <a:avLst/>
          </a:prstGeom>
          <a:noFill/>
          <a:ln>
            <a:noFill/>
          </a:ln>
        </p:spPr>
        <p:txBody>
          <a:bodyPr wrap="square" lIns="0" tIns="0" rIns="0" bIns="0" rtlCol="0" anchor="ctr">
            <a:noAutofit/>
          </a:bodyPr>
          <a:lstStyle/>
          <a:p>
            <a:pPr marL="0" indent="0" algn="l">
              <a:buNone/>
            </a:pPr>
            <a:r>
              <a:rPr lang="fr-FR" sz="900" dirty="0">
                <a:solidFill>
                  <a:srgbClr val="333333"/>
                </a:solidFill>
                <a:latin typeface="Calibri"/>
                <a:cs typeface="Calibri"/>
              </a:rPr>
              <a:t>Fusion probable 174</a:t>
            </a:r>
            <a:endParaRPr lang="fr-FR" sz="900" dirty="0"/>
          </a:p>
        </p:txBody>
      </p:sp>
      <p:sp>
        <p:nvSpPr>
          <p:cNvPr id="40" name="Shape 40"/>
          <p:cNvSpPr/>
          <p:nvPr/>
        </p:nvSpPr>
        <p:spPr>
          <a:xfrm>
            <a:off x="5943600" y="4207800"/>
            <a:ext cx="128016" cy="128016"/>
          </a:xfrm>
          <a:prstGeom prst="rect">
            <a:avLst/>
          </a:prstGeom>
          <a:solidFill>
            <a:srgbClr val="525DDC"/>
          </a:solidFill>
          <a:ln>
            <a:noFill/>
          </a:ln>
        </p:spPr>
        <p:txBody>
          <a:bodyPr rtlCol="0" anchor="ctr"/>
          <a:lstStyle/>
          <a:p>
            <a:endParaRPr lang="fr-FR" dirty="0"/>
          </a:p>
        </p:txBody>
      </p:sp>
      <p:sp>
        <p:nvSpPr>
          <p:cNvPr id="41" name="Shape 41"/>
          <p:cNvSpPr txBox="1"/>
          <p:nvPr/>
        </p:nvSpPr>
        <p:spPr>
          <a:xfrm>
            <a:off x="6126480" y="4134648"/>
            <a:ext cx="1188720" cy="274320"/>
          </a:xfrm>
          <a:prstGeom prst="rect">
            <a:avLst/>
          </a:prstGeom>
          <a:noFill/>
          <a:ln>
            <a:noFill/>
          </a:ln>
        </p:spPr>
        <p:txBody>
          <a:bodyPr wrap="square" lIns="0" tIns="0" rIns="0" bIns="0" rtlCol="0" anchor="ctr">
            <a:noAutofit/>
          </a:bodyPr>
          <a:lstStyle/>
          <a:p>
            <a:pPr marL="0" indent="0" algn="l">
              <a:buNone/>
            </a:pPr>
            <a:r>
              <a:rPr lang="fr-FR" sz="900" dirty="0">
                <a:solidFill>
                  <a:srgbClr val="333333"/>
                </a:solidFill>
                <a:latin typeface="Calibri"/>
                <a:cs typeface="Calibri"/>
              </a:rPr>
              <a:t>Trop petit 82</a:t>
            </a:r>
            <a:endParaRPr lang="fr-FR" sz="900" dirty="0"/>
          </a:p>
        </p:txBody>
      </p:sp>
      <p:sp>
        <p:nvSpPr>
          <p:cNvPr id="42" name="Shape 42"/>
          <p:cNvSpPr/>
          <p:nvPr/>
        </p:nvSpPr>
        <p:spPr>
          <a:xfrm>
            <a:off x="7315200" y="4207800"/>
            <a:ext cx="128016" cy="128016"/>
          </a:xfrm>
          <a:prstGeom prst="rect">
            <a:avLst/>
          </a:prstGeom>
          <a:solidFill>
            <a:srgbClr val="5D5D5D"/>
          </a:solidFill>
          <a:ln>
            <a:noFill/>
          </a:ln>
        </p:spPr>
        <p:txBody>
          <a:bodyPr rtlCol="0" anchor="ctr"/>
          <a:lstStyle/>
          <a:p>
            <a:endParaRPr lang="fr-FR" dirty="0"/>
          </a:p>
        </p:txBody>
      </p:sp>
      <p:sp>
        <p:nvSpPr>
          <p:cNvPr id="43" name="Shape 43"/>
          <p:cNvSpPr txBox="1"/>
          <p:nvPr/>
        </p:nvSpPr>
        <p:spPr>
          <a:xfrm>
            <a:off x="7498080" y="4134648"/>
            <a:ext cx="1188720" cy="274320"/>
          </a:xfrm>
          <a:prstGeom prst="rect">
            <a:avLst/>
          </a:prstGeom>
          <a:noFill/>
          <a:ln>
            <a:noFill/>
          </a:ln>
        </p:spPr>
        <p:txBody>
          <a:bodyPr wrap="square" lIns="0" tIns="0" rIns="0" bIns="0" rtlCol="0" anchor="ctr">
            <a:noAutofit/>
          </a:bodyPr>
          <a:lstStyle/>
          <a:p>
            <a:pPr marL="0" indent="0" algn="l">
              <a:buNone/>
            </a:pPr>
            <a:r>
              <a:rPr lang="fr-FR" sz="900" dirty="0">
                <a:solidFill>
                  <a:srgbClr val="333333"/>
                </a:solidFill>
                <a:latin typeface="Calibri"/>
                <a:cs typeface="Calibri"/>
              </a:rPr>
              <a:t>Bord de zone 20</a:t>
            </a:r>
            <a:endParaRPr lang="fr-FR"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LE LIVRABLE</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3 122 passages détectés sur les 8 communes, dans un tableau de bord ArcGIS</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17</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pic>
        <p:nvPicPr>
          <p:cNvPr id="9" name="Image 9" descr="livrable_dashboard_gpso.png"/>
          <p:cNvPicPr>
            <a:picLocks noChangeAspect="1"/>
          </p:cNvPicPr>
          <p:nvPr/>
        </p:nvPicPr>
        <p:blipFill>
          <a:blip r:embed="rId4"/>
          <a:stretch>
            <a:fillRect/>
          </a:stretch>
        </p:blipFill>
        <p:spPr>
          <a:xfrm>
            <a:off x="458192" y="1188720"/>
            <a:ext cx="6673136" cy="3383280"/>
          </a:xfrm>
          <a:prstGeom prst="rect">
            <a:avLst/>
          </a:prstGeom>
          <a:ln w="9525">
            <a:solidFill>
              <a:srgbClr val="D0D4D7"/>
            </a:solidFill>
          </a:ln>
        </p:spPr>
      </p:pic>
      <p:sp>
        <p:nvSpPr>
          <p:cNvPr id="10" name="Shape 10"/>
          <p:cNvSpPr txBox="1"/>
          <p:nvPr/>
        </p:nvSpPr>
        <p:spPr>
          <a:xfrm>
            <a:off x="7269480" y="1188720"/>
            <a:ext cx="1417320" cy="3383280"/>
          </a:xfrm>
          <a:prstGeom prst="rect">
            <a:avLst/>
          </a:prstGeom>
          <a:noFill/>
          <a:ln>
            <a:noFill/>
          </a:ln>
        </p:spPr>
        <p:txBody>
          <a:bodyPr wrap="square" lIns="0" tIns="0" rIns="0" bIns="0" rtlCol="0" anchor="t">
            <a:noAutofit/>
          </a:bodyPr>
          <a:lstStyle/>
          <a:p>
            <a:pPr marL="0" indent="0" algn="l">
              <a:spcAft>
                <a:spcPts val="500"/>
              </a:spcAft>
              <a:buNone/>
            </a:pPr>
            <a:r>
              <a:rPr lang="fr-FR" sz="1100" b="1" dirty="0">
                <a:solidFill>
                  <a:srgbClr val="009FE3"/>
                </a:solidFill>
                <a:latin typeface="Arial"/>
                <a:cs typeface="Arial"/>
              </a:rPr>
              <a:t>Ce qu'on y trouve</a:t>
            </a:r>
            <a:endParaRPr lang="fr-FR" sz="1100" dirty="0"/>
          </a:p>
          <a:p>
            <a:pPr marL="171450" indent="-171450" algn="l">
              <a:spcAft>
                <a:spcPts val="300"/>
              </a:spcAft>
              <a:buFont typeface="Arial"/>
              <a:buChar char="•"/>
            </a:pPr>
            <a:r>
              <a:rPr lang="fr-FR" sz="1000" dirty="0">
                <a:solidFill>
                  <a:srgbClr val="5D5D5D"/>
                </a:solidFill>
                <a:latin typeface="Calibri"/>
                <a:cs typeface="Calibri"/>
              </a:rPr>
              <a:t>Les passages par commune</a:t>
            </a:r>
            <a:endParaRPr lang="fr-FR" sz="1000" dirty="0"/>
          </a:p>
          <a:p>
            <a:pPr marL="171450" indent="-171450" algn="l">
              <a:spcAft>
                <a:spcPts val="300"/>
              </a:spcAft>
              <a:buFont typeface="Arial"/>
              <a:buChar char="•"/>
            </a:pPr>
            <a:r>
              <a:rPr lang="fr-FR" sz="1000" dirty="0">
                <a:solidFill>
                  <a:srgbClr val="5D5D5D"/>
                </a:solidFill>
                <a:latin typeface="Calibri"/>
                <a:cs typeface="Calibri"/>
              </a:rPr>
              <a:t>La part des alertes</a:t>
            </a:r>
            <a:endParaRPr lang="fr-FR" sz="1000" dirty="0"/>
          </a:p>
          <a:p>
            <a:pPr marL="171450" indent="-171450" algn="l">
              <a:spcAft>
                <a:spcPts val="300"/>
              </a:spcAft>
              <a:buFont typeface="Arial"/>
              <a:buChar char="•"/>
            </a:pPr>
            <a:r>
              <a:rPr lang="fr-FR" sz="1000" dirty="0">
                <a:solidFill>
                  <a:srgbClr val="5D5D5D"/>
                </a:solidFill>
                <a:latin typeface="Calibri"/>
                <a:cs typeface="Calibri"/>
              </a:rPr>
              <a:t>La liste, avec recherche</a:t>
            </a:r>
            <a:endParaRPr lang="fr-FR" sz="1000" dirty="0"/>
          </a:p>
          <a:p>
            <a:pPr marL="171450" indent="-171450" algn="l">
              <a:spcAft>
                <a:spcPts val="300"/>
              </a:spcAft>
              <a:buFont typeface="Arial"/>
              <a:buChar char="•"/>
            </a:pPr>
            <a:r>
              <a:rPr lang="fr-FR" sz="1000" dirty="0">
                <a:solidFill>
                  <a:srgbClr val="5D5D5D"/>
                </a:solidFill>
                <a:latin typeface="Calibri"/>
                <a:cs typeface="Calibri"/>
              </a:rPr>
              <a:t>Des filtres par commune et par quartier</a:t>
            </a:r>
            <a:endParaRPr lang="fr-FR" sz="1000" dirty="0"/>
          </a:p>
          <a:p>
            <a:pPr marL="171450" indent="-171450" algn="l">
              <a:buFont typeface="Arial"/>
              <a:buChar char="•"/>
            </a:pPr>
            <a:r>
              <a:rPr lang="fr-FR" sz="1000" dirty="0">
                <a:solidFill>
                  <a:srgbClr val="5D5D5D"/>
                </a:solidFill>
                <a:latin typeface="Calibri"/>
                <a:cs typeface="Calibri"/>
              </a:rPr>
              <a:t>La carte sur l'ortho IGN 2024</a:t>
            </a:r>
            <a:endParaRPr lang="fr-FR" sz="1000" dirty="0"/>
          </a:p>
          <a:p>
            <a:pPr marL="0" indent="0" algn="l">
              <a:spcBef>
                <a:spcPts val="1200"/>
              </a:spcBef>
              <a:buNone/>
            </a:pPr>
            <a:r>
              <a:rPr lang="fr-FR" sz="900" i="1" dirty="0">
                <a:solidFill>
                  <a:srgbClr val="5D5D5D"/>
                </a:solidFill>
                <a:latin typeface="Calibri"/>
                <a:cs typeface="Calibri"/>
              </a:rPr>
              <a:t>Un point par objet détecté : dans les quartiers annotés, on compte environ 20 % de passages en moins que la référence, surtout à cause des fusions en carrefour.</a:t>
            </a:r>
            <a:endParaRPr lang="fr-FR"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LE LIVRABLE</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On filtre un quartier, on revoit les alertes, tout est publié sur ArcGIS Online</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18</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pic>
        <p:nvPicPr>
          <p:cNvPr id="9" name="Image 9" descr="livrable_dashboard_quartier_bellevue.png"/>
          <p:cNvPicPr>
            <a:picLocks noChangeAspect="1"/>
          </p:cNvPicPr>
          <p:nvPr/>
        </p:nvPicPr>
        <p:blipFill>
          <a:blip r:embed="rId4"/>
          <a:stretch>
            <a:fillRect/>
          </a:stretch>
        </p:blipFill>
        <p:spPr>
          <a:xfrm>
            <a:off x="457200" y="1192698"/>
            <a:ext cx="5394960" cy="2735245"/>
          </a:xfrm>
          <a:prstGeom prst="rect">
            <a:avLst/>
          </a:prstGeom>
          <a:ln w="9525">
            <a:solidFill>
              <a:srgbClr val="D0D4D7"/>
            </a:solidFill>
          </a:ln>
        </p:spPr>
      </p:pic>
      <p:sp>
        <p:nvSpPr>
          <p:cNvPr id="10" name="Shape 10"/>
          <p:cNvSpPr txBox="1"/>
          <p:nvPr/>
        </p:nvSpPr>
        <p:spPr>
          <a:xfrm>
            <a:off x="457200" y="3977640"/>
            <a:ext cx="5394960" cy="685800"/>
          </a:xfrm>
          <a:prstGeom prst="rect">
            <a:avLst/>
          </a:prstGeom>
          <a:noFill/>
          <a:ln>
            <a:noFill/>
          </a:ln>
        </p:spPr>
        <p:txBody>
          <a:bodyPr wrap="square" lIns="0" tIns="0" rIns="0" bIns="0" rtlCol="0" anchor="ctr">
            <a:noAutofit/>
          </a:bodyPr>
          <a:lstStyle/>
          <a:p>
            <a:pPr marL="0" indent="0" algn="ctr">
              <a:buNone/>
            </a:pPr>
            <a:r>
              <a:rPr lang="fr-FR" sz="1050" dirty="0">
                <a:solidFill>
                  <a:srgbClr val="333333"/>
                </a:solidFill>
                <a:latin typeface="Calibri"/>
                <a:cs typeface="Calibri"/>
              </a:rPr>
              <a:t>Bellevue, à Meudon : 95 passages, 66 sans alerte, 29 à vérifier. Les points sont colorés selon l'alerte.</a:t>
            </a:r>
            <a:endParaRPr lang="fr-FR" sz="1050" dirty="0"/>
          </a:p>
        </p:txBody>
      </p:sp>
      <p:pic>
        <p:nvPicPr>
          <p:cNvPr id="11" name="Image 11" descr="livrable_agol_contenus.png"/>
          <p:cNvPicPr>
            <a:picLocks noChangeAspect="1"/>
          </p:cNvPicPr>
          <p:nvPr/>
        </p:nvPicPr>
        <p:blipFill>
          <a:blip r:embed="rId5"/>
          <a:stretch>
            <a:fillRect/>
          </a:stretch>
        </p:blipFill>
        <p:spPr>
          <a:xfrm>
            <a:off x="6080760" y="1197420"/>
            <a:ext cx="2606040" cy="3091560"/>
          </a:xfrm>
          <a:prstGeom prst="rect">
            <a:avLst/>
          </a:prstGeom>
          <a:ln w="9525">
            <a:solidFill>
              <a:srgbClr val="D0D4D7"/>
            </a:solidFill>
          </a:ln>
        </p:spPr>
      </p:pic>
      <p:sp>
        <p:nvSpPr>
          <p:cNvPr id="12" name="Shape 12"/>
          <p:cNvSpPr txBox="1"/>
          <p:nvPr/>
        </p:nvSpPr>
        <p:spPr>
          <a:xfrm>
            <a:off x="6080760" y="4343400"/>
            <a:ext cx="2606040" cy="365760"/>
          </a:xfrm>
          <a:prstGeom prst="rect">
            <a:avLst/>
          </a:prstGeom>
          <a:noFill/>
          <a:ln>
            <a:noFill/>
          </a:ln>
        </p:spPr>
        <p:txBody>
          <a:bodyPr wrap="square" lIns="0" tIns="0" rIns="0" bIns="0" rtlCol="0" anchor="t">
            <a:noAutofit/>
          </a:bodyPr>
          <a:lstStyle/>
          <a:p>
            <a:pPr marL="0" indent="0" algn="ctr">
              <a:buNone/>
            </a:pPr>
            <a:r>
              <a:rPr lang="fr-FR" sz="950" i="1" dirty="0">
                <a:solidFill>
                  <a:srgbClr val="5D5D5D"/>
                </a:solidFill>
                <a:latin typeface="Calibri"/>
                <a:cs typeface="Calibri"/>
              </a:rPr>
              <a:t>11 éléments sur ArcGIS Online : tableau de bord, carte web, couches et sources GeoJSON</a:t>
            </a:r>
            <a:endParaRPr lang="fr-FR"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LE LIVRABLE · POUR LA DGST</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Ce que la base apporte au projet de sécurisation</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19</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9"/>
          <p:cNvSpPr/>
          <p:nvPr/>
        </p:nvSpPr>
        <p:spPr>
          <a:xfrm>
            <a:off x="457200" y="1143000"/>
            <a:ext cx="2514600" cy="292608"/>
          </a:xfrm>
          <a:prstGeom prst="rect">
            <a:avLst/>
          </a:prstGeom>
          <a:solidFill>
            <a:srgbClr val="009FE3"/>
          </a:solidFill>
          <a:ln>
            <a:noFill/>
          </a:ln>
        </p:spPr>
        <p:txBody>
          <a:bodyPr wrap="square" lIns="91440" tIns="18288" rIns="91440" bIns="18288" rtlCol="0" anchor="ctr">
            <a:noAutofit/>
          </a:bodyPr>
          <a:lstStyle/>
          <a:p>
            <a:pPr marL="0" indent="0" algn="l">
              <a:buNone/>
            </a:pPr>
            <a:r>
              <a:rPr lang="fr-FR" sz="1050" b="1" dirty="0">
                <a:solidFill>
                  <a:srgbClr val="FFFFFF"/>
                </a:solidFill>
                <a:latin typeface="Arial"/>
                <a:cs typeface="Arial"/>
              </a:rPr>
              <a:t>Exigence ou usage de la DGST</a:t>
            </a:r>
            <a:endParaRPr lang="fr-FR" sz="1050" dirty="0"/>
          </a:p>
        </p:txBody>
      </p:sp>
      <p:sp>
        <p:nvSpPr>
          <p:cNvPr id="10" name="Shape 10"/>
          <p:cNvSpPr/>
          <p:nvPr/>
        </p:nvSpPr>
        <p:spPr>
          <a:xfrm>
            <a:off x="2971800" y="1143000"/>
            <a:ext cx="5715000" cy="292608"/>
          </a:xfrm>
          <a:prstGeom prst="rect">
            <a:avLst/>
          </a:prstGeom>
          <a:solidFill>
            <a:srgbClr val="009FE3"/>
          </a:solidFill>
          <a:ln>
            <a:noFill/>
          </a:ln>
        </p:spPr>
        <p:txBody>
          <a:bodyPr wrap="square" lIns="91440" tIns="18288" rIns="91440" bIns="18288" rtlCol="0" anchor="ctr">
            <a:noAutofit/>
          </a:bodyPr>
          <a:lstStyle/>
          <a:p>
            <a:pPr marL="0" indent="0" algn="l">
              <a:buNone/>
            </a:pPr>
            <a:r>
              <a:rPr lang="fr-FR" sz="1050" b="1" dirty="0">
                <a:solidFill>
                  <a:srgbClr val="FFFFFF"/>
                </a:solidFill>
                <a:latin typeface="Arial"/>
                <a:cs typeface="Arial"/>
              </a:rPr>
              <a:t>Ce que la base fournit</a:t>
            </a:r>
            <a:endParaRPr lang="fr-FR" sz="1050" dirty="0"/>
          </a:p>
        </p:txBody>
      </p:sp>
      <p:sp>
        <p:nvSpPr>
          <p:cNvPr id="11" name="Shape 11"/>
          <p:cNvSpPr/>
          <p:nvPr/>
        </p:nvSpPr>
        <p:spPr>
          <a:xfrm>
            <a:off x="457200" y="1435608"/>
            <a:ext cx="2514600" cy="329184"/>
          </a:xfrm>
          <a:prstGeom prst="rect">
            <a:avLst/>
          </a:prstGeom>
          <a:solidFill>
            <a:srgbClr val="F0F0F0"/>
          </a:solidFill>
          <a:ln>
            <a:noFill/>
          </a:ln>
        </p:spPr>
        <p:txBody>
          <a:bodyPr wrap="square" lIns="91440" tIns="27432" rIns="91440" bIns="27432" rtlCol="0" anchor="ctr">
            <a:noAutofit/>
          </a:bodyPr>
          <a:lstStyle/>
          <a:p>
            <a:pPr marL="0" indent="0" algn="l">
              <a:buNone/>
            </a:pPr>
            <a:r>
              <a:rPr lang="fr-FR" sz="1000" b="1" dirty="0">
                <a:solidFill>
                  <a:srgbClr val="333333"/>
                </a:solidFill>
                <a:latin typeface="Arial"/>
                <a:cs typeface="Arial"/>
              </a:rPr>
              <a:t>Chiffres par commune</a:t>
            </a:r>
            <a:endParaRPr lang="fr-FR" sz="1000" dirty="0"/>
          </a:p>
        </p:txBody>
      </p:sp>
      <p:sp>
        <p:nvSpPr>
          <p:cNvPr id="12" name="Shape 12"/>
          <p:cNvSpPr/>
          <p:nvPr/>
        </p:nvSpPr>
        <p:spPr>
          <a:xfrm>
            <a:off x="2971800" y="1435608"/>
            <a:ext cx="5715000" cy="329184"/>
          </a:xfrm>
          <a:prstGeom prst="rect">
            <a:avLst/>
          </a:prstGeom>
          <a:solidFill>
            <a:srgbClr val="F0F0F0"/>
          </a:solidFill>
          <a:ln>
            <a:noFill/>
          </a:ln>
        </p:spPr>
        <p:txBody>
          <a:bodyPr wrap="square" lIns="91440" tIns="27432" rIns="91440" bIns="27432" rtlCol="0" anchor="ctr">
            <a:noAutofit/>
          </a:bodyPr>
          <a:lstStyle/>
          <a:p>
            <a:pPr marL="0" indent="0" algn="l">
              <a:buNone/>
            </a:pPr>
            <a:r>
              <a:rPr lang="fr-FR" sz="1000" dirty="0">
                <a:solidFill>
                  <a:srgbClr val="5D5D5D"/>
                </a:solidFill>
                <a:latin typeface="Calibri"/>
                <a:cs typeface="Calibri"/>
              </a:rPr>
              <a:t>Comptages par commune et par quartier dans le tableau de bord, mis à jour à chaque millésime.</a:t>
            </a:r>
            <a:endParaRPr lang="fr-FR" sz="1000" dirty="0"/>
          </a:p>
        </p:txBody>
      </p:sp>
      <p:sp>
        <p:nvSpPr>
          <p:cNvPr id="13" name="Shape 13"/>
          <p:cNvSpPr/>
          <p:nvPr/>
        </p:nvSpPr>
        <p:spPr>
          <a:xfrm>
            <a:off x="457200" y="1764792"/>
            <a:ext cx="2514600" cy="329184"/>
          </a:xfrm>
          <a:prstGeom prst="rect">
            <a:avLst/>
          </a:prstGeom>
          <a:solidFill>
            <a:srgbClr val="FFFFFF"/>
          </a:solidFill>
          <a:ln>
            <a:noFill/>
          </a:ln>
        </p:spPr>
        <p:txBody>
          <a:bodyPr wrap="square" lIns="91440" tIns="27432" rIns="91440" bIns="27432" rtlCol="0" anchor="ctr">
            <a:noAutofit/>
          </a:bodyPr>
          <a:lstStyle/>
          <a:p>
            <a:pPr marL="0" indent="0" algn="l">
              <a:buNone/>
            </a:pPr>
            <a:r>
              <a:rPr lang="fr-FR" sz="1000" b="1" dirty="0">
                <a:solidFill>
                  <a:srgbClr val="333333"/>
                </a:solidFill>
                <a:latin typeface="Arial"/>
                <a:cs typeface="Arial"/>
              </a:rPr>
              <a:t>Homogénéité territoriale</a:t>
            </a:r>
            <a:endParaRPr lang="fr-FR" sz="1000" dirty="0"/>
          </a:p>
        </p:txBody>
      </p:sp>
      <p:sp>
        <p:nvSpPr>
          <p:cNvPr id="14" name="Shape 14"/>
          <p:cNvSpPr/>
          <p:nvPr/>
        </p:nvSpPr>
        <p:spPr>
          <a:xfrm>
            <a:off x="2971800" y="1764792"/>
            <a:ext cx="5715000" cy="329184"/>
          </a:xfrm>
          <a:prstGeom prst="rect">
            <a:avLst/>
          </a:prstGeom>
          <a:solidFill>
            <a:srgbClr val="FFFFFF"/>
          </a:solidFill>
          <a:ln>
            <a:noFill/>
          </a:ln>
        </p:spPr>
        <p:txBody>
          <a:bodyPr wrap="square" lIns="91440" tIns="27432" rIns="91440" bIns="27432" rtlCol="0" anchor="ctr">
            <a:noAutofit/>
          </a:bodyPr>
          <a:lstStyle/>
          <a:p>
            <a:pPr marL="0" indent="0" algn="l">
              <a:buNone/>
            </a:pPr>
            <a:r>
              <a:rPr lang="fr-FR" sz="1000" dirty="0">
                <a:solidFill>
                  <a:srgbClr val="5D5D5D"/>
                </a:solidFill>
                <a:latin typeface="Calibri"/>
                <a:cs typeface="Calibri"/>
              </a:rPr>
              <a:t>Même méthode, même orthophoto (IGN 2024), mêmes règles d'alerte sur les 8 communes.</a:t>
            </a:r>
            <a:endParaRPr lang="fr-FR" sz="1000" dirty="0"/>
          </a:p>
        </p:txBody>
      </p:sp>
      <p:sp>
        <p:nvSpPr>
          <p:cNvPr id="15" name="Shape 15"/>
          <p:cNvSpPr/>
          <p:nvPr/>
        </p:nvSpPr>
        <p:spPr>
          <a:xfrm>
            <a:off x="457200" y="2093976"/>
            <a:ext cx="2514600" cy="377952"/>
          </a:xfrm>
          <a:prstGeom prst="rect">
            <a:avLst/>
          </a:prstGeom>
          <a:solidFill>
            <a:srgbClr val="F0F0F0"/>
          </a:solidFill>
          <a:ln>
            <a:noFill/>
          </a:ln>
        </p:spPr>
        <p:txBody>
          <a:bodyPr wrap="square" lIns="91440" tIns="27432" rIns="91440" bIns="27432" rtlCol="0" anchor="ctr">
            <a:noAutofit/>
          </a:bodyPr>
          <a:lstStyle/>
          <a:p>
            <a:pPr marL="0" indent="0" algn="l">
              <a:buNone/>
            </a:pPr>
            <a:r>
              <a:rPr lang="fr-FR" sz="1000" b="1" dirty="0">
                <a:solidFill>
                  <a:srgbClr val="333333"/>
                </a:solidFill>
                <a:latin typeface="Arial"/>
                <a:cs typeface="Arial"/>
              </a:rPr>
              <a:t>Priorisation : écoles, sorties de transports, carrefours</a:t>
            </a:r>
            <a:endParaRPr lang="fr-FR" sz="1000" dirty="0"/>
          </a:p>
        </p:txBody>
      </p:sp>
      <p:sp>
        <p:nvSpPr>
          <p:cNvPr id="16" name="Shape 16"/>
          <p:cNvSpPr/>
          <p:nvPr/>
        </p:nvSpPr>
        <p:spPr>
          <a:xfrm>
            <a:off x="2971800" y="2093976"/>
            <a:ext cx="5715000" cy="377952"/>
          </a:xfrm>
          <a:prstGeom prst="rect">
            <a:avLst/>
          </a:prstGeom>
          <a:solidFill>
            <a:srgbClr val="F0F0F0"/>
          </a:solidFill>
          <a:ln>
            <a:noFill/>
          </a:ln>
        </p:spPr>
        <p:txBody>
          <a:bodyPr wrap="square" lIns="91440" tIns="27432" rIns="91440" bIns="27432" rtlCol="0" anchor="ctr">
            <a:noAutofit/>
          </a:bodyPr>
          <a:lstStyle/>
          <a:p>
            <a:pPr marL="0" indent="0" algn="l">
              <a:buNone/>
            </a:pPr>
            <a:r>
              <a:rPr lang="fr-FR" sz="1000" dirty="0">
                <a:solidFill>
                  <a:srgbClr val="5D5D5D"/>
                </a:solidFill>
                <a:latin typeface="Calibri"/>
                <a:cs typeface="Calibri"/>
              </a:rPr>
              <a:t>Chaque passage est un point géolocalisé, à croiser avec les écoles, les arrêts de transport et l'accidentologie. Ce croisement reste à faire ; il est simple dans ArcGIS.</a:t>
            </a:r>
            <a:endParaRPr lang="fr-FR" sz="1000" dirty="0"/>
          </a:p>
        </p:txBody>
      </p:sp>
      <p:sp>
        <p:nvSpPr>
          <p:cNvPr id="17" name="Shape 17"/>
          <p:cNvSpPr/>
          <p:nvPr/>
        </p:nvSpPr>
        <p:spPr>
          <a:xfrm>
            <a:off x="457200" y="2471928"/>
            <a:ext cx="2514600" cy="377952"/>
          </a:xfrm>
          <a:prstGeom prst="rect">
            <a:avLst/>
          </a:prstGeom>
          <a:solidFill>
            <a:srgbClr val="FFFFFF"/>
          </a:solidFill>
          <a:ln>
            <a:noFill/>
          </a:ln>
        </p:spPr>
        <p:txBody>
          <a:bodyPr wrap="square" lIns="91440" tIns="27432" rIns="91440" bIns="27432" rtlCol="0" anchor="ctr">
            <a:noAutofit/>
          </a:bodyPr>
          <a:lstStyle/>
          <a:p>
            <a:pPr marL="0" indent="0" algn="l">
              <a:buNone/>
            </a:pPr>
            <a:r>
              <a:rPr lang="fr-FR" sz="1000" b="1" dirty="0">
                <a:solidFill>
                  <a:srgbClr val="333333"/>
                </a:solidFill>
                <a:latin typeface="Arial"/>
                <a:cs typeface="Arial"/>
              </a:rPr>
              <a:t>Marchés publics, coût de cycle de vie</a:t>
            </a:r>
            <a:endParaRPr lang="fr-FR" sz="1000" dirty="0"/>
          </a:p>
        </p:txBody>
      </p:sp>
      <p:sp>
        <p:nvSpPr>
          <p:cNvPr id="18" name="Shape 18"/>
          <p:cNvSpPr/>
          <p:nvPr/>
        </p:nvSpPr>
        <p:spPr>
          <a:xfrm>
            <a:off x="2971800" y="2471928"/>
            <a:ext cx="5715000" cy="377952"/>
          </a:xfrm>
          <a:prstGeom prst="rect">
            <a:avLst/>
          </a:prstGeom>
          <a:solidFill>
            <a:srgbClr val="FFFFFF"/>
          </a:solidFill>
          <a:ln>
            <a:noFill/>
          </a:ln>
        </p:spPr>
        <p:txBody>
          <a:bodyPr wrap="square" lIns="91440" tIns="27432" rIns="91440" bIns="27432" rtlCol="0" anchor="ctr">
            <a:noAutofit/>
          </a:bodyPr>
          <a:lstStyle/>
          <a:p>
            <a:pPr marL="0" indent="0" algn="l">
              <a:buNone/>
            </a:pPr>
            <a:r>
              <a:rPr lang="fr-FR" sz="1000" dirty="0">
                <a:solidFill>
                  <a:srgbClr val="5D5D5D"/>
                </a:solidFill>
                <a:latin typeface="Calibri"/>
                <a:cs typeface="Calibri"/>
              </a:rPr>
              <a:t>Quantités par commune et dimensions de chaque passage (largeur, longueur, emprise) pour dimensionner les lots. La mise à jour à chaque millésime permet de suivre l'évolution du parc.</a:t>
            </a:r>
            <a:endParaRPr lang="fr-FR" sz="1000" dirty="0"/>
          </a:p>
        </p:txBody>
      </p:sp>
      <p:sp>
        <p:nvSpPr>
          <p:cNvPr id="21" name="Shape 21"/>
          <p:cNvSpPr/>
          <p:nvPr/>
        </p:nvSpPr>
        <p:spPr>
          <a:xfrm>
            <a:off x="457200" y="2839907"/>
            <a:ext cx="2514600" cy="329184"/>
          </a:xfrm>
          <a:prstGeom prst="rect">
            <a:avLst/>
          </a:prstGeom>
          <a:solidFill>
            <a:srgbClr val="FFFFFF"/>
          </a:solidFill>
          <a:ln>
            <a:noFill/>
          </a:ln>
        </p:spPr>
        <p:txBody>
          <a:bodyPr wrap="square" lIns="91440" tIns="27432" rIns="91440" bIns="27432" rtlCol="0" anchor="ctr">
            <a:noAutofit/>
          </a:bodyPr>
          <a:lstStyle/>
          <a:p>
            <a:pPr marL="0" indent="0" algn="l">
              <a:buNone/>
            </a:pPr>
            <a:r>
              <a:rPr lang="fr-FR" sz="1000" b="1" dirty="0">
                <a:solidFill>
                  <a:srgbClr val="333333"/>
                </a:solidFill>
                <a:latin typeface="Arial"/>
                <a:cs typeface="Arial"/>
              </a:rPr>
              <a:t>Synergie avec les travaux de voirie</a:t>
            </a:r>
            <a:endParaRPr lang="fr-FR" sz="1000" dirty="0"/>
          </a:p>
        </p:txBody>
      </p:sp>
      <p:sp>
        <p:nvSpPr>
          <p:cNvPr id="22" name="Shape 22"/>
          <p:cNvSpPr/>
          <p:nvPr/>
        </p:nvSpPr>
        <p:spPr>
          <a:xfrm>
            <a:off x="2971800" y="2839907"/>
            <a:ext cx="5715000" cy="329184"/>
          </a:xfrm>
          <a:prstGeom prst="rect">
            <a:avLst/>
          </a:prstGeom>
          <a:solidFill>
            <a:srgbClr val="FFFFFF"/>
          </a:solidFill>
          <a:ln>
            <a:noFill/>
          </a:ln>
        </p:spPr>
        <p:txBody>
          <a:bodyPr wrap="square" lIns="91440" tIns="27432" rIns="91440" bIns="27432" rtlCol="0" anchor="ctr">
            <a:noAutofit/>
          </a:bodyPr>
          <a:lstStyle/>
          <a:p>
            <a:pPr marL="0" indent="0" algn="l">
              <a:buNone/>
            </a:pPr>
            <a:r>
              <a:rPr lang="fr-FR" sz="1000" dirty="0">
                <a:solidFill>
                  <a:srgbClr val="5D5D5D"/>
                </a:solidFill>
                <a:latin typeface="Calibri"/>
                <a:cs typeface="Calibri"/>
              </a:rPr>
              <a:t>La couche se superpose au programme de travaux et au filaire de voirie.</a:t>
            </a:r>
            <a:endParaRPr lang="fr-FR" sz="1000" dirty="0"/>
          </a:p>
        </p:txBody>
      </p:sp>
      <p:sp>
        <p:nvSpPr>
          <p:cNvPr id="23" name="Shape 23"/>
          <p:cNvSpPr/>
          <p:nvPr/>
        </p:nvSpPr>
        <p:spPr>
          <a:xfrm>
            <a:off x="457200" y="3462995"/>
            <a:ext cx="8229600" cy="603504"/>
          </a:xfrm>
          <a:prstGeom prst="rect">
            <a:avLst/>
          </a:prstGeom>
          <a:solidFill>
            <a:srgbClr val="FFFFFF"/>
          </a:solidFill>
          <a:ln w="12700">
            <a:solidFill>
              <a:srgbClr val="009FE3"/>
            </a:solidFill>
          </a:ln>
        </p:spPr>
        <p:txBody>
          <a:bodyPr wrap="square" lIns="128016" tIns="36576" rIns="128016" bIns="36576" rtlCol="0" anchor="ctr">
            <a:noAutofit/>
          </a:bodyPr>
          <a:lstStyle/>
          <a:p>
            <a:pPr marL="0" indent="0" algn="l">
              <a:buNone/>
            </a:pPr>
            <a:r>
              <a:rPr lang="fr-FR" sz="1050" dirty="0">
                <a:solidFill>
                  <a:srgbClr val="333333"/>
                </a:solidFill>
                <a:latin typeface="Calibri"/>
                <a:cs typeface="Calibri"/>
              </a:rPr>
              <a:t>Un socle à valider : la base compte environ 20 % de passages en moins que la référence, à cause des fusions en carrefour. Elle est faite pour prioriser et chiffrer, pas encore pour un recensement exhaustif.</a:t>
            </a:r>
            <a:endParaRPr lang="fr-FR"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ET DEMAIN</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Les prochaines étapes avec la DGST</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20</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9"/>
          <p:cNvSpPr txBox="1"/>
          <p:nvPr/>
        </p:nvSpPr>
        <p:spPr>
          <a:xfrm>
            <a:off x="457200" y="1325880"/>
            <a:ext cx="548640" cy="594360"/>
          </a:xfrm>
          <a:prstGeom prst="rect">
            <a:avLst/>
          </a:prstGeom>
          <a:noFill/>
          <a:ln>
            <a:noFill/>
          </a:ln>
        </p:spPr>
        <p:txBody>
          <a:bodyPr wrap="square" lIns="0" tIns="0" rIns="0" bIns="0" rtlCol="0" anchor="t">
            <a:noAutofit/>
          </a:bodyPr>
          <a:lstStyle/>
          <a:p>
            <a:pPr marL="0" indent="0" algn="l">
              <a:buNone/>
            </a:pPr>
            <a:r>
              <a:rPr lang="fr-FR" sz="3600" b="1" dirty="0">
                <a:solidFill>
                  <a:srgbClr val="009FE3"/>
                </a:solidFill>
                <a:latin typeface="Arial"/>
                <a:cs typeface="Arial"/>
              </a:rPr>
              <a:t>1</a:t>
            </a:r>
            <a:endParaRPr lang="fr-FR" sz="3600" dirty="0"/>
          </a:p>
        </p:txBody>
      </p:sp>
      <p:sp>
        <p:nvSpPr>
          <p:cNvPr id="10" name="Shape 10"/>
          <p:cNvSpPr txBox="1"/>
          <p:nvPr/>
        </p:nvSpPr>
        <p:spPr>
          <a:xfrm>
            <a:off x="457200" y="2011680"/>
            <a:ext cx="2514600" cy="320040"/>
          </a:xfrm>
          <a:prstGeom prst="rect">
            <a:avLst/>
          </a:prstGeom>
          <a:noFill/>
          <a:ln>
            <a:noFill/>
          </a:ln>
        </p:spPr>
        <p:txBody>
          <a:bodyPr wrap="square" lIns="0" tIns="0" rIns="0" bIns="0" rtlCol="0" anchor="t">
            <a:noAutofit/>
          </a:bodyPr>
          <a:lstStyle/>
          <a:p>
            <a:pPr marL="0" indent="0" algn="l">
              <a:buNone/>
            </a:pPr>
            <a:r>
              <a:rPr lang="fr-FR" sz="1500" b="1" dirty="0">
                <a:solidFill>
                  <a:srgbClr val="333333"/>
                </a:solidFill>
                <a:latin typeface="Arial"/>
                <a:cs typeface="Arial"/>
              </a:rPr>
              <a:t>Prioriser</a:t>
            </a:r>
            <a:endParaRPr lang="fr-FR" sz="1500" dirty="0"/>
          </a:p>
        </p:txBody>
      </p:sp>
      <p:sp>
        <p:nvSpPr>
          <p:cNvPr id="11" name="Shape 11"/>
          <p:cNvSpPr txBox="1"/>
          <p:nvPr/>
        </p:nvSpPr>
        <p:spPr>
          <a:xfrm>
            <a:off x="457200" y="2395728"/>
            <a:ext cx="2514600" cy="1188720"/>
          </a:xfrm>
          <a:prstGeom prst="rect">
            <a:avLst/>
          </a:prstGeom>
          <a:noFill/>
          <a:ln>
            <a:noFill/>
          </a:ln>
        </p:spPr>
        <p:txBody>
          <a:bodyPr wrap="square" lIns="0" tIns="0" rIns="0" bIns="0" rtlCol="0" anchor="t">
            <a:noAutofit/>
          </a:bodyPr>
          <a:lstStyle/>
          <a:p>
            <a:pPr marL="0" indent="0" algn="l">
              <a:buNone/>
            </a:pPr>
            <a:r>
              <a:rPr lang="fr-FR" sz="1150" dirty="0">
                <a:solidFill>
                  <a:srgbClr val="5D5D5D"/>
                </a:solidFill>
                <a:latin typeface="Calibri"/>
                <a:cs typeface="Calibri"/>
              </a:rPr>
              <a:t>Croiser les passages avec les écoles, les sorties de transports et l'accidentologie : la carte des passages à traiter en premier.</a:t>
            </a:r>
            <a:endParaRPr lang="fr-FR" sz="1150" dirty="0"/>
          </a:p>
        </p:txBody>
      </p:sp>
      <p:sp>
        <p:nvSpPr>
          <p:cNvPr id="12" name="Shape 12"/>
          <p:cNvSpPr/>
          <p:nvPr/>
        </p:nvSpPr>
        <p:spPr>
          <a:xfrm>
            <a:off x="3154680" y="1371600"/>
            <a:ext cx="10973" cy="2194560"/>
          </a:xfrm>
          <a:prstGeom prst="rect">
            <a:avLst/>
          </a:prstGeom>
          <a:solidFill>
            <a:srgbClr val="A5ACB0"/>
          </a:solidFill>
          <a:ln>
            <a:noFill/>
          </a:ln>
        </p:spPr>
        <p:txBody>
          <a:bodyPr rtlCol="0" anchor="ctr"/>
          <a:lstStyle/>
          <a:p>
            <a:endParaRPr lang="fr-FR" dirty="0"/>
          </a:p>
        </p:txBody>
      </p:sp>
      <p:sp>
        <p:nvSpPr>
          <p:cNvPr id="13" name="Shape 13"/>
          <p:cNvSpPr txBox="1"/>
          <p:nvPr/>
        </p:nvSpPr>
        <p:spPr>
          <a:xfrm>
            <a:off x="3273552" y="1325880"/>
            <a:ext cx="548640" cy="594360"/>
          </a:xfrm>
          <a:prstGeom prst="rect">
            <a:avLst/>
          </a:prstGeom>
          <a:noFill/>
          <a:ln>
            <a:noFill/>
          </a:ln>
        </p:spPr>
        <p:txBody>
          <a:bodyPr wrap="square" lIns="0" tIns="0" rIns="0" bIns="0" rtlCol="0" anchor="t">
            <a:noAutofit/>
          </a:bodyPr>
          <a:lstStyle/>
          <a:p>
            <a:pPr marL="0" indent="0" algn="l">
              <a:buNone/>
            </a:pPr>
            <a:r>
              <a:rPr lang="fr-FR" sz="3600" b="1" dirty="0">
                <a:solidFill>
                  <a:srgbClr val="95C11F"/>
                </a:solidFill>
                <a:latin typeface="Arial"/>
                <a:cs typeface="Arial"/>
              </a:rPr>
              <a:t>2</a:t>
            </a:r>
            <a:endParaRPr lang="fr-FR" sz="3600" dirty="0"/>
          </a:p>
        </p:txBody>
      </p:sp>
      <p:sp>
        <p:nvSpPr>
          <p:cNvPr id="14" name="Shape 14"/>
          <p:cNvSpPr txBox="1"/>
          <p:nvPr/>
        </p:nvSpPr>
        <p:spPr>
          <a:xfrm>
            <a:off x="3273552" y="2011680"/>
            <a:ext cx="2514600" cy="320040"/>
          </a:xfrm>
          <a:prstGeom prst="rect">
            <a:avLst/>
          </a:prstGeom>
          <a:noFill/>
          <a:ln>
            <a:noFill/>
          </a:ln>
        </p:spPr>
        <p:txBody>
          <a:bodyPr wrap="square" lIns="0" tIns="0" rIns="0" bIns="0" rtlCol="0" anchor="t">
            <a:noAutofit/>
          </a:bodyPr>
          <a:lstStyle/>
          <a:p>
            <a:pPr marL="0" indent="0" algn="l">
              <a:buNone/>
            </a:pPr>
            <a:r>
              <a:rPr lang="fr-FR" sz="1500" b="1" dirty="0">
                <a:solidFill>
                  <a:srgbClr val="333333"/>
                </a:solidFill>
                <a:latin typeface="Arial"/>
                <a:cs typeface="Arial"/>
              </a:rPr>
              <a:t>Chiffrer</a:t>
            </a:r>
            <a:endParaRPr lang="fr-FR" sz="1500" dirty="0"/>
          </a:p>
        </p:txBody>
      </p:sp>
      <p:sp>
        <p:nvSpPr>
          <p:cNvPr id="15" name="Shape 15"/>
          <p:cNvSpPr txBox="1"/>
          <p:nvPr/>
        </p:nvSpPr>
        <p:spPr>
          <a:xfrm>
            <a:off x="3273552" y="2395728"/>
            <a:ext cx="2514600" cy="1188720"/>
          </a:xfrm>
          <a:prstGeom prst="rect">
            <a:avLst/>
          </a:prstGeom>
          <a:noFill/>
          <a:ln>
            <a:noFill/>
          </a:ln>
        </p:spPr>
        <p:txBody>
          <a:bodyPr wrap="square" lIns="0" tIns="0" rIns="0" bIns="0" rtlCol="0" anchor="t">
            <a:noAutofit/>
          </a:bodyPr>
          <a:lstStyle/>
          <a:p>
            <a:pPr marL="0" indent="0" algn="l">
              <a:buNone/>
            </a:pPr>
            <a:r>
              <a:rPr lang="fr-FR" sz="1150" dirty="0">
                <a:solidFill>
                  <a:srgbClr val="5D5D5D"/>
                </a:solidFill>
                <a:latin typeface="Calibri"/>
                <a:cs typeface="Calibri"/>
              </a:rPr>
              <a:t>Une fiche par commune (nombre, dimensions) pour les notes aux instances et les marchés de sécurisation.</a:t>
            </a:r>
            <a:endParaRPr lang="fr-FR" sz="1150" dirty="0"/>
          </a:p>
        </p:txBody>
      </p:sp>
      <p:sp>
        <p:nvSpPr>
          <p:cNvPr id="16" name="Shape 16"/>
          <p:cNvSpPr/>
          <p:nvPr/>
        </p:nvSpPr>
        <p:spPr>
          <a:xfrm>
            <a:off x="5971032" y="1371600"/>
            <a:ext cx="10973" cy="2194560"/>
          </a:xfrm>
          <a:prstGeom prst="rect">
            <a:avLst/>
          </a:prstGeom>
          <a:solidFill>
            <a:srgbClr val="A5ACB0"/>
          </a:solidFill>
          <a:ln>
            <a:noFill/>
          </a:ln>
        </p:spPr>
        <p:txBody>
          <a:bodyPr rtlCol="0" anchor="ctr"/>
          <a:lstStyle/>
          <a:p>
            <a:endParaRPr lang="fr-FR" dirty="0"/>
          </a:p>
        </p:txBody>
      </p:sp>
      <p:sp>
        <p:nvSpPr>
          <p:cNvPr id="17" name="Shape 17"/>
          <p:cNvSpPr txBox="1"/>
          <p:nvPr/>
        </p:nvSpPr>
        <p:spPr>
          <a:xfrm>
            <a:off x="6089904" y="1325880"/>
            <a:ext cx="548640" cy="594360"/>
          </a:xfrm>
          <a:prstGeom prst="rect">
            <a:avLst/>
          </a:prstGeom>
          <a:noFill/>
          <a:ln>
            <a:noFill/>
          </a:ln>
        </p:spPr>
        <p:txBody>
          <a:bodyPr wrap="square" lIns="0" tIns="0" rIns="0" bIns="0" rtlCol="0" anchor="t">
            <a:noAutofit/>
          </a:bodyPr>
          <a:lstStyle/>
          <a:p>
            <a:pPr marL="0" indent="0" algn="l">
              <a:buNone/>
            </a:pPr>
            <a:r>
              <a:rPr lang="fr-FR" sz="3600" b="1" dirty="0">
                <a:solidFill>
                  <a:srgbClr val="009FE3"/>
                </a:solidFill>
                <a:latin typeface="Arial"/>
                <a:cs typeface="Arial"/>
              </a:rPr>
              <a:t>3</a:t>
            </a:r>
            <a:endParaRPr lang="fr-FR" sz="3600" dirty="0"/>
          </a:p>
        </p:txBody>
      </p:sp>
      <p:sp>
        <p:nvSpPr>
          <p:cNvPr id="18" name="Shape 18"/>
          <p:cNvSpPr txBox="1"/>
          <p:nvPr/>
        </p:nvSpPr>
        <p:spPr>
          <a:xfrm>
            <a:off x="6089904" y="2011680"/>
            <a:ext cx="2514600" cy="320040"/>
          </a:xfrm>
          <a:prstGeom prst="rect">
            <a:avLst/>
          </a:prstGeom>
          <a:noFill/>
          <a:ln>
            <a:noFill/>
          </a:ln>
        </p:spPr>
        <p:txBody>
          <a:bodyPr wrap="square" lIns="0" tIns="0" rIns="0" bIns="0" rtlCol="0" anchor="t">
            <a:noAutofit/>
          </a:bodyPr>
          <a:lstStyle/>
          <a:p>
            <a:pPr marL="0" indent="0" algn="l">
              <a:buNone/>
            </a:pPr>
            <a:r>
              <a:rPr lang="fr-FR" sz="1500" b="1" dirty="0">
                <a:solidFill>
                  <a:srgbClr val="333333"/>
                </a:solidFill>
                <a:latin typeface="Arial"/>
                <a:cs typeface="Arial"/>
              </a:rPr>
              <a:t>Suivre</a:t>
            </a:r>
            <a:endParaRPr lang="fr-FR" sz="1500" dirty="0"/>
          </a:p>
        </p:txBody>
      </p:sp>
      <p:sp>
        <p:nvSpPr>
          <p:cNvPr id="19" name="Shape 19"/>
          <p:cNvSpPr txBox="1"/>
          <p:nvPr/>
        </p:nvSpPr>
        <p:spPr>
          <a:xfrm>
            <a:off x="6089904" y="2395728"/>
            <a:ext cx="2514600" cy="1188720"/>
          </a:xfrm>
          <a:prstGeom prst="rect">
            <a:avLst/>
          </a:prstGeom>
          <a:noFill/>
          <a:ln>
            <a:noFill/>
          </a:ln>
        </p:spPr>
        <p:txBody>
          <a:bodyPr wrap="square" lIns="0" tIns="0" rIns="0" bIns="0" rtlCol="0" anchor="t">
            <a:noAutofit/>
          </a:bodyPr>
          <a:lstStyle/>
          <a:p>
            <a:pPr marL="0" indent="0" algn="l">
              <a:buNone/>
            </a:pPr>
            <a:r>
              <a:rPr lang="fr-FR" sz="1150" dirty="0">
                <a:solidFill>
                  <a:srgbClr val="5D5D5D"/>
                </a:solidFill>
                <a:latin typeface="Calibri"/>
                <a:cs typeface="Calibri"/>
              </a:rPr>
              <a:t>À chaque nouvelle orthophoto IGN, on relance la chaîne et on repère les passages nouveaux ou disparus.</a:t>
            </a:r>
            <a:endParaRPr lang="fr-FR" sz="1150" dirty="0"/>
          </a:p>
        </p:txBody>
      </p:sp>
      <p:sp>
        <p:nvSpPr>
          <p:cNvPr id="20" name="Shape 20"/>
          <p:cNvSpPr/>
          <p:nvPr/>
        </p:nvSpPr>
        <p:spPr>
          <a:xfrm>
            <a:off x="457200" y="3913632"/>
            <a:ext cx="73152" cy="457200"/>
          </a:xfrm>
          <a:prstGeom prst="rect">
            <a:avLst/>
          </a:prstGeom>
          <a:solidFill>
            <a:srgbClr val="95C11F"/>
          </a:solidFill>
          <a:ln>
            <a:noFill/>
          </a:ln>
        </p:spPr>
        <p:txBody>
          <a:bodyPr rtlCol="0" anchor="ctr"/>
          <a:lstStyle/>
          <a:p>
            <a:endParaRPr lang="fr-FR" dirty="0"/>
          </a:p>
        </p:txBody>
      </p:sp>
      <p:sp>
        <p:nvSpPr>
          <p:cNvPr id="21" name="Shape 21"/>
          <p:cNvSpPr txBox="1"/>
          <p:nvPr/>
        </p:nvSpPr>
        <p:spPr>
          <a:xfrm>
            <a:off x="658368" y="3913632"/>
            <a:ext cx="7955280" cy="457200"/>
          </a:xfrm>
          <a:prstGeom prst="rect">
            <a:avLst/>
          </a:prstGeom>
          <a:noFill/>
          <a:ln>
            <a:noFill/>
          </a:ln>
        </p:spPr>
        <p:txBody>
          <a:bodyPr wrap="square" lIns="0" tIns="0" rIns="0" bIns="0" rtlCol="0" anchor="ctr">
            <a:noAutofit/>
          </a:bodyPr>
          <a:lstStyle/>
          <a:p>
            <a:pPr marL="0" indent="0" algn="l">
              <a:buNone/>
            </a:pPr>
            <a:r>
              <a:rPr lang="fr-FR" sz="1300" b="1" dirty="0">
                <a:solidFill>
                  <a:srgbClr val="333333"/>
                </a:solidFill>
                <a:latin typeface="Arial"/>
                <a:cs typeface="Arial"/>
              </a:rPr>
              <a:t>Avant tout : revoir les 1 036 alertes et valider la couche avec les services.</a:t>
            </a:r>
            <a:endParaRPr lang="fr-FR"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POUR CONCLURE</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Quand s'arrêter ? Dès que le post-traitement suffit</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21</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9"/>
          <p:cNvSpPr/>
          <p:nvPr/>
        </p:nvSpPr>
        <p:spPr>
          <a:xfrm>
            <a:off x="457200" y="1188720"/>
            <a:ext cx="2651760" cy="1188720"/>
          </a:xfrm>
          <a:prstGeom prst="rect">
            <a:avLst/>
          </a:prstGeom>
          <a:solidFill>
            <a:srgbClr val="F0F0F0"/>
          </a:solidFill>
          <a:ln>
            <a:noFill/>
          </a:ln>
        </p:spPr>
        <p:txBody>
          <a:bodyPr wrap="square" lIns="128016" tIns="91440" rIns="128016" bIns="73152" rtlCol="0" anchor="t">
            <a:noAutofit/>
          </a:bodyPr>
          <a:lstStyle/>
          <a:p>
            <a:pPr marL="0" indent="0" algn="l">
              <a:spcAft>
                <a:spcPts val="400"/>
              </a:spcAft>
              <a:buNone/>
            </a:pPr>
            <a:r>
              <a:rPr lang="fr-FR" sz="1300" b="1" dirty="0">
                <a:solidFill>
                  <a:srgbClr val="333333"/>
                </a:solidFill>
                <a:latin typeface="Arial"/>
                <a:cs typeface="Arial"/>
              </a:rPr>
              <a:t>Règles SIG</a:t>
            </a:r>
            <a:endParaRPr lang="fr-FR" sz="1300" dirty="0"/>
          </a:p>
          <a:p>
            <a:pPr marL="0" indent="0" algn="l">
              <a:buNone/>
            </a:pPr>
            <a:r>
              <a:rPr lang="fr-FR" sz="1050" dirty="0">
                <a:solidFill>
                  <a:srgbClr val="5D5D5D"/>
                </a:solidFill>
                <a:latin typeface="Calibri"/>
                <a:cs typeface="Calibri"/>
              </a:rPr>
              <a:t>Quand une donnée source existe. Pas le cas ici.</a:t>
            </a:r>
            <a:endParaRPr lang="fr-FR" sz="1050" dirty="0"/>
          </a:p>
        </p:txBody>
      </p:sp>
      <p:sp>
        <p:nvSpPr>
          <p:cNvPr id="10" name="Shape 10"/>
          <p:cNvSpPr/>
          <p:nvPr/>
        </p:nvSpPr>
        <p:spPr>
          <a:xfrm>
            <a:off x="3246120" y="1188720"/>
            <a:ext cx="2651760" cy="1188720"/>
          </a:xfrm>
          <a:prstGeom prst="rect">
            <a:avLst/>
          </a:prstGeom>
          <a:solidFill>
            <a:srgbClr val="E0F3FB"/>
          </a:solidFill>
          <a:ln>
            <a:noFill/>
          </a:ln>
        </p:spPr>
        <p:txBody>
          <a:bodyPr wrap="square" lIns="128016" tIns="91440" rIns="128016" bIns="73152" rtlCol="0" anchor="t">
            <a:noAutofit/>
          </a:bodyPr>
          <a:lstStyle/>
          <a:p>
            <a:pPr marL="0" indent="0" algn="l">
              <a:spcAft>
                <a:spcPts val="400"/>
              </a:spcAft>
              <a:buNone/>
            </a:pPr>
            <a:r>
              <a:rPr lang="fr-FR" sz="1300" b="1" dirty="0">
                <a:solidFill>
                  <a:srgbClr val="333333"/>
                </a:solidFill>
                <a:latin typeface="Arial"/>
                <a:cs typeface="Arial"/>
              </a:rPr>
              <a:t>SAM 3, vérifié à l'œil</a:t>
            </a:r>
            <a:endParaRPr lang="fr-FR" sz="1300" dirty="0"/>
          </a:p>
          <a:p>
            <a:pPr marL="0" indent="0" algn="l">
              <a:buNone/>
            </a:pPr>
            <a:r>
              <a:rPr lang="fr-FR" sz="1050" dirty="0">
                <a:solidFill>
                  <a:srgbClr val="5D5D5D"/>
                </a:solidFill>
                <a:latin typeface="Calibri"/>
                <a:cs typeface="Calibri"/>
              </a:rPr>
              <a:t>Pour un besoin ponctuel, si on accepte de corriger à la main.</a:t>
            </a:r>
            <a:endParaRPr lang="fr-FR" sz="1050" dirty="0"/>
          </a:p>
        </p:txBody>
      </p:sp>
      <p:sp>
        <p:nvSpPr>
          <p:cNvPr id="11" name="Shape 11"/>
          <p:cNvSpPr/>
          <p:nvPr/>
        </p:nvSpPr>
        <p:spPr>
          <a:xfrm>
            <a:off x="6035040" y="1188720"/>
            <a:ext cx="2651760" cy="1188720"/>
          </a:xfrm>
          <a:prstGeom prst="rect">
            <a:avLst/>
          </a:prstGeom>
          <a:solidFill>
            <a:srgbClr val="009FE3"/>
          </a:solidFill>
          <a:ln>
            <a:noFill/>
          </a:ln>
        </p:spPr>
        <p:txBody>
          <a:bodyPr wrap="square" lIns="128016" tIns="91440" rIns="128016" bIns="73152" rtlCol="0" anchor="t">
            <a:noAutofit/>
          </a:bodyPr>
          <a:lstStyle/>
          <a:p>
            <a:pPr marL="0" indent="0" algn="l">
              <a:spcAft>
                <a:spcPts val="400"/>
              </a:spcAft>
              <a:buNone/>
            </a:pPr>
            <a:r>
              <a:rPr lang="fr-FR" sz="1300" b="1" dirty="0">
                <a:solidFill>
                  <a:srgbClr val="FFFFFF"/>
                </a:solidFill>
                <a:latin typeface="Arial"/>
                <a:cs typeface="Arial"/>
              </a:rPr>
              <a:t>Modèle entraîné</a:t>
            </a:r>
            <a:endParaRPr lang="fr-FR" sz="1300" dirty="0"/>
          </a:p>
          <a:p>
            <a:pPr marL="0" indent="0" algn="l">
              <a:buNone/>
            </a:pPr>
            <a:r>
              <a:rPr lang="fr-FR" sz="1050" dirty="0">
                <a:solidFill>
                  <a:srgbClr val="FFFFFF"/>
                </a:solidFill>
                <a:latin typeface="Calibri"/>
                <a:cs typeface="Calibri"/>
              </a:rPr>
              <a:t>Quand le volume et la répétition le justifient : 8 communes, chaque millésime.</a:t>
            </a:r>
            <a:endParaRPr lang="fr-FR" sz="1050" dirty="0"/>
          </a:p>
        </p:txBody>
      </p:sp>
      <p:sp>
        <p:nvSpPr>
          <p:cNvPr id="12" name="Shape 12"/>
          <p:cNvSpPr txBox="1"/>
          <p:nvPr/>
        </p:nvSpPr>
        <p:spPr>
          <a:xfrm>
            <a:off x="457200" y="2606040"/>
            <a:ext cx="8229600" cy="274320"/>
          </a:xfrm>
          <a:prstGeom prst="rect">
            <a:avLst/>
          </a:prstGeom>
          <a:noFill/>
          <a:ln>
            <a:noFill/>
          </a:ln>
        </p:spPr>
        <p:txBody>
          <a:bodyPr wrap="square" lIns="0" tIns="0" rIns="0" bIns="0" rtlCol="0" anchor="t">
            <a:noAutofit/>
          </a:bodyPr>
          <a:lstStyle/>
          <a:p>
            <a:pPr marL="0" indent="0" algn="l">
              <a:buNone/>
            </a:pPr>
            <a:r>
              <a:rPr lang="fr-FR" sz="1250" b="1" dirty="0">
                <a:solidFill>
                  <a:srgbClr val="009FE3"/>
                </a:solidFill>
                <a:latin typeface="Arial"/>
                <a:cs typeface="Arial"/>
              </a:rPr>
              <a:t>Ce qu'on retient</a:t>
            </a:r>
            <a:endParaRPr lang="fr-FR" sz="1250" dirty="0"/>
          </a:p>
        </p:txBody>
      </p:sp>
      <p:sp>
        <p:nvSpPr>
          <p:cNvPr id="13" name="Shape 13"/>
          <p:cNvSpPr txBox="1"/>
          <p:nvPr/>
        </p:nvSpPr>
        <p:spPr>
          <a:xfrm>
            <a:off x="457200" y="2907792"/>
            <a:ext cx="8229600" cy="1188720"/>
          </a:xfrm>
          <a:prstGeom prst="rect">
            <a:avLst/>
          </a:prstGeom>
          <a:noFill/>
          <a:ln>
            <a:noFill/>
          </a:ln>
        </p:spPr>
        <p:txBody>
          <a:bodyPr wrap="square" lIns="0" tIns="0" rIns="0" bIns="0" rtlCol="0" anchor="t">
            <a:noAutofit/>
          </a:bodyPr>
          <a:lstStyle/>
          <a:p>
            <a:pPr marL="171450" indent="-171450" algn="l">
              <a:spcAft>
                <a:spcPts val="300"/>
              </a:spcAft>
              <a:buFont typeface="Arial"/>
              <a:buChar char="•"/>
            </a:pPr>
            <a:r>
              <a:rPr lang="fr-FR" sz="1100" dirty="0">
                <a:solidFill>
                  <a:srgbClr val="5D5D5D"/>
                </a:solidFill>
                <a:latin typeface="Calibri"/>
                <a:cs typeface="Calibri"/>
              </a:rPr>
              <a:t>SAM 3 nous a fait gagner beaucoup de temps pour construire les données.</a:t>
            </a:r>
            <a:endParaRPr lang="fr-FR" sz="1100" dirty="0"/>
          </a:p>
          <a:p>
            <a:pPr marL="171450" indent="-171450" algn="l">
              <a:spcAft>
                <a:spcPts val="300"/>
              </a:spcAft>
              <a:buFont typeface="Arial"/>
              <a:buChar char="•"/>
            </a:pPr>
            <a:r>
              <a:rPr lang="fr-FR" sz="1100" dirty="0">
                <a:solidFill>
                  <a:srgbClr val="5D5D5D"/>
                </a:solidFill>
                <a:latin typeface="Calibri"/>
                <a:cs typeface="Calibri"/>
              </a:rPr>
              <a:t>Il faut découper le territoire par quartiers avant de faire les tuiles.</a:t>
            </a:r>
            <a:endParaRPr lang="fr-FR" sz="1100" dirty="0"/>
          </a:p>
          <a:p>
            <a:pPr marL="171450" indent="-171450" algn="l">
              <a:spcAft>
                <a:spcPts val="300"/>
              </a:spcAft>
              <a:buFont typeface="Arial"/>
              <a:buChar char="•"/>
            </a:pPr>
            <a:r>
              <a:rPr lang="fr-FR" sz="1100" dirty="0">
                <a:solidFill>
                  <a:srgbClr val="5D5D5D"/>
                </a:solidFill>
                <a:latin typeface="Calibri"/>
                <a:cs typeface="Calibri"/>
              </a:rPr>
              <a:t>Un U-Net classique suffit, et il tourne sur un portable.</a:t>
            </a:r>
            <a:endParaRPr lang="fr-FR" sz="1100" dirty="0"/>
          </a:p>
          <a:p>
            <a:pPr marL="171450" indent="-171450" algn="l">
              <a:buFont typeface="Arial"/>
              <a:buChar char="•"/>
            </a:pPr>
            <a:r>
              <a:rPr lang="fr-FR" sz="1100" dirty="0">
                <a:solidFill>
                  <a:srgbClr val="5D5D5D"/>
                </a:solidFill>
                <a:latin typeface="Calibri"/>
                <a:cs typeface="Calibri"/>
              </a:rPr>
              <a:t>Les alertes du post-traitement disent où regarder.</a:t>
            </a:r>
            <a:endParaRPr lang="fr-FR" sz="1100" dirty="0"/>
          </a:p>
        </p:txBody>
      </p:sp>
      <p:sp>
        <p:nvSpPr>
          <p:cNvPr id="14" name="Shape 14"/>
          <p:cNvSpPr txBox="1"/>
          <p:nvPr/>
        </p:nvSpPr>
        <p:spPr>
          <a:xfrm>
            <a:off x="457200" y="4206240"/>
            <a:ext cx="8229600" cy="457200"/>
          </a:xfrm>
          <a:prstGeom prst="rect">
            <a:avLst/>
          </a:prstGeom>
          <a:noFill/>
          <a:ln>
            <a:noFill/>
          </a:ln>
        </p:spPr>
        <p:txBody>
          <a:bodyPr wrap="square" lIns="0" tIns="0" rIns="0" bIns="0" rtlCol="0" anchor="ctr">
            <a:noAutofit/>
          </a:bodyPr>
          <a:lstStyle/>
          <a:p>
            <a:pPr marL="0" indent="0" algn="ctr">
              <a:buNone/>
            </a:pPr>
            <a:r>
              <a:rPr lang="fr-FR" sz="1700" b="1" dirty="0">
                <a:solidFill>
                  <a:srgbClr val="333333"/>
                </a:solidFill>
                <a:latin typeface="Arial"/>
                <a:cs typeface="Arial"/>
              </a:rPr>
              <a:t>Merci. Vos questions ?</a:t>
            </a:r>
            <a:endParaRPr lang="fr-FR"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ANNEXE A · MESURER</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On mesure des passages trouvés, pas des pixels bien classés</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22</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9"/>
          <p:cNvSpPr/>
          <p:nvPr/>
        </p:nvSpPr>
        <p:spPr>
          <a:xfrm>
            <a:off x="457200" y="1188720"/>
            <a:ext cx="3291840" cy="3474720"/>
          </a:xfrm>
          <a:prstGeom prst="rect">
            <a:avLst/>
          </a:prstGeom>
          <a:solidFill>
            <a:srgbClr val="FDEEF1"/>
          </a:solidFill>
          <a:ln>
            <a:noFill/>
          </a:ln>
        </p:spPr>
        <p:txBody>
          <a:bodyPr wrap="square" lIns="146304" tIns="109728" rIns="146304" bIns="91440" rtlCol="0" anchor="t">
            <a:noAutofit/>
          </a:bodyPr>
          <a:lstStyle/>
          <a:p>
            <a:pPr marL="0" indent="0" algn="l">
              <a:spcAft>
                <a:spcPts val="600"/>
              </a:spcAft>
              <a:buNone/>
            </a:pPr>
            <a:r>
              <a:rPr lang="fr-FR" sz="1250" b="1" dirty="0">
                <a:solidFill>
                  <a:srgbClr val="E20134"/>
                </a:solidFill>
                <a:latin typeface="Arial"/>
                <a:cs typeface="Arial"/>
              </a:rPr>
              <a:t>Le piège</a:t>
            </a:r>
            <a:endParaRPr lang="fr-FR" sz="1250" dirty="0"/>
          </a:p>
          <a:p>
            <a:pPr marL="0" indent="0" algn="l">
              <a:spcAft>
                <a:spcPts val="600"/>
              </a:spcAft>
              <a:buNone/>
            </a:pPr>
            <a:r>
              <a:rPr lang="fr-FR" sz="1100" dirty="0">
                <a:solidFill>
                  <a:srgbClr val="5D5D5D"/>
                </a:solidFill>
                <a:latin typeface="Calibri"/>
                <a:cs typeface="Calibri"/>
              </a:rPr>
              <a:t>Les passages couvrent 0,67 % de l'image.</a:t>
            </a:r>
            <a:endParaRPr lang="fr-FR" sz="1100" dirty="0"/>
          </a:p>
          <a:p>
            <a:pPr marL="0" indent="0" algn="l">
              <a:spcAft>
                <a:spcPts val="600"/>
              </a:spcAft>
              <a:buNone/>
            </a:pPr>
            <a:r>
              <a:rPr lang="fr-FR" sz="1200" b="1" dirty="0">
                <a:solidFill>
                  <a:srgbClr val="333333"/>
                </a:solidFill>
                <a:latin typeface="Arial"/>
                <a:cs typeface="Arial"/>
              </a:rPr>
              <a:t>Un modèle qui ne détecte rien a donc 99,33 % de pixels « bien classés ».</a:t>
            </a:r>
            <a:endParaRPr lang="fr-FR" sz="1200" dirty="0"/>
          </a:p>
          <a:p>
            <a:pPr marL="0" indent="0" algn="l">
              <a:buNone/>
            </a:pPr>
            <a:r>
              <a:rPr lang="fr-FR" sz="1100" dirty="0">
                <a:solidFill>
                  <a:srgbClr val="5D5D5D"/>
                </a:solidFill>
                <a:latin typeface="Calibri"/>
                <a:cs typeface="Calibri"/>
              </a:rPr>
              <a:t>Ce score ne dit rien de la donnée.</a:t>
            </a:r>
            <a:endParaRPr lang="fr-FR" sz="1100" dirty="0"/>
          </a:p>
        </p:txBody>
      </p:sp>
      <p:sp>
        <p:nvSpPr>
          <p:cNvPr id="10" name="Shape 10"/>
          <p:cNvSpPr/>
          <p:nvPr/>
        </p:nvSpPr>
        <p:spPr>
          <a:xfrm>
            <a:off x="3931920" y="1188720"/>
            <a:ext cx="4754880" cy="777240"/>
          </a:xfrm>
          <a:prstGeom prst="rect">
            <a:avLst/>
          </a:prstGeom>
          <a:solidFill>
            <a:srgbClr val="F0F0F0"/>
          </a:solidFill>
          <a:ln>
            <a:noFill/>
          </a:ln>
        </p:spPr>
        <p:txBody>
          <a:bodyPr wrap="square" lIns="128016" tIns="36576" rIns="128016" bIns="36576" rtlCol="0" anchor="ctr">
            <a:noAutofit/>
          </a:bodyPr>
          <a:lstStyle/>
          <a:p>
            <a:pPr marL="0" indent="0" algn="l">
              <a:spcAft>
                <a:spcPts val="200"/>
              </a:spcAft>
              <a:buNone/>
            </a:pPr>
            <a:r>
              <a:rPr lang="fr-FR" sz="1200" b="1" dirty="0">
                <a:solidFill>
                  <a:srgbClr val="333333"/>
                </a:solidFill>
                <a:latin typeface="Arial"/>
                <a:cs typeface="Arial"/>
              </a:rPr>
              <a:t>Passages trouvés · </a:t>
            </a:r>
            <a:r>
              <a:rPr lang="fr-FR" sz="1200" b="1" dirty="0">
                <a:solidFill>
                  <a:srgbClr val="009FE3"/>
                </a:solidFill>
                <a:latin typeface="Arial"/>
                <a:cs typeface="Arial"/>
              </a:rPr>
              <a:t>cible &gt; 88 %</a:t>
            </a:r>
            <a:endParaRPr lang="fr-FR" sz="1200" dirty="0"/>
          </a:p>
          <a:p>
            <a:pPr marL="0" indent="0" algn="l">
              <a:buNone/>
            </a:pPr>
            <a:r>
              <a:rPr lang="fr-FR" sz="1050" dirty="0">
                <a:solidFill>
                  <a:srgbClr val="5E7F0F"/>
                </a:solidFill>
                <a:latin typeface="Calibri"/>
                <a:cs typeface="Calibri"/>
              </a:rPr>
              <a:t>mesuré : 89 % sur Vanves</a:t>
            </a:r>
            <a:endParaRPr lang="fr-FR" sz="1050" dirty="0"/>
          </a:p>
        </p:txBody>
      </p:sp>
      <p:sp>
        <p:nvSpPr>
          <p:cNvPr id="11" name="Shape 11"/>
          <p:cNvSpPr/>
          <p:nvPr/>
        </p:nvSpPr>
        <p:spPr>
          <a:xfrm>
            <a:off x="3931920" y="2084832"/>
            <a:ext cx="4754880" cy="777240"/>
          </a:xfrm>
          <a:prstGeom prst="rect">
            <a:avLst/>
          </a:prstGeom>
          <a:solidFill>
            <a:srgbClr val="F0F0F0"/>
          </a:solidFill>
          <a:ln>
            <a:noFill/>
          </a:ln>
        </p:spPr>
        <p:txBody>
          <a:bodyPr wrap="square" lIns="128016" tIns="36576" rIns="128016" bIns="36576" rtlCol="0" anchor="ctr">
            <a:noAutofit/>
          </a:bodyPr>
          <a:lstStyle/>
          <a:p>
            <a:pPr marL="0" indent="0" algn="l">
              <a:spcAft>
                <a:spcPts val="200"/>
              </a:spcAft>
              <a:buNone/>
            </a:pPr>
            <a:r>
              <a:rPr lang="fr-FR" sz="1200" b="1" dirty="0">
                <a:solidFill>
                  <a:srgbClr val="333333"/>
                </a:solidFill>
                <a:latin typeface="Arial"/>
                <a:cs typeface="Arial"/>
              </a:rPr>
              <a:t>Points justes · </a:t>
            </a:r>
            <a:r>
              <a:rPr lang="fr-FR" sz="1200" b="1" dirty="0">
                <a:solidFill>
                  <a:srgbClr val="009FE3"/>
                </a:solidFill>
                <a:latin typeface="Arial"/>
                <a:cs typeface="Arial"/>
              </a:rPr>
              <a:t>cible &gt; 85 %</a:t>
            </a:r>
            <a:endParaRPr lang="fr-FR" sz="1200" dirty="0"/>
          </a:p>
          <a:p>
            <a:pPr marL="0" indent="0" algn="l">
              <a:buNone/>
            </a:pPr>
            <a:r>
              <a:rPr lang="fr-FR" sz="1050" dirty="0">
                <a:solidFill>
                  <a:srgbClr val="5E7F0F"/>
                </a:solidFill>
                <a:latin typeface="Calibri"/>
                <a:cs typeface="Calibri"/>
              </a:rPr>
              <a:t>mesuré : 100 % (0 parasite) sur Vanves</a:t>
            </a:r>
            <a:endParaRPr lang="fr-FR" sz="1050" dirty="0"/>
          </a:p>
        </p:txBody>
      </p:sp>
      <p:sp>
        <p:nvSpPr>
          <p:cNvPr id="12" name="Shape 12"/>
          <p:cNvSpPr/>
          <p:nvPr/>
        </p:nvSpPr>
        <p:spPr>
          <a:xfrm>
            <a:off x="3931920" y="2980944"/>
            <a:ext cx="4754880" cy="777240"/>
          </a:xfrm>
          <a:prstGeom prst="rect">
            <a:avLst/>
          </a:prstGeom>
          <a:solidFill>
            <a:srgbClr val="F0F0F0"/>
          </a:solidFill>
          <a:ln>
            <a:noFill/>
          </a:ln>
        </p:spPr>
        <p:txBody>
          <a:bodyPr wrap="square" lIns="128016" tIns="36576" rIns="128016" bIns="36576" rtlCol="0" anchor="ctr">
            <a:noAutofit/>
          </a:bodyPr>
          <a:lstStyle/>
          <a:p>
            <a:pPr marL="0" indent="0" algn="l">
              <a:spcAft>
                <a:spcPts val="200"/>
              </a:spcAft>
              <a:buNone/>
            </a:pPr>
            <a:r>
              <a:rPr lang="fr-FR" sz="1200" b="1" dirty="0">
                <a:solidFill>
                  <a:srgbClr val="333333"/>
                </a:solidFill>
                <a:latin typeface="Arial"/>
                <a:cs typeface="Arial"/>
              </a:rPr>
              <a:t>Position du point · </a:t>
            </a:r>
            <a:r>
              <a:rPr lang="fr-FR" sz="1200" b="1" dirty="0">
                <a:solidFill>
                  <a:srgbClr val="009FE3"/>
                </a:solidFill>
                <a:latin typeface="Arial"/>
                <a:cs typeface="Arial"/>
              </a:rPr>
              <a:t>cible &lt; 1,5 m</a:t>
            </a:r>
            <a:endParaRPr lang="fr-FR" sz="1200" dirty="0"/>
          </a:p>
          <a:p>
            <a:pPr marL="0" indent="0" algn="l">
              <a:buNone/>
            </a:pPr>
            <a:r>
              <a:rPr lang="fr-FR" sz="1050" dirty="0">
                <a:solidFill>
                  <a:srgbClr val="5E7F0F"/>
                </a:solidFill>
                <a:latin typeface="Calibri"/>
                <a:cs typeface="Calibri"/>
              </a:rPr>
              <a:t>mesuré : 0,40 m en médiane sur Vanves</a:t>
            </a:r>
            <a:endParaRPr lang="fr-FR" sz="1050" dirty="0"/>
          </a:p>
        </p:txBody>
      </p:sp>
      <p:sp>
        <p:nvSpPr>
          <p:cNvPr id="13" name="Shape 13"/>
          <p:cNvSpPr/>
          <p:nvPr/>
        </p:nvSpPr>
        <p:spPr>
          <a:xfrm>
            <a:off x="3931920" y="3877056"/>
            <a:ext cx="4754880" cy="777240"/>
          </a:xfrm>
          <a:prstGeom prst="rect">
            <a:avLst/>
          </a:prstGeom>
          <a:solidFill>
            <a:srgbClr val="F0F0F0"/>
          </a:solidFill>
          <a:ln>
            <a:noFill/>
          </a:ln>
        </p:spPr>
        <p:txBody>
          <a:bodyPr wrap="square" lIns="128016" tIns="36576" rIns="128016" bIns="36576" rtlCol="0" anchor="ctr">
            <a:noAutofit/>
          </a:bodyPr>
          <a:lstStyle/>
          <a:p>
            <a:pPr marL="0" indent="0" algn="l">
              <a:spcAft>
                <a:spcPts val="200"/>
              </a:spcAft>
              <a:buNone/>
            </a:pPr>
            <a:r>
              <a:rPr lang="fr-FR" sz="1200" b="1" dirty="0">
                <a:solidFill>
                  <a:srgbClr val="333333"/>
                </a:solidFill>
                <a:latin typeface="Arial"/>
                <a:cs typeface="Arial"/>
              </a:rPr>
              <a:t>Comptage par cellule de 102 m · </a:t>
            </a:r>
            <a:r>
              <a:rPr lang="fr-FR" sz="1200" b="1" dirty="0">
                <a:solidFill>
                  <a:srgbClr val="009FE3"/>
                </a:solidFill>
                <a:latin typeface="Arial"/>
                <a:cs typeface="Arial"/>
              </a:rPr>
              <a:t>cible &lt; 0,5</a:t>
            </a:r>
            <a:endParaRPr lang="fr-FR" sz="1200" dirty="0"/>
          </a:p>
          <a:p>
            <a:pPr marL="0" indent="0" algn="l">
              <a:buNone/>
            </a:pPr>
            <a:r>
              <a:rPr lang="fr-FR" sz="1050" dirty="0">
                <a:solidFill>
                  <a:srgbClr val="5E7F0F"/>
                </a:solidFill>
                <a:latin typeface="Calibri"/>
                <a:cs typeface="Calibri"/>
              </a:rPr>
              <a:t>mesuré : 0,25 d'écart moyen sur Vanves</a:t>
            </a:r>
            <a:endParaRPr lang="fr-FR"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ANNEXE B · RÉSULTATS DÉTAILLÉS</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Résultats par passage, sur le réglage et sur le test</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23</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9"/>
          <p:cNvSpPr/>
          <p:nvPr/>
        </p:nvSpPr>
        <p:spPr>
          <a:xfrm>
            <a:off x="457200" y="1188720"/>
            <a:ext cx="3474720" cy="329184"/>
          </a:xfrm>
          <a:prstGeom prst="rect">
            <a:avLst/>
          </a:prstGeom>
          <a:solidFill>
            <a:srgbClr val="009FE3"/>
          </a:solidFill>
          <a:ln>
            <a:noFill/>
          </a:ln>
        </p:spPr>
        <p:txBody>
          <a:bodyPr wrap="square" lIns="91440" tIns="18288" rIns="73152" bIns="18288" rtlCol="0" anchor="ctr">
            <a:noAutofit/>
          </a:bodyPr>
          <a:lstStyle/>
          <a:p>
            <a:pPr marL="0" indent="0" algn="l">
              <a:buNone/>
            </a:pPr>
            <a:r>
              <a:rPr lang="fr-FR" sz="1050" b="1" dirty="0">
                <a:solidFill>
                  <a:srgbClr val="FFFFFF"/>
                </a:solidFill>
                <a:latin typeface="Arial"/>
                <a:cs typeface="Arial"/>
              </a:rPr>
              <a:t>Mesure</a:t>
            </a:r>
            <a:endParaRPr lang="fr-FR" sz="1050" dirty="0"/>
          </a:p>
        </p:txBody>
      </p:sp>
      <p:sp>
        <p:nvSpPr>
          <p:cNvPr id="10" name="Shape 10"/>
          <p:cNvSpPr/>
          <p:nvPr/>
        </p:nvSpPr>
        <p:spPr>
          <a:xfrm>
            <a:off x="3931920" y="1188720"/>
            <a:ext cx="2377440" cy="329184"/>
          </a:xfrm>
          <a:prstGeom prst="rect">
            <a:avLst/>
          </a:prstGeom>
          <a:solidFill>
            <a:srgbClr val="009FE3"/>
          </a:solidFill>
          <a:ln>
            <a:noFill/>
          </a:ln>
        </p:spPr>
        <p:txBody>
          <a:bodyPr wrap="square" lIns="91440" tIns="18288" rIns="73152" bIns="18288" rtlCol="0" anchor="ctr">
            <a:noAutofit/>
          </a:bodyPr>
          <a:lstStyle/>
          <a:p>
            <a:pPr marL="0" indent="0" algn="l">
              <a:buNone/>
            </a:pPr>
            <a:r>
              <a:rPr lang="fr-FR" sz="1050" b="1" dirty="0">
                <a:solidFill>
                  <a:srgbClr val="FFFFFF"/>
                </a:solidFill>
                <a:latin typeface="Arial"/>
                <a:cs typeface="Arial"/>
              </a:rPr>
              <a:t>Réglage · Meudon-sur-Seine</a:t>
            </a:r>
            <a:endParaRPr lang="fr-FR" sz="1050" dirty="0"/>
          </a:p>
        </p:txBody>
      </p:sp>
      <p:sp>
        <p:nvSpPr>
          <p:cNvPr id="11" name="Shape 11"/>
          <p:cNvSpPr/>
          <p:nvPr/>
        </p:nvSpPr>
        <p:spPr>
          <a:xfrm>
            <a:off x="6309360" y="1188720"/>
            <a:ext cx="2377440" cy="329184"/>
          </a:xfrm>
          <a:prstGeom prst="rect">
            <a:avLst/>
          </a:prstGeom>
          <a:solidFill>
            <a:srgbClr val="009FE3"/>
          </a:solidFill>
          <a:ln>
            <a:noFill/>
          </a:ln>
        </p:spPr>
        <p:txBody>
          <a:bodyPr wrap="square" lIns="91440" tIns="18288" rIns="73152" bIns="18288" rtlCol="0" anchor="ctr">
            <a:noAutofit/>
          </a:bodyPr>
          <a:lstStyle/>
          <a:p>
            <a:pPr marL="0" indent="0" algn="l">
              <a:buNone/>
            </a:pPr>
            <a:r>
              <a:rPr lang="fr-FR" sz="1050" b="1" dirty="0">
                <a:solidFill>
                  <a:srgbClr val="FFFFFF"/>
                </a:solidFill>
                <a:latin typeface="Arial"/>
                <a:cs typeface="Arial"/>
              </a:rPr>
              <a:t>Test · Vanves</a:t>
            </a:r>
            <a:endParaRPr lang="fr-FR" sz="1050" dirty="0"/>
          </a:p>
        </p:txBody>
      </p:sp>
      <p:sp>
        <p:nvSpPr>
          <p:cNvPr id="12" name="Shape 12"/>
          <p:cNvSpPr/>
          <p:nvPr/>
        </p:nvSpPr>
        <p:spPr>
          <a:xfrm>
            <a:off x="457200" y="1517904"/>
            <a:ext cx="3474720" cy="365760"/>
          </a:xfrm>
          <a:prstGeom prst="rect">
            <a:avLst/>
          </a:prstGeom>
          <a:solidFill>
            <a:srgbClr val="F0F0F0"/>
          </a:solidFill>
          <a:ln>
            <a:noFill/>
          </a:ln>
        </p:spPr>
        <p:txBody>
          <a:bodyPr wrap="square" lIns="91440" tIns="18288" rIns="73152" bIns="18288" rtlCol="0" anchor="ctr">
            <a:noAutofit/>
          </a:bodyPr>
          <a:lstStyle/>
          <a:p>
            <a:pPr marL="0" indent="0" algn="l">
              <a:buNone/>
            </a:pPr>
            <a:r>
              <a:rPr lang="fr-FR" sz="1050" b="1" dirty="0">
                <a:solidFill>
                  <a:srgbClr val="333333"/>
                </a:solidFill>
                <a:latin typeface="Arial"/>
                <a:cs typeface="Arial"/>
              </a:rPr>
              <a:t>Passages de référence / détectés</a:t>
            </a:r>
            <a:endParaRPr lang="fr-FR" sz="1050" dirty="0"/>
          </a:p>
        </p:txBody>
      </p:sp>
      <p:sp>
        <p:nvSpPr>
          <p:cNvPr id="13" name="Shape 13"/>
          <p:cNvSpPr/>
          <p:nvPr/>
        </p:nvSpPr>
        <p:spPr>
          <a:xfrm>
            <a:off x="3931920" y="1517904"/>
            <a:ext cx="2377440" cy="365760"/>
          </a:xfrm>
          <a:prstGeom prst="rect">
            <a:avLst/>
          </a:prstGeom>
          <a:solidFill>
            <a:srgbClr val="F0F0F0"/>
          </a:solidFill>
          <a:ln>
            <a:noFill/>
          </a:ln>
        </p:spPr>
        <p:txBody>
          <a:bodyPr wrap="square" lIns="91440" tIns="18288" rIns="73152" bIns="18288" rtlCol="0" anchor="ctr">
            <a:noAutofit/>
          </a:bodyPr>
          <a:lstStyle/>
          <a:p>
            <a:pPr marL="0" indent="0" algn="l">
              <a:buNone/>
            </a:pPr>
            <a:r>
              <a:rPr lang="fr-FR" sz="1050" dirty="0">
                <a:solidFill>
                  <a:srgbClr val="5D5D5D"/>
                </a:solidFill>
                <a:latin typeface="Calibri"/>
                <a:cs typeface="Calibri"/>
              </a:rPr>
              <a:t>55 / 54</a:t>
            </a:r>
            <a:endParaRPr lang="fr-FR" sz="1050" dirty="0"/>
          </a:p>
        </p:txBody>
      </p:sp>
      <p:sp>
        <p:nvSpPr>
          <p:cNvPr id="14" name="Shape 14"/>
          <p:cNvSpPr/>
          <p:nvPr/>
        </p:nvSpPr>
        <p:spPr>
          <a:xfrm>
            <a:off x="6309360" y="1517904"/>
            <a:ext cx="2377440" cy="365760"/>
          </a:xfrm>
          <a:prstGeom prst="rect">
            <a:avLst/>
          </a:prstGeom>
          <a:solidFill>
            <a:srgbClr val="F0F0F0"/>
          </a:solidFill>
          <a:ln>
            <a:noFill/>
          </a:ln>
        </p:spPr>
        <p:txBody>
          <a:bodyPr wrap="square" lIns="91440" tIns="18288" rIns="73152" bIns="18288" rtlCol="0" anchor="ctr">
            <a:noAutofit/>
          </a:bodyPr>
          <a:lstStyle/>
          <a:p>
            <a:pPr marL="0" indent="0" algn="l">
              <a:buNone/>
            </a:pPr>
            <a:r>
              <a:rPr lang="fr-FR" sz="1050" dirty="0">
                <a:solidFill>
                  <a:srgbClr val="5D5D5D"/>
                </a:solidFill>
                <a:latin typeface="Calibri"/>
                <a:cs typeface="Calibri"/>
              </a:rPr>
              <a:t>85 / 76</a:t>
            </a:r>
            <a:endParaRPr lang="fr-FR" sz="1050" dirty="0"/>
          </a:p>
        </p:txBody>
      </p:sp>
      <p:sp>
        <p:nvSpPr>
          <p:cNvPr id="15" name="Shape 15"/>
          <p:cNvSpPr/>
          <p:nvPr/>
        </p:nvSpPr>
        <p:spPr>
          <a:xfrm>
            <a:off x="457200" y="1883664"/>
            <a:ext cx="3474720" cy="365760"/>
          </a:xfrm>
          <a:prstGeom prst="rect">
            <a:avLst/>
          </a:prstGeom>
          <a:solidFill>
            <a:srgbClr val="FFFFFF"/>
          </a:solidFill>
          <a:ln>
            <a:noFill/>
          </a:ln>
        </p:spPr>
        <p:txBody>
          <a:bodyPr wrap="square" lIns="91440" tIns="18288" rIns="73152" bIns="18288" rtlCol="0" anchor="ctr">
            <a:noAutofit/>
          </a:bodyPr>
          <a:lstStyle/>
          <a:p>
            <a:pPr marL="0" indent="0" algn="l">
              <a:buNone/>
            </a:pPr>
            <a:r>
              <a:rPr lang="fr-FR" sz="1050" b="1" dirty="0">
                <a:solidFill>
                  <a:srgbClr val="333333"/>
                </a:solidFill>
                <a:latin typeface="Arial"/>
                <a:cs typeface="Arial"/>
              </a:rPr>
              <a:t>Points justes (précision)</a:t>
            </a:r>
            <a:endParaRPr lang="fr-FR" sz="1050" dirty="0"/>
          </a:p>
        </p:txBody>
      </p:sp>
      <p:sp>
        <p:nvSpPr>
          <p:cNvPr id="16" name="Shape 16"/>
          <p:cNvSpPr/>
          <p:nvPr/>
        </p:nvSpPr>
        <p:spPr>
          <a:xfrm>
            <a:off x="3931920" y="1883664"/>
            <a:ext cx="2377440" cy="365760"/>
          </a:xfrm>
          <a:prstGeom prst="rect">
            <a:avLst/>
          </a:prstGeom>
          <a:solidFill>
            <a:srgbClr val="FFFFFF"/>
          </a:solidFill>
          <a:ln>
            <a:noFill/>
          </a:ln>
        </p:spPr>
        <p:txBody>
          <a:bodyPr wrap="square" lIns="91440" tIns="18288" rIns="73152" bIns="18288" rtlCol="0" anchor="ctr">
            <a:noAutofit/>
          </a:bodyPr>
          <a:lstStyle/>
          <a:p>
            <a:pPr marL="0" indent="0" algn="l">
              <a:buNone/>
            </a:pPr>
            <a:r>
              <a:rPr lang="fr-FR" sz="1050" dirty="0">
                <a:solidFill>
                  <a:srgbClr val="5D5D5D"/>
                </a:solidFill>
                <a:latin typeface="Calibri"/>
                <a:cs typeface="Calibri"/>
              </a:rPr>
              <a:t>0,926</a:t>
            </a:r>
            <a:endParaRPr lang="fr-FR" sz="1050" dirty="0"/>
          </a:p>
        </p:txBody>
      </p:sp>
      <p:sp>
        <p:nvSpPr>
          <p:cNvPr id="17" name="Shape 17"/>
          <p:cNvSpPr/>
          <p:nvPr/>
        </p:nvSpPr>
        <p:spPr>
          <a:xfrm>
            <a:off x="6309360" y="1883664"/>
            <a:ext cx="2377440" cy="365760"/>
          </a:xfrm>
          <a:prstGeom prst="rect">
            <a:avLst/>
          </a:prstGeom>
          <a:solidFill>
            <a:srgbClr val="FFFFFF"/>
          </a:solidFill>
          <a:ln>
            <a:noFill/>
          </a:ln>
        </p:spPr>
        <p:txBody>
          <a:bodyPr wrap="square" lIns="91440" tIns="18288" rIns="73152" bIns="18288" rtlCol="0" anchor="ctr">
            <a:noAutofit/>
          </a:bodyPr>
          <a:lstStyle/>
          <a:p>
            <a:pPr marL="0" indent="0" algn="l">
              <a:buNone/>
            </a:pPr>
            <a:r>
              <a:rPr lang="fr-FR" sz="1050" dirty="0">
                <a:solidFill>
                  <a:srgbClr val="5D5D5D"/>
                </a:solidFill>
                <a:latin typeface="Calibri"/>
                <a:cs typeface="Calibri"/>
              </a:rPr>
              <a:t>1,000</a:t>
            </a:r>
            <a:endParaRPr lang="fr-FR" sz="1050" dirty="0"/>
          </a:p>
        </p:txBody>
      </p:sp>
      <p:sp>
        <p:nvSpPr>
          <p:cNvPr id="18" name="Shape 18"/>
          <p:cNvSpPr/>
          <p:nvPr/>
        </p:nvSpPr>
        <p:spPr>
          <a:xfrm>
            <a:off x="457200" y="2249424"/>
            <a:ext cx="3474720" cy="365760"/>
          </a:xfrm>
          <a:prstGeom prst="rect">
            <a:avLst/>
          </a:prstGeom>
          <a:solidFill>
            <a:srgbClr val="F0F0F0"/>
          </a:solidFill>
          <a:ln>
            <a:noFill/>
          </a:ln>
        </p:spPr>
        <p:txBody>
          <a:bodyPr wrap="square" lIns="91440" tIns="18288" rIns="73152" bIns="18288" rtlCol="0" anchor="ctr">
            <a:noAutofit/>
          </a:bodyPr>
          <a:lstStyle/>
          <a:p>
            <a:pPr marL="0" indent="0" algn="l">
              <a:buNone/>
            </a:pPr>
            <a:r>
              <a:rPr lang="fr-FR" sz="1050" b="1" dirty="0">
                <a:solidFill>
                  <a:srgbClr val="333333"/>
                </a:solidFill>
                <a:latin typeface="Arial"/>
                <a:cs typeface="Arial"/>
              </a:rPr>
              <a:t>Passages retrouvés (un pour un)</a:t>
            </a:r>
            <a:endParaRPr lang="fr-FR" sz="1050" dirty="0"/>
          </a:p>
        </p:txBody>
      </p:sp>
      <p:sp>
        <p:nvSpPr>
          <p:cNvPr id="19" name="Shape 19"/>
          <p:cNvSpPr/>
          <p:nvPr/>
        </p:nvSpPr>
        <p:spPr>
          <a:xfrm>
            <a:off x="3931920" y="2249424"/>
            <a:ext cx="2377440" cy="365760"/>
          </a:xfrm>
          <a:prstGeom prst="rect">
            <a:avLst/>
          </a:prstGeom>
          <a:solidFill>
            <a:srgbClr val="F0F0F0"/>
          </a:solidFill>
          <a:ln>
            <a:noFill/>
          </a:ln>
        </p:spPr>
        <p:txBody>
          <a:bodyPr wrap="square" lIns="91440" tIns="18288" rIns="73152" bIns="18288" rtlCol="0" anchor="ctr">
            <a:noAutofit/>
          </a:bodyPr>
          <a:lstStyle/>
          <a:p>
            <a:pPr marL="0" indent="0" algn="l">
              <a:buNone/>
            </a:pPr>
            <a:r>
              <a:rPr lang="fr-FR" sz="1050" dirty="0">
                <a:solidFill>
                  <a:srgbClr val="5D5D5D"/>
                </a:solidFill>
                <a:latin typeface="Calibri"/>
                <a:cs typeface="Calibri"/>
              </a:rPr>
              <a:t>0,945</a:t>
            </a:r>
            <a:endParaRPr lang="fr-FR" sz="1050" dirty="0"/>
          </a:p>
        </p:txBody>
      </p:sp>
      <p:sp>
        <p:nvSpPr>
          <p:cNvPr id="20" name="Shape 20"/>
          <p:cNvSpPr/>
          <p:nvPr/>
        </p:nvSpPr>
        <p:spPr>
          <a:xfrm>
            <a:off x="6309360" y="2249424"/>
            <a:ext cx="2377440" cy="365760"/>
          </a:xfrm>
          <a:prstGeom prst="rect">
            <a:avLst/>
          </a:prstGeom>
          <a:solidFill>
            <a:srgbClr val="F0F0F0"/>
          </a:solidFill>
          <a:ln>
            <a:noFill/>
          </a:ln>
        </p:spPr>
        <p:txBody>
          <a:bodyPr wrap="square" lIns="91440" tIns="18288" rIns="73152" bIns="18288" rtlCol="0" anchor="ctr">
            <a:noAutofit/>
          </a:bodyPr>
          <a:lstStyle/>
          <a:p>
            <a:pPr marL="0" indent="0" algn="l">
              <a:buNone/>
            </a:pPr>
            <a:r>
              <a:rPr lang="fr-FR" sz="1050" dirty="0">
                <a:solidFill>
                  <a:srgbClr val="5D5D5D"/>
                </a:solidFill>
                <a:latin typeface="Calibri"/>
                <a:cs typeface="Calibri"/>
              </a:rPr>
              <a:t>0,894</a:t>
            </a:r>
            <a:endParaRPr lang="fr-FR" sz="1050" dirty="0"/>
          </a:p>
        </p:txBody>
      </p:sp>
      <p:sp>
        <p:nvSpPr>
          <p:cNvPr id="21" name="Shape 21"/>
          <p:cNvSpPr/>
          <p:nvPr/>
        </p:nvSpPr>
        <p:spPr>
          <a:xfrm>
            <a:off x="457200" y="2615184"/>
            <a:ext cx="3474720" cy="365760"/>
          </a:xfrm>
          <a:prstGeom prst="rect">
            <a:avLst/>
          </a:prstGeom>
          <a:solidFill>
            <a:srgbClr val="FFFFFF"/>
          </a:solidFill>
          <a:ln>
            <a:noFill/>
          </a:ln>
        </p:spPr>
        <p:txBody>
          <a:bodyPr wrap="square" lIns="91440" tIns="18288" rIns="73152" bIns="18288" rtlCol="0" anchor="ctr">
            <a:noAutofit/>
          </a:bodyPr>
          <a:lstStyle/>
          <a:p>
            <a:pPr marL="0" indent="0" algn="l">
              <a:buNone/>
            </a:pPr>
            <a:r>
              <a:rPr lang="fr-FR" sz="1050" b="1" dirty="0">
                <a:solidFill>
                  <a:srgbClr val="333333"/>
                </a:solidFill>
                <a:latin typeface="Arial"/>
                <a:cs typeface="Arial"/>
              </a:rPr>
              <a:t>Écart du centre, moyen / médian</a:t>
            </a:r>
            <a:endParaRPr lang="fr-FR" sz="1050" dirty="0"/>
          </a:p>
        </p:txBody>
      </p:sp>
      <p:sp>
        <p:nvSpPr>
          <p:cNvPr id="22" name="Shape 22"/>
          <p:cNvSpPr/>
          <p:nvPr/>
        </p:nvSpPr>
        <p:spPr>
          <a:xfrm>
            <a:off x="3931920" y="2615184"/>
            <a:ext cx="2377440" cy="365760"/>
          </a:xfrm>
          <a:prstGeom prst="rect">
            <a:avLst/>
          </a:prstGeom>
          <a:solidFill>
            <a:srgbClr val="FFFFFF"/>
          </a:solidFill>
          <a:ln>
            <a:noFill/>
          </a:ln>
        </p:spPr>
        <p:txBody>
          <a:bodyPr wrap="square" lIns="91440" tIns="18288" rIns="73152" bIns="18288" rtlCol="0" anchor="ctr">
            <a:noAutofit/>
          </a:bodyPr>
          <a:lstStyle/>
          <a:p>
            <a:pPr marL="0" indent="0" algn="l">
              <a:buNone/>
            </a:pPr>
            <a:r>
              <a:rPr lang="fr-FR" sz="1050" dirty="0">
                <a:solidFill>
                  <a:srgbClr val="5D5D5D"/>
                </a:solidFill>
                <a:latin typeface="Calibri"/>
                <a:cs typeface="Calibri"/>
              </a:rPr>
              <a:t>0,67 m / 0,31 m</a:t>
            </a:r>
            <a:endParaRPr lang="fr-FR" sz="1050" dirty="0"/>
          </a:p>
        </p:txBody>
      </p:sp>
      <p:sp>
        <p:nvSpPr>
          <p:cNvPr id="23" name="Shape 23"/>
          <p:cNvSpPr/>
          <p:nvPr/>
        </p:nvSpPr>
        <p:spPr>
          <a:xfrm>
            <a:off x="6309360" y="2615184"/>
            <a:ext cx="2377440" cy="365760"/>
          </a:xfrm>
          <a:prstGeom prst="rect">
            <a:avLst/>
          </a:prstGeom>
          <a:solidFill>
            <a:srgbClr val="FFFFFF"/>
          </a:solidFill>
          <a:ln>
            <a:noFill/>
          </a:ln>
        </p:spPr>
        <p:txBody>
          <a:bodyPr wrap="square" lIns="91440" tIns="18288" rIns="73152" bIns="18288" rtlCol="0" anchor="ctr">
            <a:noAutofit/>
          </a:bodyPr>
          <a:lstStyle/>
          <a:p>
            <a:pPr marL="0" indent="0" algn="l">
              <a:buNone/>
            </a:pPr>
            <a:r>
              <a:rPr lang="fr-FR" sz="1050" dirty="0">
                <a:solidFill>
                  <a:srgbClr val="5D5D5D"/>
                </a:solidFill>
                <a:latin typeface="Calibri"/>
                <a:cs typeface="Calibri"/>
              </a:rPr>
              <a:t>0,73 m / 0,40 m</a:t>
            </a:r>
            <a:endParaRPr lang="fr-FR" sz="1050" dirty="0"/>
          </a:p>
        </p:txBody>
      </p:sp>
      <p:sp>
        <p:nvSpPr>
          <p:cNvPr id="24" name="Shape 24"/>
          <p:cNvSpPr/>
          <p:nvPr/>
        </p:nvSpPr>
        <p:spPr>
          <a:xfrm>
            <a:off x="457200" y="2980944"/>
            <a:ext cx="3474720" cy="365760"/>
          </a:xfrm>
          <a:prstGeom prst="rect">
            <a:avLst/>
          </a:prstGeom>
          <a:solidFill>
            <a:srgbClr val="F0F0F0"/>
          </a:solidFill>
          <a:ln>
            <a:noFill/>
          </a:ln>
        </p:spPr>
        <p:txBody>
          <a:bodyPr wrap="square" lIns="91440" tIns="18288" rIns="73152" bIns="18288" rtlCol="0" anchor="ctr">
            <a:noAutofit/>
          </a:bodyPr>
          <a:lstStyle/>
          <a:p>
            <a:pPr marL="0" indent="0" algn="l">
              <a:buNone/>
            </a:pPr>
            <a:r>
              <a:rPr lang="fr-FR" sz="1050" b="1" dirty="0">
                <a:solidFill>
                  <a:srgbClr val="333333"/>
                </a:solidFill>
                <a:latin typeface="Arial"/>
                <a:cs typeface="Arial"/>
              </a:rPr>
              <a:t>Centres à moins de 1,5 m</a:t>
            </a:r>
            <a:endParaRPr lang="fr-FR" sz="1050" dirty="0"/>
          </a:p>
        </p:txBody>
      </p:sp>
      <p:sp>
        <p:nvSpPr>
          <p:cNvPr id="25" name="Shape 25"/>
          <p:cNvSpPr/>
          <p:nvPr/>
        </p:nvSpPr>
        <p:spPr>
          <a:xfrm>
            <a:off x="3931920" y="2980944"/>
            <a:ext cx="2377440" cy="365760"/>
          </a:xfrm>
          <a:prstGeom prst="rect">
            <a:avLst/>
          </a:prstGeom>
          <a:solidFill>
            <a:srgbClr val="F0F0F0"/>
          </a:solidFill>
          <a:ln>
            <a:noFill/>
          </a:ln>
        </p:spPr>
        <p:txBody>
          <a:bodyPr wrap="square" lIns="91440" tIns="18288" rIns="73152" bIns="18288" rtlCol="0" anchor="ctr">
            <a:noAutofit/>
          </a:bodyPr>
          <a:lstStyle/>
          <a:p>
            <a:pPr marL="0" indent="0" algn="l">
              <a:buNone/>
            </a:pPr>
            <a:r>
              <a:rPr lang="fr-FR" sz="1050" dirty="0">
                <a:solidFill>
                  <a:srgbClr val="5D5D5D"/>
                </a:solidFill>
                <a:latin typeface="Calibri"/>
                <a:cs typeface="Calibri"/>
              </a:rPr>
              <a:t>89,6 %</a:t>
            </a:r>
            <a:endParaRPr lang="fr-FR" sz="1050" dirty="0"/>
          </a:p>
        </p:txBody>
      </p:sp>
      <p:sp>
        <p:nvSpPr>
          <p:cNvPr id="26" name="Shape 26"/>
          <p:cNvSpPr/>
          <p:nvPr/>
        </p:nvSpPr>
        <p:spPr>
          <a:xfrm>
            <a:off x="6309360" y="2980944"/>
            <a:ext cx="2377440" cy="365760"/>
          </a:xfrm>
          <a:prstGeom prst="rect">
            <a:avLst/>
          </a:prstGeom>
          <a:solidFill>
            <a:srgbClr val="F0F0F0"/>
          </a:solidFill>
          <a:ln>
            <a:noFill/>
          </a:ln>
        </p:spPr>
        <p:txBody>
          <a:bodyPr wrap="square" lIns="91440" tIns="18288" rIns="73152" bIns="18288" rtlCol="0" anchor="ctr">
            <a:noAutofit/>
          </a:bodyPr>
          <a:lstStyle/>
          <a:p>
            <a:pPr marL="0" indent="0" algn="l">
              <a:buNone/>
            </a:pPr>
            <a:r>
              <a:rPr lang="fr-FR" sz="1050" dirty="0">
                <a:solidFill>
                  <a:srgbClr val="5D5D5D"/>
                </a:solidFill>
                <a:latin typeface="Calibri"/>
                <a:cs typeface="Calibri"/>
              </a:rPr>
              <a:t>90,8 %</a:t>
            </a:r>
            <a:endParaRPr lang="fr-FR" sz="1050" dirty="0"/>
          </a:p>
        </p:txBody>
      </p:sp>
      <p:sp>
        <p:nvSpPr>
          <p:cNvPr id="27" name="Shape 27"/>
          <p:cNvSpPr/>
          <p:nvPr/>
        </p:nvSpPr>
        <p:spPr>
          <a:xfrm>
            <a:off x="457200" y="3346704"/>
            <a:ext cx="3474720" cy="365760"/>
          </a:xfrm>
          <a:prstGeom prst="rect">
            <a:avLst/>
          </a:prstGeom>
          <a:solidFill>
            <a:srgbClr val="FFFFFF"/>
          </a:solidFill>
          <a:ln>
            <a:noFill/>
          </a:ln>
        </p:spPr>
        <p:txBody>
          <a:bodyPr wrap="square" lIns="91440" tIns="18288" rIns="73152" bIns="18288" rtlCol="0" anchor="ctr">
            <a:noAutofit/>
          </a:bodyPr>
          <a:lstStyle/>
          <a:p>
            <a:pPr marL="0" indent="0" algn="l">
              <a:buNone/>
            </a:pPr>
            <a:r>
              <a:rPr lang="fr-FR" sz="1050" b="1" dirty="0">
                <a:solidFill>
                  <a:srgbClr val="333333"/>
                </a:solidFill>
                <a:latin typeface="Arial"/>
                <a:cs typeface="Arial"/>
              </a:rPr>
              <a:t>Écart de comptage par cellule de 102 m</a:t>
            </a:r>
            <a:endParaRPr lang="fr-FR" sz="1050" dirty="0"/>
          </a:p>
        </p:txBody>
      </p:sp>
      <p:sp>
        <p:nvSpPr>
          <p:cNvPr id="28" name="Shape 28"/>
          <p:cNvSpPr/>
          <p:nvPr/>
        </p:nvSpPr>
        <p:spPr>
          <a:xfrm>
            <a:off x="3931920" y="3346704"/>
            <a:ext cx="2377440" cy="365760"/>
          </a:xfrm>
          <a:prstGeom prst="rect">
            <a:avLst/>
          </a:prstGeom>
          <a:solidFill>
            <a:srgbClr val="FFFFFF"/>
          </a:solidFill>
          <a:ln>
            <a:noFill/>
          </a:ln>
        </p:spPr>
        <p:txBody>
          <a:bodyPr wrap="square" lIns="91440" tIns="18288" rIns="73152" bIns="18288" rtlCol="0" anchor="ctr">
            <a:noAutofit/>
          </a:bodyPr>
          <a:lstStyle/>
          <a:p>
            <a:pPr marL="0" indent="0" algn="l">
              <a:buNone/>
            </a:pPr>
            <a:r>
              <a:rPr lang="fr-FR" sz="1050" dirty="0">
                <a:solidFill>
                  <a:srgbClr val="5D5D5D"/>
                </a:solidFill>
                <a:latin typeface="Calibri"/>
                <a:cs typeface="Calibri"/>
              </a:rPr>
              <a:t>0,194</a:t>
            </a:r>
            <a:endParaRPr lang="fr-FR" sz="1050" dirty="0"/>
          </a:p>
        </p:txBody>
      </p:sp>
      <p:sp>
        <p:nvSpPr>
          <p:cNvPr id="29" name="Shape 29"/>
          <p:cNvSpPr/>
          <p:nvPr/>
        </p:nvSpPr>
        <p:spPr>
          <a:xfrm>
            <a:off x="6309360" y="3346704"/>
            <a:ext cx="2377440" cy="365760"/>
          </a:xfrm>
          <a:prstGeom prst="rect">
            <a:avLst/>
          </a:prstGeom>
          <a:solidFill>
            <a:srgbClr val="FFFFFF"/>
          </a:solidFill>
          <a:ln>
            <a:noFill/>
          </a:ln>
        </p:spPr>
        <p:txBody>
          <a:bodyPr wrap="square" lIns="91440" tIns="18288" rIns="73152" bIns="18288" rtlCol="0" anchor="ctr">
            <a:noAutofit/>
          </a:bodyPr>
          <a:lstStyle/>
          <a:p>
            <a:pPr marL="0" indent="0" algn="l">
              <a:buNone/>
            </a:pPr>
            <a:r>
              <a:rPr lang="fr-FR" sz="1050" dirty="0">
                <a:solidFill>
                  <a:srgbClr val="5D5D5D"/>
                </a:solidFill>
                <a:latin typeface="Calibri"/>
                <a:cs typeface="Calibri"/>
              </a:rPr>
              <a:t>0,250</a:t>
            </a:r>
            <a:endParaRPr lang="fr-FR" sz="1050" dirty="0"/>
          </a:p>
        </p:txBody>
      </p:sp>
      <p:sp>
        <p:nvSpPr>
          <p:cNvPr id="30" name="Shape 30"/>
          <p:cNvSpPr/>
          <p:nvPr/>
        </p:nvSpPr>
        <p:spPr>
          <a:xfrm>
            <a:off x="457200" y="3712464"/>
            <a:ext cx="3474720" cy="365760"/>
          </a:xfrm>
          <a:prstGeom prst="rect">
            <a:avLst/>
          </a:prstGeom>
          <a:solidFill>
            <a:srgbClr val="F0F0F0"/>
          </a:solidFill>
          <a:ln>
            <a:noFill/>
          </a:ln>
        </p:spPr>
        <p:txBody>
          <a:bodyPr wrap="square" lIns="91440" tIns="18288" rIns="73152" bIns="18288" rtlCol="0" anchor="ctr">
            <a:noAutofit/>
          </a:bodyPr>
          <a:lstStyle/>
          <a:p>
            <a:pPr marL="0" indent="0" algn="l">
              <a:buNone/>
            </a:pPr>
            <a:r>
              <a:rPr lang="fr-FR" sz="1050" b="1" dirty="0">
                <a:solidFill>
                  <a:srgbClr val="333333"/>
                </a:solidFill>
                <a:latin typeface="Arial"/>
                <a:cs typeface="Arial"/>
              </a:rPr>
              <a:t>Écart de comptage total</a:t>
            </a:r>
            <a:endParaRPr lang="fr-FR" sz="1050" dirty="0"/>
          </a:p>
        </p:txBody>
      </p:sp>
      <p:sp>
        <p:nvSpPr>
          <p:cNvPr id="31" name="Shape 31"/>
          <p:cNvSpPr/>
          <p:nvPr/>
        </p:nvSpPr>
        <p:spPr>
          <a:xfrm>
            <a:off x="3931920" y="3712464"/>
            <a:ext cx="2377440" cy="365760"/>
          </a:xfrm>
          <a:prstGeom prst="rect">
            <a:avLst/>
          </a:prstGeom>
          <a:solidFill>
            <a:srgbClr val="F0F0F0"/>
          </a:solidFill>
          <a:ln>
            <a:noFill/>
          </a:ln>
        </p:spPr>
        <p:txBody>
          <a:bodyPr wrap="square" lIns="91440" tIns="18288" rIns="73152" bIns="18288" rtlCol="0" anchor="ctr">
            <a:noAutofit/>
          </a:bodyPr>
          <a:lstStyle/>
          <a:p>
            <a:pPr marL="0" indent="0" algn="l">
              <a:buNone/>
            </a:pPr>
            <a:r>
              <a:rPr lang="fr-FR" sz="1050" dirty="0">
                <a:solidFill>
                  <a:srgbClr val="5D5D5D"/>
                </a:solidFill>
                <a:latin typeface="Calibri"/>
                <a:cs typeface="Calibri"/>
              </a:rPr>
              <a:t>−1</a:t>
            </a:r>
            <a:endParaRPr lang="fr-FR" sz="1050" dirty="0"/>
          </a:p>
        </p:txBody>
      </p:sp>
      <p:sp>
        <p:nvSpPr>
          <p:cNvPr id="32" name="Shape 32"/>
          <p:cNvSpPr/>
          <p:nvPr/>
        </p:nvSpPr>
        <p:spPr>
          <a:xfrm>
            <a:off x="6309360" y="3712464"/>
            <a:ext cx="2377440" cy="365760"/>
          </a:xfrm>
          <a:prstGeom prst="rect">
            <a:avLst/>
          </a:prstGeom>
          <a:solidFill>
            <a:srgbClr val="F0F0F0"/>
          </a:solidFill>
          <a:ln>
            <a:noFill/>
          </a:ln>
        </p:spPr>
        <p:txBody>
          <a:bodyPr wrap="square" lIns="91440" tIns="18288" rIns="73152" bIns="18288" rtlCol="0" anchor="ctr">
            <a:noAutofit/>
          </a:bodyPr>
          <a:lstStyle/>
          <a:p>
            <a:pPr marL="0" indent="0" algn="l">
              <a:buNone/>
            </a:pPr>
            <a:r>
              <a:rPr lang="fr-FR" sz="1050" dirty="0">
                <a:solidFill>
                  <a:srgbClr val="5D5D5D"/>
                </a:solidFill>
                <a:latin typeface="Calibri"/>
                <a:cs typeface="Calibri"/>
              </a:rPr>
              <a:t>−9</a:t>
            </a:r>
            <a:endParaRPr lang="fr-FR" sz="1050" dirty="0"/>
          </a:p>
        </p:txBody>
      </p:sp>
      <p:sp>
        <p:nvSpPr>
          <p:cNvPr id="33" name="Shape 33"/>
          <p:cNvSpPr txBox="1"/>
          <p:nvPr/>
        </p:nvSpPr>
        <p:spPr>
          <a:xfrm>
            <a:off x="457200" y="4160520"/>
            <a:ext cx="8229600" cy="502920"/>
          </a:xfrm>
          <a:prstGeom prst="rect">
            <a:avLst/>
          </a:prstGeom>
          <a:noFill/>
          <a:ln>
            <a:noFill/>
          </a:ln>
        </p:spPr>
        <p:txBody>
          <a:bodyPr wrap="square" lIns="0" tIns="0" rIns="0" bIns="0" rtlCol="0" anchor="t">
            <a:noAutofit/>
          </a:bodyPr>
          <a:lstStyle/>
          <a:p>
            <a:pPr marL="0" indent="0" algn="l">
              <a:buNone/>
            </a:pPr>
            <a:r>
              <a:rPr lang="fr-FR" sz="1000" i="1" dirty="0">
                <a:solidFill>
                  <a:srgbClr val="5D5D5D"/>
                </a:solidFill>
                <a:latin typeface="Calibri"/>
                <a:cs typeface="Calibri"/>
              </a:rPr>
              <a:t>Réglage du post-traitement sur Meudon-sur-Seine uniquement. Test mesuré une seule fois, avec des paramètres figés. Petits échantillons : un passage vaut 1 à 2 points.</a:t>
            </a:r>
            <a:endParaRPr lang="fr-FR"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ANNEXE C · PIÈGES ET LIMITES</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Ce qui nous a piégés, et ce qui reste ouvert</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24</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9"/>
          <p:cNvSpPr/>
          <p:nvPr/>
        </p:nvSpPr>
        <p:spPr>
          <a:xfrm>
            <a:off x="457200" y="1234440"/>
            <a:ext cx="2103120" cy="347472"/>
          </a:xfrm>
          <a:prstGeom prst="rect">
            <a:avLst/>
          </a:prstGeom>
          <a:solidFill>
            <a:srgbClr val="009FE3"/>
          </a:solidFill>
          <a:ln>
            <a:noFill/>
          </a:ln>
        </p:spPr>
        <p:txBody>
          <a:bodyPr wrap="square" lIns="109728" tIns="18288" rIns="91440" bIns="18288" rtlCol="0" anchor="ctr">
            <a:noAutofit/>
          </a:bodyPr>
          <a:lstStyle/>
          <a:p>
            <a:pPr marL="0" indent="0" algn="l">
              <a:buNone/>
            </a:pPr>
            <a:r>
              <a:rPr lang="fr-FR" sz="1100" b="1" dirty="0">
                <a:solidFill>
                  <a:srgbClr val="FFFFFF"/>
                </a:solidFill>
                <a:latin typeface="Arial"/>
                <a:cs typeface="Arial"/>
              </a:rPr>
              <a:t>Piège</a:t>
            </a:r>
            <a:endParaRPr lang="fr-FR" sz="1100" dirty="0"/>
          </a:p>
        </p:txBody>
      </p:sp>
      <p:sp>
        <p:nvSpPr>
          <p:cNvPr id="10" name="Shape 10"/>
          <p:cNvSpPr/>
          <p:nvPr/>
        </p:nvSpPr>
        <p:spPr>
          <a:xfrm>
            <a:off x="2560320" y="1234440"/>
            <a:ext cx="3154680" cy="347472"/>
          </a:xfrm>
          <a:prstGeom prst="rect">
            <a:avLst/>
          </a:prstGeom>
          <a:solidFill>
            <a:srgbClr val="009FE3"/>
          </a:solidFill>
          <a:ln>
            <a:noFill/>
          </a:ln>
        </p:spPr>
        <p:txBody>
          <a:bodyPr wrap="square" lIns="109728" tIns="18288" rIns="91440" bIns="18288" rtlCol="0" anchor="ctr">
            <a:noAutofit/>
          </a:bodyPr>
          <a:lstStyle/>
          <a:p>
            <a:pPr marL="0" indent="0" algn="l">
              <a:buNone/>
            </a:pPr>
            <a:r>
              <a:rPr lang="fr-FR" sz="1100" b="1" dirty="0">
                <a:solidFill>
                  <a:srgbClr val="FFFFFF"/>
                </a:solidFill>
                <a:latin typeface="Arial"/>
                <a:cs typeface="Arial"/>
              </a:rPr>
              <a:t>Ce que ça faisait</a:t>
            </a:r>
            <a:endParaRPr lang="fr-FR" sz="1100" dirty="0"/>
          </a:p>
        </p:txBody>
      </p:sp>
      <p:sp>
        <p:nvSpPr>
          <p:cNvPr id="11" name="Shape 11"/>
          <p:cNvSpPr/>
          <p:nvPr/>
        </p:nvSpPr>
        <p:spPr>
          <a:xfrm>
            <a:off x="5715000" y="1234440"/>
            <a:ext cx="2971800" cy="347472"/>
          </a:xfrm>
          <a:prstGeom prst="rect">
            <a:avLst/>
          </a:prstGeom>
          <a:solidFill>
            <a:srgbClr val="009FE3"/>
          </a:solidFill>
          <a:ln>
            <a:noFill/>
          </a:ln>
        </p:spPr>
        <p:txBody>
          <a:bodyPr wrap="square" lIns="109728" tIns="18288" rIns="91440" bIns="18288" rtlCol="0" anchor="ctr">
            <a:noAutofit/>
          </a:bodyPr>
          <a:lstStyle/>
          <a:p>
            <a:pPr marL="0" indent="0" algn="l">
              <a:buNone/>
            </a:pPr>
            <a:r>
              <a:rPr lang="fr-FR" sz="1100" b="1" dirty="0">
                <a:solidFill>
                  <a:srgbClr val="FFFFFF"/>
                </a:solidFill>
                <a:latin typeface="Arial"/>
                <a:cs typeface="Arial"/>
              </a:rPr>
              <a:t>Ce qu'on a fait</a:t>
            </a:r>
            <a:endParaRPr lang="fr-FR" sz="1100" dirty="0"/>
          </a:p>
        </p:txBody>
      </p:sp>
      <p:sp>
        <p:nvSpPr>
          <p:cNvPr id="12" name="Shape 12"/>
          <p:cNvSpPr/>
          <p:nvPr/>
        </p:nvSpPr>
        <p:spPr>
          <a:xfrm>
            <a:off x="457200" y="1581912"/>
            <a:ext cx="2103120" cy="481584"/>
          </a:xfrm>
          <a:prstGeom prst="rect">
            <a:avLst/>
          </a:prstGeom>
          <a:solidFill>
            <a:srgbClr val="F0F0F0"/>
          </a:solidFill>
          <a:ln>
            <a:noFill/>
          </a:ln>
        </p:spPr>
        <p:txBody>
          <a:bodyPr wrap="square" lIns="109728" tIns="54864" rIns="91440" bIns="54864" rtlCol="0" anchor="ctr">
            <a:noAutofit/>
          </a:bodyPr>
          <a:lstStyle/>
          <a:p>
            <a:pPr marL="0" indent="0" algn="l">
              <a:buNone/>
            </a:pPr>
            <a:r>
              <a:rPr lang="fr-FR" sz="1100" b="1" dirty="0">
                <a:solidFill>
                  <a:srgbClr val="333333"/>
                </a:solidFill>
                <a:latin typeface="Arial"/>
                <a:cs typeface="Arial"/>
              </a:rPr>
              <a:t>SAM 3 brut</a:t>
            </a:r>
            <a:endParaRPr lang="fr-FR" sz="1100" dirty="0"/>
          </a:p>
        </p:txBody>
      </p:sp>
      <p:sp>
        <p:nvSpPr>
          <p:cNvPr id="13" name="Shape 13"/>
          <p:cNvSpPr/>
          <p:nvPr/>
        </p:nvSpPr>
        <p:spPr>
          <a:xfrm>
            <a:off x="2560320" y="1581912"/>
            <a:ext cx="3154680" cy="481584"/>
          </a:xfrm>
          <a:prstGeom prst="rect">
            <a:avLst/>
          </a:prstGeom>
          <a:solidFill>
            <a:srgbClr val="F0F0F0"/>
          </a:solidFill>
          <a:ln>
            <a:noFill/>
          </a:ln>
        </p:spPr>
        <p:txBody>
          <a:bodyPr wrap="square" lIns="109728" tIns="54864" rIns="91440" bIns="54864" rtlCol="0" anchor="ctr">
            <a:noAutofit/>
          </a:bodyPr>
          <a:lstStyle/>
          <a:p>
            <a:pPr marL="0" indent="0" algn="l">
              <a:buNone/>
            </a:pPr>
            <a:r>
              <a:rPr lang="fr-FR" sz="1100" dirty="0">
                <a:solidFill>
                  <a:srgbClr val="5D5D5D"/>
                </a:solidFill>
                <a:latin typeface="Calibri"/>
                <a:cs typeface="Calibri"/>
              </a:rPr>
              <a:t>Faux positifs, fusions, passages coupés par l'ombre</a:t>
            </a:r>
            <a:endParaRPr lang="fr-FR" sz="1100" dirty="0"/>
          </a:p>
        </p:txBody>
      </p:sp>
      <p:sp>
        <p:nvSpPr>
          <p:cNvPr id="14" name="Shape 14"/>
          <p:cNvSpPr/>
          <p:nvPr/>
        </p:nvSpPr>
        <p:spPr>
          <a:xfrm>
            <a:off x="5715000" y="1581912"/>
            <a:ext cx="2971800" cy="481584"/>
          </a:xfrm>
          <a:prstGeom prst="rect">
            <a:avLst/>
          </a:prstGeom>
          <a:solidFill>
            <a:srgbClr val="F0F0F0"/>
          </a:solidFill>
          <a:ln>
            <a:noFill/>
          </a:ln>
        </p:spPr>
        <p:txBody>
          <a:bodyPr wrap="square" lIns="109728" tIns="54864" rIns="91440" bIns="54864" rtlCol="0" anchor="ctr">
            <a:noAutofit/>
          </a:bodyPr>
          <a:lstStyle/>
          <a:p>
            <a:pPr marL="0" indent="0" algn="l">
              <a:buNone/>
            </a:pPr>
            <a:r>
              <a:rPr lang="fr-FR" sz="1100" dirty="0">
                <a:solidFill>
                  <a:srgbClr val="333333"/>
                </a:solidFill>
                <a:latin typeface="Calibri"/>
                <a:cs typeface="Calibri"/>
              </a:rPr>
              <a:t>Toutes les propositions vérifiées à la main</a:t>
            </a:r>
            <a:endParaRPr lang="fr-FR" sz="1100" dirty="0"/>
          </a:p>
        </p:txBody>
      </p:sp>
      <p:sp>
        <p:nvSpPr>
          <p:cNvPr id="15" name="Shape 15"/>
          <p:cNvSpPr/>
          <p:nvPr/>
        </p:nvSpPr>
        <p:spPr>
          <a:xfrm>
            <a:off x="457200" y="2063496"/>
            <a:ext cx="2103120" cy="481584"/>
          </a:xfrm>
          <a:prstGeom prst="rect">
            <a:avLst/>
          </a:prstGeom>
          <a:solidFill>
            <a:srgbClr val="FFFFFF"/>
          </a:solidFill>
          <a:ln>
            <a:noFill/>
          </a:ln>
        </p:spPr>
        <p:txBody>
          <a:bodyPr wrap="square" lIns="109728" tIns="54864" rIns="91440" bIns="54864" rtlCol="0" anchor="ctr">
            <a:noAutofit/>
          </a:bodyPr>
          <a:lstStyle/>
          <a:p>
            <a:pPr marL="0" indent="0" algn="l">
              <a:buNone/>
            </a:pPr>
            <a:r>
              <a:rPr lang="fr-FR" sz="1100" b="1" dirty="0">
                <a:solidFill>
                  <a:srgbClr val="333333"/>
                </a:solidFill>
                <a:latin typeface="Arial"/>
                <a:cs typeface="Arial"/>
              </a:rPr>
              <a:t>Tuiles qui se chevauchent</a:t>
            </a:r>
            <a:endParaRPr lang="fr-FR" sz="1100" dirty="0"/>
          </a:p>
        </p:txBody>
      </p:sp>
      <p:sp>
        <p:nvSpPr>
          <p:cNvPr id="16" name="Shape 16"/>
          <p:cNvSpPr/>
          <p:nvPr/>
        </p:nvSpPr>
        <p:spPr>
          <a:xfrm>
            <a:off x="2560320" y="2063496"/>
            <a:ext cx="3154680" cy="481584"/>
          </a:xfrm>
          <a:prstGeom prst="rect">
            <a:avLst/>
          </a:prstGeom>
          <a:solidFill>
            <a:srgbClr val="FFFFFF"/>
          </a:solidFill>
          <a:ln>
            <a:noFill/>
          </a:ln>
        </p:spPr>
        <p:txBody>
          <a:bodyPr wrap="square" lIns="109728" tIns="54864" rIns="91440" bIns="54864" rtlCol="0" anchor="ctr">
            <a:noAutofit/>
          </a:bodyPr>
          <a:lstStyle/>
          <a:p>
            <a:pPr marL="0" indent="0" algn="l">
              <a:buNone/>
            </a:pPr>
            <a:r>
              <a:rPr lang="fr-FR" sz="1100" dirty="0">
                <a:solidFill>
                  <a:srgbClr val="5D5D5D"/>
                </a:solidFill>
                <a:latin typeface="Calibri"/>
                <a:cs typeface="Calibri"/>
              </a:rPr>
              <a:t>84 % du sol de contrôle déjà vu à l'entraînement, scores gonflés</a:t>
            </a:r>
            <a:endParaRPr lang="fr-FR" sz="1100" dirty="0"/>
          </a:p>
        </p:txBody>
      </p:sp>
      <p:sp>
        <p:nvSpPr>
          <p:cNvPr id="17" name="Shape 17"/>
          <p:cNvSpPr/>
          <p:nvPr/>
        </p:nvSpPr>
        <p:spPr>
          <a:xfrm>
            <a:off x="5715000" y="2063496"/>
            <a:ext cx="2971800" cy="481584"/>
          </a:xfrm>
          <a:prstGeom prst="rect">
            <a:avLst/>
          </a:prstGeom>
          <a:solidFill>
            <a:srgbClr val="FFFFFF"/>
          </a:solidFill>
          <a:ln>
            <a:noFill/>
          </a:ln>
        </p:spPr>
        <p:txBody>
          <a:bodyPr wrap="square" lIns="109728" tIns="54864" rIns="91440" bIns="54864" rtlCol="0" anchor="ctr">
            <a:noAutofit/>
          </a:bodyPr>
          <a:lstStyle/>
          <a:p>
            <a:pPr marL="0" indent="0" algn="l">
              <a:buNone/>
            </a:pPr>
            <a:r>
              <a:rPr lang="fr-FR" sz="1100" dirty="0">
                <a:solidFill>
                  <a:srgbClr val="333333"/>
                </a:solidFill>
                <a:latin typeface="Calibri"/>
                <a:cs typeface="Calibri"/>
              </a:rPr>
              <a:t>Découpage par quartiers avant l'export</a:t>
            </a:r>
            <a:endParaRPr lang="fr-FR" sz="1100" dirty="0"/>
          </a:p>
        </p:txBody>
      </p:sp>
      <p:sp>
        <p:nvSpPr>
          <p:cNvPr id="18" name="Shape 18"/>
          <p:cNvSpPr/>
          <p:nvPr/>
        </p:nvSpPr>
        <p:spPr>
          <a:xfrm>
            <a:off x="457200" y="2545080"/>
            <a:ext cx="2103120" cy="481584"/>
          </a:xfrm>
          <a:prstGeom prst="rect">
            <a:avLst/>
          </a:prstGeom>
          <a:solidFill>
            <a:srgbClr val="F0F0F0"/>
          </a:solidFill>
          <a:ln>
            <a:noFill/>
          </a:ln>
        </p:spPr>
        <p:txBody>
          <a:bodyPr wrap="square" lIns="109728" tIns="54864" rIns="91440" bIns="54864" rtlCol="0" anchor="ctr">
            <a:noAutofit/>
          </a:bodyPr>
          <a:lstStyle/>
          <a:p>
            <a:pPr marL="0" indent="0" algn="l">
              <a:buNone/>
            </a:pPr>
            <a:r>
              <a:rPr lang="fr-FR" sz="1100" b="1" dirty="0">
                <a:solidFill>
                  <a:srgbClr val="E20134"/>
                </a:solidFill>
                <a:latin typeface="Arial"/>
                <a:cs typeface="Arial"/>
              </a:rPr>
              <a:t>Carrefours</a:t>
            </a:r>
            <a:endParaRPr lang="fr-FR" sz="1100" dirty="0"/>
          </a:p>
        </p:txBody>
      </p:sp>
      <p:sp>
        <p:nvSpPr>
          <p:cNvPr id="19" name="Shape 19"/>
          <p:cNvSpPr/>
          <p:nvPr/>
        </p:nvSpPr>
        <p:spPr>
          <a:xfrm>
            <a:off x="2560320" y="2545080"/>
            <a:ext cx="3154680" cy="481584"/>
          </a:xfrm>
          <a:prstGeom prst="rect">
            <a:avLst/>
          </a:prstGeom>
          <a:solidFill>
            <a:srgbClr val="F0F0F0"/>
          </a:solidFill>
          <a:ln>
            <a:noFill/>
          </a:ln>
        </p:spPr>
        <p:txBody>
          <a:bodyPr wrap="square" lIns="109728" tIns="54864" rIns="91440" bIns="54864" rtlCol="0" anchor="ctr">
            <a:noAutofit/>
          </a:bodyPr>
          <a:lstStyle/>
          <a:p>
            <a:pPr marL="0" indent="0" algn="l">
              <a:buNone/>
            </a:pPr>
            <a:r>
              <a:rPr lang="fr-FR" sz="1100" dirty="0">
                <a:solidFill>
                  <a:srgbClr val="5D5D5D"/>
                </a:solidFill>
                <a:latin typeface="Calibri"/>
                <a:cs typeface="Calibri"/>
              </a:rPr>
              <a:t>Passages voisins fusionnés, environ 20 % de passages en moins au comptage</a:t>
            </a:r>
            <a:endParaRPr lang="fr-FR" sz="1100" dirty="0"/>
          </a:p>
        </p:txBody>
      </p:sp>
      <p:sp>
        <p:nvSpPr>
          <p:cNvPr id="20" name="Shape 20"/>
          <p:cNvSpPr/>
          <p:nvPr/>
        </p:nvSpPr>
        <p:spPr>
          <a:xfrm>
            <a:off x="5715000" y="2545080"/>
            <a:ext cx="2971800" cy="481584"/>
          </a:xfrm>
          <a:prstGeom prst="rect">
            <a:avLst/>
          </a:prstGeom>
          <a:solidFill>
            <a:srgbClr val="F0F0F0"/>
          </a:solidFill>
          <a:ln>
            <a:noFill/>
          </a:ln>
        </p:spPr>
        <p:txBody>
          <a:bodyPr wrap="square" lIns="109728" tIns="54864" rIns="91440" bIns="54864" rtlCol="0" anchor="ctr">
            <a:noAutofit/>
          </a:bodyPr>
          <a:lstStyle/>
          <a:p>
            <a:pPr marL="0" indent="0" algn="l">
              <a:buNone/>
            </a:pPr>
            <a:r>
              <a:rPr lang="fr-FR" sz="1100" dirty="0">
                <a:solidFill>
                  <a:srgbClr val="333333"/>
                </a:solidFill>
                <a:latin typeface="Calibri"/>
                <a:cs typeface="Calibri"/>
              </a:rPr>
              <a:t>Alerte « fusion probable » ; la séparation reste à faire</a:t>
            </a:r>
            <a:endParaRPr lang="fr-FR" sz="1100" dirty="0"/>
          </a:p>
        </p:txBody>
      </p:sp>
      <p:sp>
        <p:nvSpPr>
          <p:cNvPr id="21" name="Shape 21"/>
          <p:cNvSpPr/>
          <p:nvPr/>
        </p:nvSpPr>
        <p:spPr>
          <a:xfrm>
            <a:off x="457200" y="3026664"/>
            <a:ext cx="2103120" cy="481584"/>
          </a:xfrm>
          <a:prstGeom prst="rect">
            <a:avLst/>
          </a:prstGeom>
          <a:solidFill>
            <a:srgbClr val="FFFFFF"/>
          </a:solidFill>
          <a:ln>
            <a:noFill/>
          </a:ln>
        </p:spPr>
        <p:txBody>
          <a:bodyPr wrap="square" lIns="109728" tIns="54864" rIns="91440" bIns="54864" rtlCol="0" anchor="ctr">
            <a:noAutofit/>
          </a:bodyPr>
          <a:lstStyle/>
          <a:p>
            <a:pPr marL="0" indent="0" algn="l">
              <a:buNone/>
            </a:pPr>
            <a:r>
              <a:rPr lang="fr-FR" sz="1100" b="1" dirty="0">
                <a:solidFill>
                  <a:srgbClr val="E20134"/>
                </a:solidFill>
                <a:latin typeface="Arial"/>
                <a:cs typeface="Arial"/>
              </a:rPr>
              <a:t>Pas de rue vide à l'entraînement</a:t>
            </a:r>
            <a:endParaRPr lang="fr-FR" sz="1100" dirty="0"/>
          </a:p>
        </p:txBody>
      </p:sp>
      <p:sp>
        <p:nvSpPr>
          <p:cNvPr id="22" name="Shape 22"/>
          <p:cNvSpPr/>
          <p:nvPr/>
        </p:nvSpPr>
        <p:spPr>
          <a:xfrm>
            <a:off x="2560320" y="3026664"/>
            <a:ext cx="3154680" cy="481584"/>
          </a:xfrm>
          <a:prstGeom prst="rect">
            <a:avLst/>
          </a:prstGeom>
          <a:solidFill>
            <a:srgbClr val="FFFFFF"/>
          </a:solidFill>
          <a:ln>
            <a:noFill/>
          </a:ln>
        </p:spPr>
        <p:txBody>
          <a:bodyPr wrap="square" lIns="109728" tIns="54864" rIns="91440" bIns="54864" rtlCol="0" anchor="ctr">
            <a:noAutofit/>
          </a:bodyPr>
          <a:lstStyle/>
          <a:p>
            <a:pPr marL="0" indent="0" algn="l">
              <a:buNone/>
            </a:pPr>
            <a:r>
              <a:rPr lang="fr-FR" sz="1100" dirty="0">
                <a:solidFill>
                  <a:srgbClr val="5D5D5D"/>
                </a:solidFill>
                <a:latin typeface="Calibri"/>
                <a:cs typeface="Calibri"/>
              </a:rPr>
              <a:t>Faux points possibles hors des quartiers annotés</a:t>
            </a:r>
            <a:endParaRPr lang="fr-FR" sz="1100" dirty="0"/>
          </a:p>
        </p:txBody>
      </p:sp>
      <p:sp>
        <p:nvSpPr>
          <p:cNvPr id="23" name="Shape 23"/>
          <p:cNvSpPr/>
          <p:nvPr/>
        </p:nvSpPr>
        <p:spPr>
          <a:xfrm>
            <a:off x="5715000" y="3026664"/>
            <a:ext cx="2971800" cy="481584"/>
          </a:xfrm>
          <a:prstGeom prst="rect">
            <a:avLst/>
          </a:prstGeom>
          <a:solidFill>
            <a:srgbClr val="FFFFFF"/>
          </a:solidFill>
          <a:ln>
            <a:noFill/>
          </a:ln>
        </p:spPr>
        <p:txBody>
          <a:bodyPr wrap="square" lIns="109728" tIns="54864" rIns="91440" bIns="54864" rtlCol="0" anchor="ctr">
            <a:noAutofit/>
          </a:bodyPr>
          <a:lstStyle/>
          <a:p>
            <a:pPr marL="0" indent="0" algn="l">
              <a:buNone/>
            </a:pPr>
            <a:r>
              <a:rPr lang="fr-FR" sz="1100" dirty="0">
                <a:solidFill>
                  <a:srgbClr val="333333"/>
                </a:solidFill>
                <a:latin typeface="Calibri"/>
                <a:cs typeface="Calibri"/>
              </a:rPr>
              <a:t>File « faible confiance » à revoir en priorité</a:t>
            </a:r>
            <a:endParaRPr lang="fr-FR"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ANNEXE D · SURFACE</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Pourquoi un passage piéton fait environ 25 m²</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25</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pic>
        <p:nvPicPr>
          <p:cNvPr id="9" name="Image 9" descr="illu_emprise_vs_studio.png"/>
          <p:cNvPicPr>
            <a:picLocks noChangeAspect="1"/>
          </p:cNvPicPr>
          <p:nvPr/>
        </p:nvPicPr>
        <p:blipFill>
          <a:blip r:embed="rId4"/>
          <a:stretch>
            <a:fillRect/>
          </a:stretch>
        </p:blipFill>
        <p:spPr>
          <a:xfrm>
            <a:off x="2267339" y="1188720"/>
            <a:ext cx="4609322" cy="2743200"/>
          </a:xfrm>
          <a:prstGeom prst="rect">
            <a:avLst/>
          </a:prstGeom>
        </p:spPr>
      </p:pic>
      <p:sp>
        <p:nvSpPr>
          <p:cNvPr id="10" name="Shape 10"/>
          <p:cNvSpPr/>
          <p:nvPr/>
        </p:nvSpPr>
        <p:spPr>
          <a:xfrm>
            <a:off x="457200" y="4023360"/>
            <a:ext cx="8229600" cy="658368"/>
          </a:xfrm>
          <a:prstGeom prst="rect">
            <a:avLst/>
          </a:prstGeom>
          <a:solidFill>
            <a:srgbClr val="F0F0F0"/>
          </a:solidFill>
          <a:ln>
            <a:noFill/>
          </a:ln>
        </p:spPr>
        <p:txBody>
          <a:bodyPr wrap="square" lIns="164592" tIns="54864" rIns="164592" bIns="54864" rtlCol="0" anchor="ctr">
            <a:noAutofit/>
          </a:bodyPr>
          <a:lstStyle/>
          <a:p>
            <a:pPr marL="0" indent="0" algn="l">
              <a:buNone/>
            </a:pPr>
            <a:r>
              <a:rPr lang="fr-FR" sz="1200" dirty="0">
                <a:solidFill>
                  <a:srgbClr val="333333"/>
                </a:solidFill>
                <a:latin typeface="Calibri"/>
                <a:cs typeface="Calibri"/>
              </a:rPr>
              <a:t>25 m², c'est l'emprise du passage : la chaussée traversée (7,6 m) sur la profondeur du passage (4,2 m). La peinture, c'est à peu près la moitié.</a:t>
            </a:r>
            <a:endParaRPr lang="fr-FR"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ANNEXE E · ALERTES</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Comment une alerte est attribuée</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26</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sp>
        <p:nvSpPr>
          <p:cNvPr id="9" name="Shape 9"/>
          <p:cNvSpPr/>
          <p:nvPr/>
        </p:nvSpPr>
        <p:spPr>
          <a:xfrm>
            <a:off x="457200" y="1188720"/>
            <a:ext cx="2103120" cy="329184"/>
          </a:xfrm>
          <a:prstGeom prst="rect">
            <a:avLst/>
          </a:prstGeom>
          <a:solidFill>
            <a:srgbClr val="009FE3"/>
          </a:solidFill>
          <a:ln>
            <a:noFill/>
          </a:ln>
        </p:spPr>
        <p:txBody>
          <a:bodyPr wrap="square" lIns="91440" tIns="18288" rIns="91440" bIns="18288" rtlCol="0" anchor="ctr">
            <a:noAutofit/>
          </a:bodyPr>
          <a:lstStyle/>
          <a:p>
            <a:pPr marL="0" indent="0" algn="l">
              <a:buNone/>
            </a:pPr>
            <a:r>
              <a:rPr lang="fr-FR" sz="1050" b="1" dirty="0">
                <a:solidFill>
                  <a:srgbClr val="FFFFFF"/>
                </a:solidFill>
                <a:latin typeface="Arial"/>
                <a:cs typeface="Arial"/>
              </a:rPr>
              <a:t>Alerte</a:t>
            </a:r>
            <a:endParaRPr lang="fr-FR" sz="1050" dirty="0"/>
          </a:p>
        </p:txBody>
      </p:sp>
      <p:sp>
        <p:nvSpPr>
          <p:cNvPr id="10" name="Shape 10"/>
          <p:cNvSpPr/>
          <p:nvPr/>
        </p:nvSpPr>
        <p:spPr>
          <a:xfrm>
            <a:off x="2560320" y="1188720"/>
            <a:ext cx="4023360" cy="329184"/>
          </a:xfrm>
          <a:prstGeom prst="rect">
            <a:avLst/>
          </a:prstGeom>
          <a:solidFill>
            <a:srgbClr val="009FE3"/>
          </a:solidFill>
          <a:ln>
            <a:noFill/>
          </a:ln>
        </p:spPr>
        <p:txBody>
          <a:bodyPr wrap="square" lIns="91440" tIns="18288" rIns="91440" bIns="18288" rtlCol="0" anchor="ctr">
            <a:noAutofit/>
          </a:bodyPr>
          <a:lstStyle/>
          <a:p>
            <a:pPr marL="0" indent="0" algn="l">
              <a:buNone/>
            </a:pPr>
            <a:r>
              <a:rPr lang="fr-FR" sz="1050" b="1" dirty="0">
                <a:solidFill>
                  <a:srgbClr val="FFFFFF"/>
                </a:solidFill>
                <a:latin typeface="Arial"/>
                <a:cs typeface="Arial"/>
              </a:rPr>
              <a:t>Règle</a:t>
            </a:r>
            <a:endParaRPr lang="fr-FR" sz="1050" dirty="0"/>
          </a:p>
        </p:txBody>
      </p:sp>
      <p:sp>
        <p:nvSpPr>
          <p:cNvPr id="11" name="Shape 11"/>
          <p:cNvSpPr/>
          <p:nvPr/>
        </p:nvSpPr>
        <p:spPr>
          <a:xfrm>
            <a:off x="6583680" y="1188720"/>
            <a:ext cx="1188720" cy="329184"/>
          </a:xfrm>
          <a:prstGeom prst="rect">
            <a:avLst/>
          </a:prstGeom>
          <a:solidFill>
            <a:srgbClr val="009FE3"/>
          </a:solidFill>
          <a:ln>
            <a:noFill/>
          </a:ln>
        </p:spPr>
        <p:txBody>
          <a:bodyPr wrap="square" lIns="91440" tIns="18288" rIns="91440" bIns="18288" rtlCol="0" anchor="ctr">
            <a:noAutofit/>
          </a:bodyPr>
          <a:lstStyle/>
          <a:p>
            <a:pPr marL="0" indent="0" algn="l">
              <a:buNone/>
            </a:pPr>
            <a:r>
              <a:rPr lang="fr-FR" sz="1050" b="1" dirty="0">
                <a:solidFill>
                  <a:srgbClr val="FFFFFF"/>
                </a:solidFill>
                <a:latin typeface="Arial"/>
                <a:cs typeface="Arial"/>
              </a:rPr>
              <a:t>Seuil</a:t>
            </a:r>
            <a:endParaRPr lang="fr-FR" sz="1050" dirty="0"/>
          </a:p>
        </p:txBody>
      </p:sp>
      <p:sp>
        <p:nvSpPr>
          <p:cNvPr id="12" name="Shape 12"/>
          <p:cNvSpPr/>
          <p:nvPr/>
        </p:nvSpPr>
        <p:spPr>
          <a:xfrm>
            <a:off x="7772400" y="1188720"/>
            <a:ext cx="914400" cy="329184"/>
          </a:xfrm>
          <a:prstGeom prst="rect">
            <a:avLst/>
          </a:prstGeom>
          <a:solidFill>
            <a:srgbClr val="009FE3"/>
          </a:solidFill>
          <a:ln>
            <a:noFill/>
          </a:ln>
        </p:spPr>
        <p:txBody>
          <a:bodyPr wrap="square" lIns="91440" tIns="18288" rIns="91440" bIns="18288" rtlCol="0" anchor="ctr">
            <a:noAutofit/>
          </a:bodyPr>
          <a:lstStyle/>
          <a:p>
            <a:pPr marL="0" indent="0" algn="r">
              <a:buNone/>
            </a:pPr>
            <a:r>
              <a:rPr lang="fr-FR" sz="1050" b="1" dirty="0">
                <a:solidFill>
                  <a:srgbClr val="FFFFFF"/>
                </a:solidFill>
                <a:latin typeface="Arial"/>
                <a:cs typeface="Arial"/>
              </a:rPr>
              <a:t>Objets</a:t>
            </a:r>
            <a:endParaRPr lang="fr-FR" sz="1050" dirty="0"/>
          </a:p>
        </p:txBody>
      </p:sp>
      <p:sp>
        <p:nvSpPr>
          <p:cNvPr id="13" name="Shape 13"/>
          <p:cNvSpPr/>
          <p:nvPr/>
        </p:nvSpPr>
        <p:spPr>
          <a:xfrm>
            <a:off x="457200" y="1517904"/>
            <a:ext cx="2103120" cy="365760"/>
          </a:xfrm>
          <a:prstGeom prst="rect">
            <a:avLst/>
          </a:prstGeom>
          <a:solidFill>
            <a:srgbClr val="F0F0F0"/>
          </a:solidFill>
          <a:ln>
            <a:noFill/>
          </a:ln>
        </p:spPr>
        <p:txBody>
          <a:bodyPr wrap="square" lIns="329184" tIns="18288" rIns="91440" bIns="18288" rtlCol="0" anchor="ctr">
            <a:noAutofit/>
          </a:bodyPr>
          <a:lstStyle/>
          <a:p>
            <a:pPr marL="0" indent="0" algn="l">
              <a:buNone/>
            </a:pPr>
            <a:r>
              <a:rPr lang="fr-FR" sz="1050" b="1" dirty="0">
                <a:solidFill>
                  <a:srgbClr val="333333"/>
                </a:solidFill>
                <a:latin typeface="Arial"/>
                <a:cs typeface="Arial"/>
              </a:rPr>
              <a:t>Fusion probable</a:t>
            </a:r>
            <a:endParaRPr lang="fr-FR" sz="1050" dirty="0"/>
          </a:p>
        </p:txBody>
      </p:sp>
      <p:sp>
        <p:nvSpPr>
          <p:cNvPr id="14" name="Shape 14"/>
          <p:cNvSpPr/>
          <p:nvPr/>
        </p:nvSpPr>
        <p:spPr>
          <a:xfrm>
            <a:off x="2560320" y="1517904"/>
            <a:ext cx="4023360" cy="365760"/>
          </a:xfrm>
          <a:prstGeom prst="rect">
            <a:avLst/>
          </a:prstGeom>
          <a:solidFill>
            <a:srgbClr val="F0F0F0"/>
          </a:solidFill>
          <a:ln>
            <a:noFill/>
          </a:ln>
        </p:spPr>
        <p:txBody>
          <a:bodyPr wrap="square" lIns="91440" tIns="18288" rIns="91440" bIns="18288" rtlCol="0" anchor="ctr">
            <a:noAutofit/>
          </a:bodyPr>
          <a:lstStyle/>
          <a:p>
            <a:pPr marL="0" indent="0" algn="l">
              <a:buNone/>
            </a:pPr>
            <a:r>
              <a:rPr lang="fr-FR" sz="1050" dirty="0">
                <a:solidFill>
                  <a:srgbClr val="5D5D5D"/>
                </a:solidFill>
                <a:latin typeface="Calibri"/>
                <a:cs typeface="Calibri"/>
              </a:rPr>
              <a:t>Surface &gt; 58,9 m² ou longueur &gt; 14,1 m</a:t>
            </a:r>
            <a:endParaRPr lang="fr-FR" sz="1050" dirty="0"/>
          </a:p>
        </p:txBody>
      </p:sp>
      <p:sp>
        <p:nvSpPr>
          <p:cNvPr id="15" name="Shape 15"/>
          <p:cNvSpPr/>
          <p:nvPr/>
        </p:nvSpPr>
        <p:spPr>
          <a:xfrm>
            <a:off x="6583680" y="1517904"/>
            <a:ext cx="1188720" cy="365760"/>
          </a:xfrm>
          <a:prstGeom prst="rect">
            <a:avLst/>
          </a:prstGeom>
          <a:solidFill>
            <a:srgbClr val="F0F0F0"/>
          </a:solidFill>
          <a:ln>
            <a:noFill/>
          </a:ln>
        </p:spPr>
        <p:txBody>
          <a:bodyPr wrap="square" lIns="91440" tIns="18288" rIns="91440" bIns="18288" rtlCol="0" anchor="ctr">
            <a:noAutofit/>
          </a:bodyPr>
          <a:lstStyle/>
          <a:p>
            <a:pPr marL="0" indent="0" algn="l">
              <a:buNone/>
            </a:pPr>
            <a:r>
              <a:rPr lang="fr-FR" sz="1050" dirty="0">
                <a:solidFill>
                  <a:srgbClr val="5D5D5D"/>
                </a:solidFill>
                <a:latin typeface="Calibri"/>
                <a:cs typeface="Calibri"/>
              </a:rPr>
              <a:t>58,9 m² · 14,1 m</a:t>
            </a:r>
            <a:endParaRPr lang="fr-FR" sz="1050" dirty="0"/>
          </a:p>
        </p:txBody>
      </p:sp>
      <p:sp>
        <p:nvSpPr>
          <p:cNvPr id="16" name="Shape 16"/>
          <p:cNvSpPr/>
          <p:nvPr/>
        </p:nvSpPr>
        <p:spPr>
          <a:xfrm>
            <a:off x="7772400" y="1517904"/>
            <a:ext cx="914400" cy="365760"/>
          </a:xfrm>
          <a:prstGeom prst="rect">
            <a:avLst/>
          </a:prstGeom>
          <a:solidFill>
            <a:srgbClr val="F0F0F0"/>
          </a:solidFill>
          <a:ln>
            <a:noFill/>
          </a:ln>
        </p:spPr>
        <p:txBody>
          <a:bodyPr wrap="square" lIns="91440" tIns="18288" rIns="91440" bIns="18288" rtlCol="0" anchor="ctr">
            <a:noAutofit/>
          </a:bodyPr>
          <a:lstStyle/>
          <a:p>
            <a:pPr marL="0" indent="0" algn="r">
              <a:buNone/>
            </a:pPr>
            <a:r>
              <a:rPr lang="fr-FR" sz="1050" b="1" dirty="0">
                <a:solidFill>
                  <a:srgbClr val="333333"/>
                </a:solidFill>
                <a:latin typeface="Arial"/>
                <a:cs typeface="Arial"/>
              </a:rPr>
              <a:t>174</a:t>
            </a:r>
            <a:endParaRPr lang="fr-FR" sz="1050" dirty="0"/>
          </a:p>
        </p:txBody>
      </p:sp>
      <p:sp>
        <p:nvSpPr>
          <p:cNvPr id="17" name="Shape 17"/>
          <p:cNvSpPr/>
          <p:nvPr/>
        </p:nvSpPr>
        <p:spPr>
          <a:xfrm>
            <a:off x="566928" y="1627632"/>
            <a:ext cx="146304" cy="146304"/>
          </a:xfrm>
          <a:prstGeom prst="ellipse">
            <a:avLst/>
          </a:prstGeom>
          <a:solidFill>
            <a:srgbClr val="E20134"/>
          </a:solidFill>
          <a:ln>
            <a:noFill/>
          </a:ln>
        </p:spPr>
        <p:txBody>
          <a:bodyPr rtlCol="0" anchor="ctr"/>
          <a:lstStyle/>
          <a:p>
            <a:endParaRPr lang="fr-FR" dirty="0"/>
          </a:p>
        </p:txBody>
      </p:sp>
      <p:sp>
        <p:nvSpPr>
          <p:cNvPr id="18" name="Shape 18"/>
          <p:cNvSpPr/>
          <p:nvPr/>
        </p:nvSpPr>
        <p:spPr>
          <a:xfrm>
            <a:off x="457200" y="1883664"/>
            <a:ext cx="2103120" cy="365760"/>
          </a:xfrm>
          <a:prstGeom prst="rect">
            <a:avLst/>
          </a:prstGeom>
          <a:solidFill>
            <a:srgbClr val="FFFFFF"/>
          </a:solidFill>
          <a:ln>
            <a:noFill/>
          </a:ln>
        </p:spPr>
        <p:txBody>
          <a:bodyPr wrap="square" lIns="329184" tIns="18288" rIns="91440" bIns="18288" rtlCol="0" anchor="ctr">
            <a:noAutofit/>
          </a:bodyPr>
          <a:lstStyle/>
          <a:p>
            <a:pPr marL="0" indent="0" algn="l">
              <a:buNone/>
            </a:pPr>
            <a:r>
              <a:rPr lang="fr-FR" sz="1050" b="1" dirty="0">
                <a:solidFill>
                  <a:srgbClr val="333333"/>
                </a:solidFill>
                <a:latin typeface="Arial"/>
                <a:cs typeface="Arial"/>
              </a:rPr>
              <a:t>Faible confiance</a:t>
            </a:r>
            <a:endParaRPr lang="fr-FR" sz="1050" dirty="0"/>
          </a:p>
        </p:txBody>
      </p:sp>
      <p:sp>
        <p:nvSpPr>
          <p:cNvPr id="19" name="Shape 19"/>
          <p:cNvSpPr/>
          <p:nvPr/>
        </p:nvSpPr>
        <p:spPr>
          <a:xfrm>
            <a:off x="2560320" y="1883664"/>
            <a:ext cx="4023360" cy="365760"/>
          </a:xfrm>
          <a:prstGeom prst="rect">
            <a:avLst/>
          </a:prstGeom>
          <a:solidFill>
            <a:srgbClr val="FFFFFF"/>
          </a:solidFill>
          <a:ln>
            <a:noFill/>
          </a:ln>
        </p:spPr>
        <p:txBody>
          <a:bodyPr wrap="square" lIns="91440" tIns="18288" rIns="91440" bIns="18288" rtlCol="0" anchor="ctr">
            <a:noAutofit/>
          </a:bodyPr>
          <a:lstStyle/>
          <a:p>
            <a:pPr marL="0" indent="0" algn="l">
              <a:buNone/>
            </a:pPr>
            <a:r>
              <a:rPr lang="fr-FR" sz="1050" dirty="0">
                <a:solidFill>
                  <a:srgbClr val="5D5D5D"/>
                </a:solidFill>
                <a:latin typeface="Calibri"/>
                <a:cs typeface="Calibri"/>
              </a:rPr>
              <a:t>Score moyen du modèle &lt; 0,973</a:t>
            </a:r>
            <a:endParaRPr lang="fr-FR" sz="1050" dirty="0"/>
          </a:p>
        </p:txBody>
      </p:sp>
      <p:sp>
        <p:nvSpPr>
          <p:cNvPr id="20" name="Shape 20"/>
          <p:cNvSpPr/>
          <p:nvPr/>
        </p:nvSpPr>
        <p:spPr>
          <a:xfrm>
            <a:off x="6583680" y="1883664"/>
            <a:ext cx="1188720" cy="365760"/>
          </a:xfrm>
          <a:prstGeom prst="rect">
            <a:avLst/>
          </a:prstGeom>
          <a:solidFill>
            <a:srgbClr val="FFFFFF"/>
          </a:solidFill>
          <a:ln>
            <a:noFill/>
          </a:ln>
        </p:spPr>
        <p:txBody>
          <a:bodyPr wrap="square" lIns="91440" tIns="18288" rIns="91440" bIns="18288" rtlCol="0" anchor="ctr">
            <a:noAutofit/>
          </a:bodyPr>
          <a:lstStyle/>
          <a:p>
            <a:pPr marL="0" indent="0" algn="l">
              <a:buNone/>
            </a:pPr>
            <a:r>
              <a:rPr lang="fr-FR" sz="1050" dirty="0">
                <a:solidFill>
                  <a:srgbClr val="5D5D5D"/>
                </a:solidFill>
                <a:latin typeface="Calibri"/>
                <a:cs typeface="Calibri"/>
              </a:rPr>
              <a:t>0,973</a:t>
            </a:r>
            <a:endParaRPr lang="fr-FR" sz="1050" dirty="0"/>
          </a:p>
        </p:txBody>
      </p:sp>
      <p:sp>
        <p:nvSpPr>
          <p:cNvPr id="21" name="Shape 21"/>
          <p:cNvSpPr/>
          <p:nvPr/>
        </p:nvSpPr>
        <p:spPr>
          <a:xfrm>
            <a:off x="7772400" y="1883664"/>
            <a:ext cx="914400" cy="365760"/>
          </a:xfrm>
          <a:prstGeom prst="rect">
            <a:avLst/>
          </a:prstGeom>
          <a:solidFill>
            <a:srgbClr val="FFFFFF"/>
          </a:solidFill>
          <a:ln>
            <a:noFill/>
          </a:ln>
        </p:spPr>
        <p:txBody>
          <a:bodyPr wrap="square" lIns="91440" tIns="18288" rIns="91440" bIns="18288" rtlCol="0" anchor="ctr">
            <a:noAutofit/>
          </a:bodyPr>
          <a:lstStyle/>
          <a:p>
            <a:pPr marL="0" indent="0" algn="r">
              <a:buNone/>
            </a:pPr>
            <a:r>
              <a:rPr lang="fr-FR" sz="1050" b="1" dirty="0">
                <a:solidFill>
                  <a:srgbClr val="333333"/>
                </a:solidFill>
                <a:latin typeface="Arial"/>
                <a:cs typeface="Arial"/>
              </a:rPr>
              <a:t>572</a:t>
            </a:r>
            <a:endParaRPr lang="fr-FR" sz="1050" dirty="0"/>
          </a:p>
        </p:txBody>
      </p:sp>
      <p:sp>
        <p:nvSpPr>
          <p:cNvPr id="22" name="Shape 22"/>
          <p:cNvSpPr/>
          <p:nvPr/>
        </p:nvSpPr>
        <p:spPr>
          <a:xfrm>
            <a:off x="566928" y="1993392"/>
            <a:ext cx="146304" cy="146304"/>
          </a:xfrm>
          <a:prstGeom prst="ellipse">
            <a:avLst/>
          </a:prstGeom>
          <a:solidFill>
            <a:srgbClr val="F39200"/>
          </a:solidFill>
          <a:ln>
            <a:noFill/>
          </a:ln>
        </p:spPr>
        <p:txBody>
          <a:bodyPr rtlCol="0" anchor="ctr"/>
          <a:lstStyle/>
          <a:p>
            <a:endParaRPr lang="fr-FR" dirty="0"/>
          </a:p>
        </p:txBody>
      </p:sp>
      <p:sp>
        <p:nvSpPr>
          <p:cNvPr id="23" name="Shape 23"/>
          <p:cNvSpPr/>
          <p:nvPr/>
        </p:nvSpPr>
        <p:spPr>
          <a:xfrm>
            <a:off x="457200" y="2249424"/>
            <a:ext cx="2103120" cy="365760"/>
          </a:xfrm>
          <a:prstGeom prst="rect">
            <a:avLst/>
          </a:prstGeom>
          <a:solidFill>
            <a:srgbClr val="F0F0F0"/>
          </a:solidFill>
          <a:ln>
            <a:noFill/>
          </a:ln>
        </p:spPr>
        <p:txBody>
          <a:bodyPr wrap="square" lIns="329184" tIns="18288" rIns="91440" bIns="18288" rtlCol="0" anchor="ctr">
            <a:noAutofit/>
          </a:bodyPr>
          <a:lstStyle/>
          <a:p>
            <a:pPr marL="0" indent="0" algn="l">
              <a:buNone/>
            </a:pPr>
            <a:r>
              <a:rPr lang="fr-FR" sz="1050" b="1" dirty="0">
                <a:solidFill>
                  <a:srgbClr val="333333"/>
                </a:solidFill>
                <a:latin typeface="Arial"/>
                <a:cs typeface="Arial"/>
              </a:rPr>
              <a:t>Forme atypique</a:t>
            </a:r>
            <a:endParaRPr lang="fr-FR" sz="1050" dirty="0"/>
          </a:p>
        </p:txBody>
      </p:sp>
      <p:sp>
        <p:nvSpPr>
          <p:cNvPr id="24" name="Shape 24"/>
          <p:cNvSpPr/>
          <p:nvPr/>
        </p:nvSpPr>
        <p:spPr>
          <a:xfrm>
            <a:off x="2560320" y="2249424"/>
            <a:ext cx="4023360" cy="365760"/>
          </a:xfrm>
          <a:prstGeom prst="rect">
            <a:avLst/>
          </a:prstGeom>
          <a:solidFill>
            <a:srgbClr val="F0F0F0"/>
          </a:solidFill>
          <a:ln>
            <a:noFill/>
          </a:ln>
        </p:spPr>
        <p:txBody>
          <a:bodyPr wrap="square" lIns="91440" tIns="18288" rIns="91440" bIns="18288" rtlCol="0" anchor="ctr">
            <a:noAutofit/>
          </a:bodyPr>
          <a:lstStyle/>
          <a:p>
            <a:pPr marL="0" indent="0" algn="l">
              <a:buNone/>
            </a:pPr>
            <a:r>
              <a:rPr lang="fr-FR" sz="1050" dirty="0">
                <a:solidFill>
                  <a:srgbClr val="5D5D5D"/>
                </a:solidFill>
                <a:latin typeface="Calibri"/>
                <a:cs typeface="Calibri"/>
              </a:rPr>
              <a:t>La surface remplit moins de 76 % de son rectangle orienté</a:t>
            </a:r>
            <a:endParaRPr lang="fr-FR" sz="1050" dirty="0"/>
          </a:p>
        </p:txBody>
      </p:sp>
      <p:sp>
        <p:nvSpPr>
          <p:cNvPr id="25" name="Shape 25"/>
          <p:cNvSpPr/>
          <p:nvPr/>
        </p:nvSpPr>
        <p:spPr>
          <a:xfrm>
            <a:off x="6583680" y="2249424"/>
            <a:ext cx="1188720" cy="365760"/>
          </a:xfrm>
          <a:prstGeom prst="rect">
            <a:avLst/>
          </a:prstGeom>
          <a:solidFill>
            <a:srgbClr val="F0F0F0"/>
          </a:solidFill>
          <a:ln>
            <a:noFill/>
          </a:ln>
        </p:spPr>
        <p:txBody>
          <a:bodyPr wrap="square" lIns="91440" tIns="18288" rIns="91440" bIns="18288" rtlCol="0" anchor="ctr">
            <a:noAutofit/>
          </a:bodyPr>
          <a:lstStyle/>
          <a:p>
            <a:pPr marL="0" indent="0" algn="l">
              <a:buNone/>
            </a:pPr>
            <a:r>
              <a:rPr lang="fr-FR" sz="1050" dirty="0">
                <a:solidFill>
                  <a:srgbClr val="5D5D5D"/>
                </a:solidFill>
                <a:latin typeface="Calibri"/>
                <a:cs typeface="Calibri"/>
              </a:rPr>
              <a:t>76 %</a:t>
            </a:r>
            <a:endParaRPr lang="fr-FR" sz="1050" dirty="0"/>
          </a:p>
        </p:txBody>
      </p:sp>
      <p:sp>
        <p:nvSpPr>
          <p:cNvPr id="26" name="Shape 26"/>
          <p:cNvSpPr/>
          <p:nvPr/>
        </p:nvSpPr>
        <p:spPr>
          <a:xfrm>
            <a:off x="7772400" y="2249424"/>
            <a:ext cx="914400" cy="365760"/>
          </a:xfrm>
          <a:prstGeom prst="rect">
            <a:avLst/>
          </a:prstGeom>
          <a:solidFill>
            <a:srgbClr val="F0F0F0"/>
          </a:solidFill>
          <a:ln>
            <a:noFill/>
          </a:ln>
        </p:spPr>
        <p:txBody>
          <a:bodyPr wrap="square" lIns="91440" tIns="18288" rIns="91440" bIns="18288" rtlCol="0" anchor="ctr">
            <a:noAutofit/>
          </a:bodyPr>
          <a:lstStyle/>
          <a:p>
            <a:pPr marL="0" indent="0" algn="r">
              <a:buNone/>
            </a:pPr>
            <a:r>
              <a:rPr lang="fr-FR" sz="1050" b="1" dirty="0">
                <a:solidFill>
                  <a:srgbClr val="333333"/>
                </a:solidFill>
                <a:latin typeface="Arial"/>
                <a:cs typeface="Arial"/>
              </a:rPr>
              <a:t>188</a:t>
            </a:r>
            <a:endParaRPr lang="fr-FR" sz="1050" dirty="0"/>
          </a:p>
        </p:txBody>
      </p:sp>
      <p:sp>
        <p:nvSpPr>
          <p:cNvPr id="27" name="Shape 27"/>
          <p:cNvSpPr/>
          <p:nvPr/>
        </p:nvSpPr>
        <p:spPr>
          <a:xfrm>
            <a:off x="566928" y="2359152"/>
            <a:ext cx="146304" cy="146304"/>
          </a:xfrm>
          <a:prstGeom prst="ellipse">
            <a:avLst/>
          </a:prstGeom>
          <a:solidFill>
            <a:srgbClr val="9B51E0"/>
          </a:solidFill>
          <a:ln>
            <a:noFill/>
          </a:ln>
        </p:spPr>
        <p:txBody>
          <a:bodyPr rtlCol="0" anchor="ctr"/>
          <a:lstStyle/>
          <a:p>
            <a:endParaRPr lang="fr-FR" dirty="0"/>
          </a:p>
        </p:txBody>
      </p:sp>
      <p:sp>
        <p:nvSpPr>
          <p:cNvPr id="28" name="Shape 28"/>
          <p:cNvSpPr/>
          <p:nvPr/>
        </p:nvSpPr>
        <p:spPr>
          <a:xfrm>
            <a:off x="457200" y="2615184"/>
            <a:ext cx="2103120" cy="365760"/>
          </a:xfrm>
          <a:prstGeom prst="rect">
            <a:avLst/>
          </a:prstGeom>
          <a:solidFill>
            <a:srgbClr val="FFFFFF"/>
          </a:solidFill>
          <a:ln>
            <a:noFill/>
          </a:ln>
        </p:spPr>
        <p:txBody>
          <a:bodyPr wrap="square" lIns="329184" tIns="18288" rIns="91440" bIns="18288" rtlCol="0" anchor="ctr">
            <a:noAutofit/>
          </a:bodyPr>
          <a:lstStyle/>
          <a:p>
            <a:pPr marL="0" indent="0" algn="l">
              <a:buNone/>
            </a:pPr>
            <a:r>
              <a:rPr lang="fr-FR" sz="1050" b="1" dirty="0">
                <a:solidFill>
                  <a:srgbClr val="333333"/>
                </a:solidFill>
                <a:latin typeface="Arial"/>
                <a:cs typeface="Arial"/>
              </a:rPr>
              <a:t>Trop petit</a:t>
            </a:r>
            <a:endParaRPr lang="fr-FR" sz="1050" dirty="0"/>
          </a:p>
        </p:txBody>
      </p:sp>
      <p:sp>
        <p:nvSpPr>
          <p:cNvPr id="29" name="Shape 29"/>
          <p:cNvSpPr/>
          <p:nvPr/>
        </p:nvSpPr>
        <p:spPr>
          <a:xfrm>
            <a:off x="2560320" y="2615184"/>
            <a:ext cx="4023360" cy="365760"/>
          </a:xfrm>
          <a:prstGeom prst="rect">
            <a:avLst/>
          </a:prstGeom>
          <a:solidFill>
            <a:srgbClr val="FFFFFF"/>
          </a:solidFill>
          <a:ln>
            <a:noFill/>
          </a:ln>
        </p:spPr>
        <p:txBody>
          <a:bodyPr wrap="square" lIns="91440" tIns="18288" rIns="91440" bIns="18288" rtlCol="0" anchor="ctr">
            <a:noAutofit/>
          </a:bodyPr>
          <a:lstStyle/>
          <a:p>
            <a:pPr marL="0" indent="0" algn="l">
              <a:buNone/>
            </a:pPr>
            <a:r>
              <a:rPr lang="fr-FR" sz="1050" dirty="0">
                <a:solidFill>
                  <a:srgbClr val="5D5D5D"/>
                </a:solidFill>
                <a:latin typeface="Calibri"/>
                <a:cs typeface="Calibri"/>
              </a:rPr>
              <a:t>Surface &lt; 15,2 m²</a:t>
            </a:r>
            <a:endParaRPr lang="fr-FR" sz="1050" dirty="0"/>
          </a:p>
        </p:txBody>
      </p:sp>
      <p:sp>
        <p:nvSpPr>
          <p:cNvPr id="30" name="Shape 30"/>
          <p:cNvSpPr/>
          <p:nvPr/>
        </p:nvSpPr>
        <p:spPr>
          <a:xfrm>
            <a:off x="6583680" y="2615184"/>
            <a:ext cx="1188720" cy="365760"/>
          </a:xfrm>
          <a:prstGeom prst="rect">
            <a:avLst/>
          </a:prstGeom>
          <a:solidFill>
            <a:srgbClr val="FFFFFF"/>
          </a:solidFill>
          <a:ln>
            <a:noFill/>
          </a:ln>
        </p:spPr>
        <p:txBody>
          <a:bodyPr wrap="square" lIns="91440" tIns="18288" rIns="91440" bIns="18288" rtlCol="0" anchor="ctr">
            <a:noAutofit/>
          </a:bodyPr>
          <a:lstStyle/>
          <a:p>
            <a:pPr marL="0" indent="0" algn="l">
              <a:buNone/>
            </a:pPr>
            <a:r>
              <a:rPr lang="fr-FR" sz="1050" dirty="0">
                <a:solidFill>
                  <a:srgbClr val="5D5D5D"/>
                </a:solidFill>
                <a:latin typeface="Calibri"/>
                <a:cs typeface="Calibri"/>
              </a:rPr>
              <a:t>15,2 m²</a:t>
            </a:r>
            <a:endParaRPr lang="fr-FR" sz="1050" dirty="0"/>
          </a:p>
        </p:txBody>
      </p:sp>
      <p:sp>
        <p:nvSpPr>
          <p:cNvPr id="31" name="Shape 31"/>
          <p:cNvSpPr/>
          <p:nvPr/>
        </p:nvSpPr>
        <p:spPr>
          <a:xfrm>
            <a:off x="7772400" y="2615184"/>
            <a:ext cx="914400" cy="365760"/>
          </a:xfrm>
          <a:prstGeom prst="rect">
            <a:avLst/>
          </a:prstGeom>
          <a:solidFill>
            <a:srgbClr val="FFFFFF"/>
          </a:solidFill>
          <a:ln>
            <a:noFill/>
          </a:ln>
        </p:spPr>
        <p:txBody>
          <a:bodyPr wrap="square" lIns="91440" tIns="18288" rIns="91440" bIns="18288" rtlCol="0" anchor="ctr">
            <a:noAutofit/>
          </a:bodyPr>
          <a:lstStyle/>
          <a:p>
            <a:pPr marL="0" indent="0" algn="r">
              <a:buNone/>
            </a:pPr>
            <a:r>
              <a:rPr lang="fr-FR" sz="1050" b="1" dirty="0">
                <a:solidFill>
                  <a:srgbClr val="333333"/>
                </a:solidFill>
                <a:latin typeface="Arial"/>
                <a:cs typeface="Arial"/>
              </a:rPr>
              <a:t>82</a:t>
            </a:r>
            <a:endParaRPr lang="fr-FR" sz="1050" dirty="0"/>
          </a:p>
        </p:txBody>
      </p:sp>
      <p:sp>
        <p:nvSpPr>
          <p:cNvPr id="32" name="Shape 32"/>
          <p:cNvSpPr/>
          <p:nvPr/>
        </p:nvSpPr>
        <p:spPr>
          <a:xfrm>
            <a:off x="566928" y="2724912"/>
            <a:ext cx="146304" cy="146304"/>
          </a:xfrm>
          <a:prstGeom prst="ellipse">
            <a:avLst/>
          </a:prstGeom>
          <a:solidFill>
            <a:srgbClr val="525DDC"/>
          </a:solidFill>
          <a:ln>
            <a:noFill/>
          </a:ln>
        </p:spPr>
        <p:txBody>
          <a:bodyPr rtlCol="0" anchor="ctr"/>
          <a:lstStyle/>
          <a:p>
            <a:endParaRPr lang="fr-FR" dirty="0"/>
          </a:p>
        </p:txBody>
      </p:sp>
      <p:sp>
        <p:nvSpPr>
          <p:cNvPr id="33" name="Shape 33"/>
          <p:cNvSpPr/>
          <p:nvPr/>
        </p:nvSpPr>
        <p:spPr>
          <a:xfrm>
            <a:off x="457200" y="2980944"/>
            <a:ext cx="2103120" cy="365760"/>
          </a:xfrm>
          <a:prstGeom prst="rect">
            <a:avLst/>
          </a:prstGeom>
          <a:solidFill>
            <a:srgbClr val="F0F0F0"/>
          </a:solidFill>
          <a:ln>
            <a:noFill/>
          </a:ln>
        </p:spPr>
        <p:txBody>
          <a:bodyPr wrap="square" lIns="329184" tIns="18288" rIns="91440" bIns="18288" rtlCol="0" anchor="ctr">
            <a:noAutofit/>
          </a:bodyPr>
          <a:lstStyle/>
          <a:p>
            <a:pPr marL="0" indent="0" algn="l">
              <a:buNone/>
            </a:pPr>
            <a:r>
              <a:rPr lang="fr-FR" sz="1050" b="1" dirty="0">
                <a:solidFill>
                  <a:srgbClr val="333333"/>
                </a:solidFill>
                <a:latin typeface="Arial"/>
                <a:cs typeface="Arial"/>
              </a:rPr>
              <a:t>Bord de zone</a:t>
            </a:r>
            <a:endParaRPr lang="fr-FR" sz="1050" dirty="0"/>
          </a:p>
        </p:txBody>
      </p:sp>
      <p:sp>
        <p:nvSpPr>
          <p:cNvPr id="34" name="Shape 34"/>
          <p:cNvSpPr/>
          <p:nvPr/>
        </p:nvSpPr>
        <p:spPr>
          <a:xfrm>
            <a:off x="2560320" y="2980944"/>
            <a:ext cx="4023360" cy="365760"/>
          </a:xfrm>
          <a:prstGeom prst="rect">
            <a:avLst/>
          </a:prstGeom>
          <a:solidFill>
            <a:srgbClr val="F0F0F0"/>
          </a:solidFill>
          <a:ln>
            <a:noFill/>
          </a:ln>
        </p:spPr>
        <p:txBody>
          <a:bodyPr wrap="square" lIns="91440" tIns="18288" rIns="91440" bIns="18288" rtlCol="0" anchor="ctr">
            <a:noAutofit/>
          </a:bodyPr>
          <a:lstStyle/>
          <a:p>
            <a:pPr marL="0" indent="0" algn="l">
              <a:buNone/>
            </a:pPr>
            <a:r>
              <a:rPr lang="fr-FR" sz="1050" dirty="0">
                <a:solidFill>
                  <a:srgbClr val="5D5D5D"/>
                </a:solidFill>
                <a:latin typeface="Calibri"/>
                <a:cs typeface="Calibri"/>
              </a:rPr>
              <a:t>Touche une zone sans image ou la limite de GPSO</a:t>
            </a:r>
            <a:endParaRPr lang="fr-FR" sz="1050" dirty="0"/>
          </a:p>
        </p:txBody>
      </p:sp>
      <p:sp>
        <p:nvSpPr>
          <p:cNvPr id="35" name="Shape 35"/>
          <p:cNvSpPr/>
          <p:nvPr/>
        </p:nvSpPr>
        <p:spPr>
          <a:xfrm>
            <a:off x="6583680" y="2980944"/>
            <a:ext cx="1188720" cy="365760"/>
          </a:xfrm>
          <a:prstGeom prst="rect">
            <a:avLst/>
          </a:prstGeom>
          <a:solidFill>
            <a:srgbClr val="F0F0F0"/>
          </a:solidFill>
          <a:ln>
            <a:noFill/>
          </a:ln>
        </p:spPr>
        <p:txBody>
          <a:bodyPr wrap="square" lIns="91440" tIns="18288" rIns="91440" bIns="18288" rtlCol="0" anchor="ctr">
            <a:noAutofit/>
          </a:bodyPr>
          <a:lstStyle/>
          <a:p>
            <a:pPr marL="0" indent="0" algn="l">
              <a:buNone/>
            </a:pPr>
            <a:r>
              <a:rPr lang="fr-FR" sz="1050" dirty="0">
                <a:solidFill>
                  <a:srgbClr val="5D5D5D"/>
                </a:solidFill>
                <a:latin typeface="Calibri"/>
                <a:cs typeface="Calibri"/>
              </a:rPr>
              <a:t>–</a:t>
            </a:r>
            <a:endParaRPr lang="fr-FR" sz="1050" dirty="0"/>
          </a:p>
        </p:txBody>
      </p:sp>
      <p:sp>
        <p:nvSpPr>
          <p:cNvPr id="36" name="Shape 36"/>
          <p:cNvSpPr/>
          <p:nvPr/>
        </p:nvSpPr>
        <p:spPr>
          <a:xfrm>
            <a:off x="7772400" y="2980944"/>
            <a:ext cx="914400" cy="365760"/>
          </a:xfrm>
          <a:prstGeom prst="rect">
            <a:avLst/>
          </a:prstGeom>
          <a:solidFill>
            <a:srgbClr val="F0F0F0"/>
          </a:solidFill>
          <a:ln>
            <a:noFill/>
          </a:ln>
        </p:spPr>
        <p:txBody>
          <a:bodyPr wrap="square" lIns="91440" tIns="18288" rIns="91440" bIns="18288" rtlCol="0" anchor="ctr">
            <a:noAutofit/>
          </a:bodyPr>
          <a:lstStyle/>
          <a:p>
            <a:pPr marL="0" indent="0" algn="r">
              <a:buNone/>
            </a:pPr>
            <a:r>
              <a:rPr lang="fr-FR" sz="1050" b="1" dirty="0">
                <a:solidFill>
                  <a:srgbClr val="333333"/>
                </a:solidFill>
                <a:latin typeface="Arial"/>
                <a:cs typeface="Arial"/>
              </a:rPr>
              <a:t>20</a:t>
            </a:r>
            <a:endParaRPr lang="fr-FR" sz="1050" dirty="0"/>
          </a:p>
        </p:txBody>
      </p:sp>
      <p:sp>
        <p:nvSpPr>
          <p:cNvPr id="37" name="Shape 37"/>
          <p:cNvSpPr/>
          <p:nvPr/>
        </p:nvSpPr>
        <p:spPr>
          <a:xfrm>
            <a:off x="566928" y="3090672"/>
            <a:ext cx="146304" cy="146304"/>
          </a:xfrm>
          <a:prstGeom prst="ellipse">
            <a:avLst/>
          </a:prstGeom>
          <a:solidFill>
            <a:srgbClr val="5D5D5D"/>
          </a:solidFill>
          <a:ln>
            <a:noFill/>
          </a:ln>
        </p:spPr>
        <p:txBody>
          <a:bodyPr rtlCol="0" anchor="ctr"/>
          <a:lstStyle/>
          <a:p>
            <a:endParaRPr lang="fr-FR" dirty="0"/>
          </a:p>
        </p:txBody>
      </p:sp>
      <p:sp>
        <p:nvSpPr>
          <p:cNvPr id="38" name="Shape 38"/>
          <p:cNvSpPr/>
          <p:nvPr/>
        </p:nvSpPr>
        <p:spPr>
          <a:xfrm>
            <a:off x="457200" y="3346704"/>
            <a:ext cx="2103120" cy="365760"/>
          </a:xfrm>
          <a:prstGeom prst="rect">
            <a:avLst/>
          </a:prstGeom>
          <a:solidFill>
            <a:srgbClr val="FFFFFF"/>
          </a:solidFill>
          <a:ln>
            <a:noFill/>
          </a:ln>
        </p:spPr>
        <p:txBody>
          <a:bodyPr wrap="square" lIns="329184" tIns="18288" rIns="91440" bIns="18288" rtlCol="0" anchor="ctr">
            <a:noAutofit/>
          </a:bodyPr>
          <a:lstStyle/>
          <a:p>
            <a:pPr marL="0" indent="0" algn="l">
              <a:buNone/>
            </a:pPr>
            <a:r>
              <a:rPr lang="fr-FR" sz="1050" b="1" dirty="0">
                <a:solidFill>
                  <a:srgbClr val="333333"/>
                </a:solidFill>
                <a:latin typeface="Arial"/>
                <a:cs typeface="Arial"/>
              </a:rPr>
              <a:t>Sans alerte</a:t>
            </a:r>
            <a:endParaRPr lang="fr-FR" sz="1050" dirty="0"/>
          </a:p>
        </p:txBody>
      </p:sp>
      <p:sp>
        <p:nvSpPr>
          <p:cNvPr id="39" name="Shape 39"/>
          <p:cNvSpPr/>
          <p:nvPr/>
        </p:nvSpPr>
        <p:spPr>
          <a:xfrm>
            <a:off x="2560320" y="3346704"/>
            <a:ext cx="4023360" cy="365760"/>
          </a:xfrm>
          <a:prstGeom prst="rect">
            <a:avLst/>
          </a:prstGeom>
          <a:solidFill>
            <a:srgbClr val="FFFFFF"/>
          </a:solidFill>
          <a:ln>
            <a:noFill/>
          </a:ln>
        </p:spPr>
        <p:txBody>
          <a:bodyPr wrap="square" lIns="91440" tIns="18288" rIns="91440" bIns="18288" rtlCol="0" anchor="ctr">
            <a:noAutofit/>
          </a:bodyPr>
          <a:lstStyle/>
          <a:p>
            <a:pPr marL="0" indent="0" algn="l">
              <a:buNone/>
            </a:pPr>
            <a:r>
              <a:rPr lang="fr-FR" sz="1050" dirty="0">
                <a:solidFill>
                  <a:srgbClr val="5D5D5D"/>
                </a:solidFill>
                <a:latin typeface="Calibri"/>
                <a:cs typeface="Calibri"/>
              </a:rPr>
              <a:t>Aucune règle déclenchée</a:t>
            </a:r>
            <a:endParaRPr lang="fr-FR" sz="1050" dirty="0"/>
          </a:p>
        </p:txBody>
      </p:sp>
      <p:sp>
        <p:nvSpPr>
          <p:cNvPr id="40" name="Shape 40"/>
          <p:cNvSpPr/>
          <p:nvPr/>
        </p:nvSpPr>
        <p:spPr>
          <a:xfrm>
            <a:off x="6583680" y="3346704"/>
            <a:ext cx="1188720" cy="365760"/>
          </a:xfrm>
          <a:prstGeom prst="rect">
            <a:avLst/>
          </a:prstGeom>
          <a:solidFill>
            <a:srgbClr val="FFFFFF"/>
          </a:solidFill>
          <a:ln>
            <a:noFill/>
          </a:ln>
        </p:spPr>
        <p:txBody>
          <a:bodyPr wrap="square" lIns="91440" tIns="18288" rIns="91440" bIns="18288" rtlCol="0" anchor="ctr">
            <a:noAutofit/>
          </a:bodyPr>
          <a:lstStyle/>
          <a:p>
            <a:pPr marL="0" indent="0" algn="l">
              <a:buNone/>
            </a:pPr>
            <a:r>
              <a:rPr lang="fr-FR" sz="1050" dirty="0">
                <a:solidFill>
                  <a:srgbClr val="5D5D5D"/>
                </a:solidFill>
                <a:latin typeface="Calibri"/>
                <a:cs typeface="Calibri"/>
              </a:rPr>
              <a:t>–</a:t>
            </a:r>
            <a:endParaRPr lang="fr-FR" sz="1050" dirty="0"/>
          </a:p>
        </p:txBody>
      </p:sp>
      <p:sp>
        <p:nvSpPr>
          <p:cNvPr id="41" name="Shape 41"/>
          <p:cNvSpPr/>
          <p:nvPr/>
        </p:nvSpPr>
        <p:spPr>
          <a:xfrm>
            <a:off x="7772400" y="3346704"/>
            <a:ext cx="914400" cy="365760"/>
          </a:xfrm>
          <a:prstGeom prst="rect">
            <a:avLst/>
          </a:prstGeom>
          <a:solidFill>
            <a:srgbClr val="FFFFFF"/>
          </a:solidFill>
          <a:ln>
            <a:noFill/>
          </a:ln>
        </p:spPr>
        <p:txBody>
          <a:bodyPr wrap="square" lIns="91440" tIns="18288" rIns="91440" bIns="18288" rtlCol="0" anchor="ctr">
            <a:noAutofit/>
          </a:bodyPr>
          <a:lstStyle/>
          <a:p>
            <a:pPr marL="0" indent="0" algn="r">
              <a:buNone/>
            </a:pPr>
            <a:r>
              <a:rPr lang="fr-FR" sz="1050" b="1" dirty="0">
                <a:solidFill>
                  <a:srgbClr val="333333"/>
                </a:solidFill>
                <a:latin typeface="Arial"/>
                <a:cs typeface="Arial"/>
              </a:rPr>
              <a:t>2 086</a:t>
            </a:r>
            <a:endParaRPr lang="fr-FR" sz="1050" dirty="0"/>
          </a:p>
        </p:txBody>
      </p:sp>
      <p:sp>
        <p:nvSpPr>
          <p:cNvPr id="42" name="Shape 42"/>
          <p:cNvSpPr/>
          <p:nvPr/>
        </p:nvSpPr>
        <p:spPr>
          <a:xfrm>
            <a:off x="566928" y="3456432"/>
            <a:ext cx="146304" cy="146304"/>
          </a:xfrm>
          <a:prstGeom prst="ellipse">
            <a:avLst/>
          </a:prstGeom>
          <a:solidFill>
            <a:srgbClr val="95C11F"/>
          </a:solidFill>
          <a:ln>
            <a:noFill/>
          </a:ln>
        </p:spPr>
        <p:txBody>
          <a:bodyPr rtlCol="0" anchor="ctr"/>
          <a:lstStyle/>
          <a:p>
            <a:endParaRPr lang="fr-FR" dirty="0"/>
          </a:p>
        </p:txBody>
      </p:sp>
      <p:sp>
        <p:nvSpPr>
          <p:cNvPr id="43" name="Shape 43"/>
          <p:cNvSpPr txBox="1"/>
          <p:nvPr/>
        </p:nvSpPr>
        <p:spPr>
          <a:xfrm>
            <a:off x="457200" y="3840480"/>
            <a:ext cx="8229600" cy="868680"/>
          </a:xfrm>
          <a:prstGeom prst="rect">
            <a:avLst/>
          </a:prstGeom>
          <a:noFill/>
          <a:ln>
            <a:noFill/>
          </a:ln>
        </p:spPr>
        <p:txBody>
          <a:bodyPr wrap="square" lIns="0" tIns="0" rIns="0" bIns="0" rtlCol="0" anchor="t">
            <a:noAutofit/>
          </a:bodyPr>
          <a:lstStyle/>
          <a:p>
            <a:pPr marL="0" indent="0" algn="l">
              <a:spcAft>
                <a:spcPts val="400"/>
              </a:spcAft>
              <a:buNone/>
            </a:pPr>
            <a:r>
              <a:rPr lang="fr-FR" sz="1050" dirty="0">
                <a:solidFill>
                  <a:srgbClr val="333333"/>
                </a:solidFill>
                <a:latin typeface="Calibri"/>
                <a:cs typeface="Calibri"/>
              </a:rPr>
              <a:t>Les seuils sont calibrés sur les passages réels du quartier de réglage (Meudon-sur-Seine), pas fixés au jugé. Avant tout, les taches de moins de 6 m² sont retirées.</a:t>
            </a:r>
            <a:endParaRPr lang="fr-FR" sz="1050" dirty="0"/>
          </a:p>
          <a:p>
            <a:pPr marL="0" indent="0" algn="l">
              <a:buNone/>
            </a:pPr>
            <a:r>
              <a:rPr lang="fr-FR" sz="1050" dirty="0">
                <a:solidFill>
                  <a:srgbClr val="333333"/>
                </a:solidFill>
                <a:latin typeface="Calibri"/>
                <a:cs typeface="Calibri"/>
              </a:rPr>
              <a:t>Un objet peut cumuler plusieurs alertes ; la carte affiche la plus prioritaire (fusion › confiance › forme › taille › bord). Tous restent à valider.</a:t>
            </a:r>
            <a:endParaRPr lang="fr-FR"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457200" y="182880"/>
            <a:ext cx="54864" cy="182880"/>
          </a:xfrm>
          <a:prstGeom prst="rect">
            <a:avLst/>
          </a:prstGeom>
          <a:solidFill>
            <a:srgbClr val="95C11F"/>
          </a:solidFill>
          <a:ln>
            <a:noFill/>
          </a:ln>
        </p:spPr>
        <p:txBody>
          <a:bodyPr rtlCol="0" anchor="ctr"/>
          <a:lstStyle/>
          <a:p>
            <a:endParaRPr lang="fr-FR" dirty="0"/>
          </a:p>
        </p:txBody>
      </p:sp>
      <p:sp>
        <p:nvSpPr>
          <p:cNvPr id="3" name="Shape 3"/>
          <p:cNvSpPr txBox="1"/>
          <p:nvPr/>
        </p:nvSpPr>
        <p:spPr>
          <a:xfrm>
            <a:off x="594360" y="164592"/>
            <a:ext cx="7315200" cy="219456"/>
          </a:xfrm>
          <a:prstGeom prst="rect">
            <a:avLst/>
          </a:prstGeom>
          <a:noFill/>
          <a:ln>
            <a:noFill/>
          </a:ln>
        </p:spPr>
        <p:txBody>
          <a:bodyPr wrap="square" lIns="0" tIns="0" rIns="0" bIns="0" rtlCol="0" anchor="ctr">
            <a:noAutofit/>
          </a:bodyPr>
          <a:lstStyle/>
          <a:p>
            <a:pPr marL="0" indent="0" algn="l">
              <a:buNone/>
            </a:pPr>
            <a:r>
              <a:rPr lang="fr-FR" sz="900" b="1" dirty="0">
                <a:solidFill>
                  <a:srgbClr val="009FE3"/>
                </a:solidFill>
                <a:latin typeface="Arial"/>
                <a:cs typeface="Arial"/>
              </a:rPr>
              <a:t>ANNEXE F · CHOIX DU MODÈLE</a:t>
            </a:r>
            <a:endParaRPr lang="fr-FR" sz="900" dirty="0"/>
          </a:p>
        </p:txBody>
      </p:sp>
      <p:sp>
        <p:nvSpPr>
          <p:cNvPr id="4" name="Shape 4"/>
          <p:cNvSpPr txBox="1"/>
          <p:nvPr/>
        </p:nvSpPr>
        <p:spPr>
          <a:xfrm>
            <a:off x="457200" y="411480"/>
            <a:ext cx="8229600" cy="713232"/>
          </a:xfrm>
          <a:prstGeom prst="rect">
            <a:avLst/>
          </a:prstGeom>
          <a:noFill/>
          <a:ln>
            <a:noFill/>
          </a:ln>
        </p:spPr>
        <p:txBody>
          <a:bodyPr wrap="square" lIns="0" tIns="0" rIns="0" bIns="0" rtlCol="0" anchor="t">
            <a:noAutofit/>
          </a:bodyPr>
          <a:lstStyle/>
          <a:p>
            <a:pPr marL="0" indent="0" algn="l">
              <a:buNone/>
            </a:pPr>
            <a:r>
              <a:rPr lang="fr-FR" sz="2200" b="1" dirty="0">
                <a:solidFill>
                  <a:srgbClr val="009FE3"/>
                </a:solidFill>
                <a:latin typeface="Arial"/>
                <a:cs typeface="Arial"/>
              </a:rPr>
              <a:t>DINOv3 testé : le U-Net fait mieux, en chiffres et à l'œil</a:t>
            </a:r>
            <a:endParaRPr lang="fr-FR" sz="2200" dirty="0"/>
          </a:p>
        </p:txBody>
      </p:sp>
      <p:sp>
        <p:nvSpPr>
          <p:cNvPr id="5" name="Shape 5"/>
          <p:cNvSpPr/>
          <p:nvPr/>
        </p:nvSpPr>
        <p:spPr>
          <a:xfrm>
            <a:off x="457200" y="4773168"/>
            <a:ext cx="8229600" cy="10973"/>
          </a:xfrm>
          <a:prstGeom prst="rect">
            <a:avLst/>
          </a:prstGeom>
          <a:solidFill>
            <a:srgbClr val="A5ACB0"/>
          </a:solidFill>
          <a:ln>
            <a:noFill/>
          </a:ln>
        </p:spPr>
        <p:txBody>
          <a:bodyPr rtlCol="0" anchor="ctr"/>
          <a:lstStyle/>
          <a:p>
            <a:endParaRPr lang="fr-FR" dirty="0"/>
          </a:p>
        </p:txBody>
      </p:sp>
      <p:sp>
        <p:nvSpPr>
          <p:cNvPr id="6" name="Shape 6"/>
          <p:cNvSpPr txBox="1"/>
          <p:nvPr/>
        </p:nvSpPr>
        <p:spPr>
          <a:xfrm>
            <a:off x="457200" y="4846320"/>
            <a:ext cx="5486400" cy="182880"/>
          </a:xfrm>
          <a:prstGeom prst="rect">
            <a:avLst/>
          </a:prstGeom>
          <a:noFill/>
          <a:ln>
            <a:noFill/>
          </a:ln>
        </p:spPr>
        <p:txBody>
          <a:bodyPr wrap="square" lIns="0" tIns="0" rIns="0" bIns="0" rtlCol="0" anchor="ctr">
            <a:noAutofit/>
          </a:bodyPr>
          <a:lstStyle/>
          <a:p>
            <a:pPr marL="0" indent="0" algn="l">
              <a:buNone/>
            </a:pPr>
            <a:r>
              <a:rPr lang="fr-FR" sz="800" dirty="0">
                <a:solidFill>
                  <a:srgbClr val="5D5D5D"/>
                </a:solidFill>
                <a:latin typeface="Calibri"/>
                <a:cs typeface="Calibri"/>
              </a:rPr>
              <a:t>Grand Paris Seine Ouest · GéoAI passages piétons · Géo Évènement 2026</a:t>
            </a:r>
            <a:endParaRPr lang="fr-FR" sz="800" dirty="0"/>
          </a:p>
        </p:txBody>
      </p:sp>
      <p:sp>
        <p:nvSpPr>
          <p:cNvPr id="7" name="Shape 7"/>
          <p:cNvSpPr txBox="1"/>
          <p:nvPr/>
        </p:nvSpPr>
        <p:spPr>
          <a:xfrm>
            <a:off x="7406640" y="4846320"/>
            <a:ext cx="868680" cy="182880"/>
          </a:xfrm>
          <a:prstGeom prst="rect">
            <a:avLst/>
          </a:prstGeom>
          <a:noFill/>
          <a:ln>
            <a:noFill/>
          </a:ln>
        </p:spPr>
        <p:txBody>
          <a:bodyPr wrap="square" lIns="0" tIns="0" rIns="0" bIns="0" rtlCol="0" anchor="ctr">
            <a:noAutofit/>
          </a:bodyPr>
          <a:lstStyle/>
          <a:p>
            <a:pPr marL="0" indent="0" algn="r">
              <a:buNone/>
            </a:pPr>
            <a:r>
              <a:rPr lang="fr-FR" sz="800" dirty="0">
                <a:solidFill>
                  <a:srgbClr val="5D5D5D"/>
                </a:solidFill>
                <a:latin typeface="Calibri"/>
                <a:cs typeface="Calibri"/>
              </a:rPr>
              <a:t>27</a:t>
            </a:r>
            <a:endParaRPr lang="fr-FR" sz="800" dirty="0"/>
          </a:p>
        </p:txBody>
      </p:sp>
      <p:pic>
        <p:nvPicPr>
          <p:cNvPr id="8" name="Image 8" descr="logo_gpso.png"/>
          <p:cNvPicPr>
            <a:picLocks noChangeAspect="1"/>
          </p:cNvPicPr>
          <p:nvPr/>
        </p:nvPicPr>
        <p:blipFill>
          <a:blip r:embed="rId3"/>
          <a:stretch>
            <a:fillRect/>
          </a:stretch>
        </p:blipFill>
        <p:spPr>
          <a:xfrm>
            <a:off x="8385048" y="4800600"/>
            <a:ext cx="274320" cy="274320"/>
          </a:xfrm>
          <a:prstGeom prst="rect">
            <a:avLst/>
          </a:prstGeom>
        </p:spPr>
      </p:pic>
      <p:pic>
        <p:nvPicPr>
          <p:cNvPr id="9" name="Image 9" descr="comparatif_courbes_unet_dinov3.png"/>
          <p:cNvPicPr>
            <a:picLocks noChangeAspect="1"/>
          </p:cNvPicPr>
          <p:nvPr/>
        </p:nvPicPr>
        <p:blipFill>
          <a:blip r:embed="rId4"/>
          <a:stretch>
            <a:fillRect/>
          </a:stretch>
        </p:blipFill>
        <p:spPr>
          <a:xfrm>
            <a:off x="457200" y="1200150"/>
            <a:ext cx="3840480" cy="2080260"/>
          </a:xfrm>
          <a:prstGeom prst="rect">
            <a:avLst/>
          </a:prstGeom>
        </p:spPr>
      </p:pic>
      <p:pic>
        <p:nvPicPr>
          <p:cNvPr id="10" name="Image 10" descr="comparatif_qualitatif_unet_dinov3.png"/>
          <p:cNvPicPr>
            <a:picLocks noChangeAspect="1"/>
          </p:cNvPicPr>
          <p:nvPr/>
        </p:nvPicPr>
        <p:blipFill>
          <a:blip r:embed="rId5"/>
          <a:stretch>
            <a:fillRect/>
          </a:stretch>
        </p:blipFill>
        <p:spPr>
          <a:xfrm>
            <a:off x="4434840" y="1192699"/>
            <a:ext cx="4251960" cy="1592242"/>
          </a:xfrm>
          <a:prstGeom prst="rect">
            <a:avLst/>
          </a:prstGeom>
        </p:spPr>
      </p:pic>
      <p:sp>
        <p:nvSpPr>
          <p:cNvPr id="11" name="Shape 11"/>
          <p:cNvSpPr txBox="1"/>
          <p:nvPr/>
        </p:nvSpPr>
        <p:spPr>
          <a:xfrm>
            <a:off x="457200" y="3291840"/>
            <a:ext cx="3840480" cy="182880"/>
          </a:xfrm>
          <a:prstGeom prst="rect">
            <a:avLst/>
          </a:prstGeom>
          <a:noFill/>
          <a:ln>
            <a:noFill/>
          </a:ln>
        </p:spPr>
        <p:txBody>
          <a:bodyPr wrap="square" lIns="0" tIns="0" rIns="0" bIns="0" rtlCol="0" anchor="t">
            <a:noAutofit/>
          </a:bodyPr>
          <a:lstStyle/>
          <a:p>
            <a:pPr marL="0" indent="0" algn="ctr">
              <a:buNone/>
            </a:pPr>
            <a:r>
              <a:rPr lang="fr-FR" sz="900" i="1" dirty="0">
                <a:solidFill>
                  <a:srgbClr val="5D5D5D"/>
                </a:solidFill>
                <a:latin typeface="Calibri"/>
                <a:cs typeface="Calibri"/>
              </a:rPr>
              <a:t>Courbes d'apprentissage : IoU sur le volet de réglage</a:t>
            </a:r>
            <a:endParaRPr lang="fr-FR" sz="900" dirty="0"/>
          </a:p>
        </p:txBody>
      </p:sp>
      <p:sp>
        <p:nvSpPr>
          <p:cNvPr id="12" name="Shape 12"/>
          <p:cNvSpPr txBox="1"/>
          <p:nvPr/>
        </p:nvSpPr>
        <p:spPr>
          <a:xfrm>
            <a:off x="4434840" y="2816352"/>
            <a:ext cx="4251960" cy="475488"/>
          </a:xfrm>
          <a:prstGeom prst="rect">
            <a:avLst/>
          </a:prstGeom>
          <a:noFill/>
          <a:ln>
            <a:noFill/>
          </a:ln>
        </p:spPr>
        <p:txBody>
          <a:bodyPr wrap="square" lIns="0" tIns="0" rIns="0" bIns="0" rtlCol="0" anchor="t">
            <a:noAutofit/>
          </a:bodyPr>
          <a:lstStyle/>
          <a:p>
            <a:pPr marL="0" indent="0" algn="ctr">
              <a:spcAft>
                <a:spcPts val="100"/>
              </a:spcAft>
              <a:buNone/>
            </a:pPr>
            <a:r>
              <a:rPr lang="fr-FR" sz="900" i="1" dirty="0">
                <a:solidFill>
                  <a:srgbClr val="5D5D5D"/>
                </a:solidFill>
                <a:latin typeface="Calibri"/>
                <a:cs typeface="Calibri"/>
              </a:rPr>
              <a:t>Vérité terrain, prédiction DINOv3, prédiction U-Net, sur une tuile du volet de réglage.</a:t>
            </a:r>
            <a:endParaRPr lang="fr-FR" sz="900" dirty="0"/>
          </a:p>
          <a:p>
            <a:pPr marL="0" indent="0" algn="ctr">
              <a:buNone/>
            </a:pPr>
            <a:r>
              <a:rPr lang="fr-FR" sz="900" b="1" dirty="0">
                <a:solidFill>
                  <a:srgbClr val="333333"/>
                </a:solidFill>
                <a:latin typeface="Arial"/>
                <a:cs typeface="Arial"/>
              </a:rPr>
              <a:t>vert : correct · rouge : détection en trop · bleu : passage manqué</a:t>
            </a:r>
            <a:endParaRPr lang="fr-FR" sz="900" dirty="0"/>
          </a:p>
        </p:txBody>
      </p:sp>
      <p:sp>
        <p:nvSpPr>
          <p:cNvPr id="13" name="Shape 13"/>
          <p:cNvSpPr/>
          <p:nvPr/>
        </p:nvSpPr>
        <p:spPr>
          <a:xfrm>
            <a:off x="457200" y="3529584"/>
            <a:ext cx="8229600" cy="1188720"/>
          </a:xfrm>
          <a:prstGeom prst="rect">
            <a:avLst/>
          </a:prstGeom>
          <a:solidFill>
            <a:srgbClr val="F0F0F0"/>
          </a:solidFill>
          <a:ln>
            <a:noFill/>
          </a:ln>
        </p:spPr>
        <p:txBody>
          <a:bodyPr wrap="square" lIns="128016" tIns="54864" rIns="128016" bIns="36576" rtlCol="0" anchor="t">
            <a:noAutofit/>
          </a:bodyPr>
          <a:lstStyle/>
          <a:p>
            <a:pPr marL="171450" indent="-171450" algn="l">
              <a:spcAft>
                <a:spcPts val="200"/>
              </a:spcAft>
              <a:buFont typeface="Arial"/>
              <a:buChar char="•"/>
            </a:pPr>
            <a:r>
              <a:rPr lang="fr-FR" sz="950" dirty="0">
                <a:solidFill>
                  <a:srgbClr val="5D5D5D"/>
                </a:solidFill>
                <a:latin typeface="Calibri"/>
                <a:cs typeface="Calibri"/>
              </a:rPr>
              <a:t>DINOv3 (Meta) : modèle de fondation pré-entraîné sur imagerie satellite, utilisé gelé avec une tête de segmentation.</a:t>
            </a:r>
            <a:endParaRPr lang="fr-FR" sz="950" dirty="0"/>
          </a:p>
          <a:p>
            <a:pPr marL="171450" indent="-171450" algn="l">
              <a:spcAft>
                <a:spcPts val="200"/>
              </a:spcAft>
              <a:buFont typeface="Arial"/>
              <a:buChar char="•"/>
            </a:pPr>
            <a:r>
              <a:rPr lang="fr-FR" sz="950" dirty="0">
                <a:solidFill>
                  <a:srgbClr val="5D5D5D"/>
                </a:solidFill>
                <a:latin typeface="Calibri"/>
                <a:cs typeface="Calibri"/>
              </a:rPr>
              <a:t>Sur le volet de réglage, le U-Net est devant à chaque graine : meilleur score 0,746 contre 0,729, moyenne 0,742 contre 0,723.</a:t>
            </a:r>
            <a:endParaRPr lang="fr-FR" sz="950" dirty="0"/>
          </a:p>
          <a:p>
            <a:pPr marL="171450" indent="-171450" algn="l">
              <a:spcAft>
                <a:spcPts val="200"/>
              </a:spcAft>
              <a:buFont typeface="Arial"/>
              <a:buChar char="•"/>
            </a:pPr>
            <a:r>
              <a:rPr lang="fr-FR" sz="950" dirty="0">
                <a:solidFill>
                  <a:srgbClr val="5D5D5D"/>
                </a:solidFill>
                <a:latin typeface="Calibri"/>
                <a:cs typeface="Calibri"/>
              </a:rPr>
              <a:t>DINOv3 est aussi moins stable : une de ses graines chute à 0,38 en début d'entraînement.</a:t>
            </a:r>
            <a:endParaRPr lang="fr-FR" sz="950" dirty="0"/>
          </a:p>
          <a:p>
            <a:pPr marL="171450" indent="-171450" algn="l">
              <a:spcAft>
                <a:spcPts val="200"/>
              </a:spcAft>
              <a:buFont typeface="Arial"/>
              <a:buChar char="•"/>
            </a:pPr>
            <a:r>
              <a:rPr lang="fr-FR" sz="950" dirty="0">
                <a:solidFill>
                  <a:srgbClr val="5D5D5D"/>
                </a:solidFill>
                <a:latin typeface="Calibri"/>
                <a:cs typeface="Calibri"/>
              </a:rPr>
              <a:t>À l'œil, DINOv3 manque une partie des passages et déborde sur les bords ; le U-Net suit mieux le contour.</a:t>
            </a:r>
            <a:endParaRPr lang="fr-FR" sz="950" dirty="0"/>
          </a:p>
          <a:p>
            <a:pPr marL="171450" indent="-171450" algn="l">
              <a:buFont typeface="Arial"/>
              <a:buChar char="•"/>
            </a:pPr>
            <a:r>
              <a:rPr lang="fr-FR" sz="950" dirty="0">
                <a:solidFill>
                  <a:srgbClr val="333333"/>
                </a:solidFill>
                <a:latin typeface="Calibri"/>
                <a:cs typeface="Calibri"/>
              </a:rPr>
              <a:t>Le U-Net est environ 4 fois plus rapide à l'inférence, et c'est l'architecture proposée dans ArcGIS Pro : on l'a gardé.</a:t>
            </a:r>
            <a:endParaRPr lang="fr-FR" sz="950" dirty="0"/>
          </a:p>
        </p:txBody>
      </p:sp>
    </p:spTree>
  </p:cSld>
  <p:clrMapOvr>
    <a:masterClrMapping/>
  </p:clrMapOvr>
</p:sld>
</file>

<file path=ppt/theme/theme1.xml><?xml version="1.0" encoding="utf-8"?>
<a:theme xmlns:a="http://schemas.openxmlformats.org/drawingml/2006/main" name="Office Theme">
  <a:themeElements>
    <a:clrScheme name="GPSO">
      <a:dk1>
        <a:srgbClr val="333333"/>
      </a:dk1>
      <a:lt1>
        <a:srgbClr val="FFFFFF"/>
      </a:lt1>
      <a:dk2>
        <a:srgbClr val="5D5D5D"/>
      </a:dk2>
      <a:lt2>
        <a:srgbClr val="F0F0F0"/>
      </a:lt2>
      <a:accent1>
        <a:srgbClr val="009FE3"/>
      </a:accent1>
      <a:accent2>
        <a:srgbClr val="95C11F"/>
      </a:accent2>
      <a:accent3>
        <a:srgbClr val="A5ACB0"/>
      </a:accent3>
      <a:accent4>
        <a:srgbClr val="525DDC"/>
      </a:accent4>
      <a:accent5>
        <a:srgbClr val="E20134"/>
      </a:accent5>
      <a:accent6>
        <a:srgbClr val="5D5D5D"/>
      </a:accent6>
      <a:hlink>
        <a:srgbClr val="009FE3"/>
      </a:hlink>
      <a:folHlink>
        <a:srgbClr val="525DDC"/>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TotalTime>
  <Words>7666</Words>
  <Application>Microsoft Macintosh PowerPoint</Application>
  <PresentationFormat>Affichage à l'écran (16:9)</PresentationFormat>
  <Paragraphs>566</Paragraphs>
  <Slides>27</Slides>
  <Notes>27</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27</vt:i4>
      </vt:variant>
    </vt:vector>
  </HeadingPairs>
  <TitlesOfParts>
    <vt:vector size="30"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Grand Paris Seine Ouest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GéoAI au service des métiers</dc:title>
  <dc:subject>PptxGenJS Presentation</dc:subject>
  <dc:creator>PptxGenJS</dc:creator>
  <cp:lastModifiedBy>Andriantsoanavalona Mandresy</cp:lastModifiedBy>
  <cp:revision>18</cp:revision>
  <dcterms:created xsi:type="dcterms:W3CDTF">2026-09-29T15:27:32Z</dcterms:created>
  <dcterms:modified xsi:type="dcterms:W3CDTF">2026-10-07T22:15:53Z</dcterms:modified>
</cp:coreProperties>
</file>